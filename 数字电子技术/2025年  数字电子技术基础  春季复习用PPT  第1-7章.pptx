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omments/modernComment_366_A5C1EC8.xml" ContentType="application/vnd.ms-powerpoint.comments+xml"/>
  <Override PartName="/ppt/tags/tag12.xml" ContentType="application/vnd.openxmlformats-officedocument.presentationml.tags+xml"/>
  <Override PartName="/ppt/comments/modernComment_337_0.xml" ContentType="application/vnd.ms-powerpoint.comments+xml"/>
  <Override PartName="/ppt/comments/modernComment_1BE_0.xml" ContentType="application/vnd.ms-powerpoint.comments+xml"/>
  <Override PartName="/ppt/comments/modernComment_339_0.xml" ContentType="application/vnd.ms-powerpoint.comments+xml"/>
  <Override PartName="/ppt/comments/modernComment_1C3_0.xml" ContentType="application/vnd.ms-powerpoint.comment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9" r:id="rId5"/>
    <p:sldMasterId id="2147483714" r:id="rId6"/>
  </p:sldMasterIdLst>
  <p:notesMasterIdLst>
    <p:notesMasterId r:id="rId61"/>
  </p:notesMasterIdLst>
  <p:handoutMasterIdLst>
    <p:handoutMasterId r:id="rId62"/>
  </p:handoutMasterIdLst>
  <p:sldIdLst>
    <p:sldId id="398" r:id="rId7"/>
    <p:sldId id="370" r:id="rId8"/>
    <p:sldId id="371" r:id="rId9"/>
    <p:sldId id="769" r:id="rId10"/>
    <p:sldId id="372" r:id="rId11"/>
    <p:sldId id="817" r:id="rId12"/>
    <p:sldId id="818" r:id="rId13"/>
    <p:sldId id="469" r:id="rId14"/>
    <p:sldId id="869" r:id="rId15"/>
    <p:sldId id="819" r:id="rId16"/>
    <p:sldId id="441" r:id="rId17"/>
    <p:sldId id="770" r:id="rId18"/>
    <p:sldId id="821" r:id="rId19"/>
    <p:sldId id="822" r:id="rId20"/>
    <p:sldId id="870" r:id="rId21"/>
    <p:sldId id="823" r:id="rId22"/>
    <p:sldId id="446" r:id="rId23"/>
    <p:sldId id="824" r:id="rId24"/>
    <p:sldId id="825" r:id="rId25"/>
    <p:sldId id="451" r:id="rId26"/>
    <p:sldId id="781" r:id="rId27"/>
    <p:sldId id="828" r:id="rId28"/>
    <p:sldId id="829" r:id="rId29"/>
    <p:sldId id="830" r:id="rId30"/>
    <p:sldId id="831" r:id="rId31"/>
    <p:sldId id="776" r:id="rId32"/>
    <p:sldId id="453" r:id="rId33"/>
    <p:sldId id="833" r:id="rId34"/>
    <p:sldId id="771" r:id="rId35"/>
    <p:sldId id="834" r:id="rId36"/>
    <p:sldId id="836" r:id="rId37"/>
    <p:sldId id="837" r:id="rId38"/>
    <p:sldId id="839" r:id="rId39"/>
    <p:sldId id="838" r:id="rId40"/>
    <p:sldId id="840" r:id="rId41"/>
    <p:sldId id="841" r:id="rId42"/>
    <p:sldId id="772" r:id="rId43"/>
    <p:sldId id="842" r:id="rId44"/>
    <p:sldId id="844" r:id="rId45"/>
    <p:sldId id="845" r:id="rId46"/>
    <p:sldId id="846" r:id="rId47"/>
    <p:sldId id="847" r:id="rId48"/>
    <p:sldId id="454" r:id="rId49"/>
    <p:sldId id="848" r:id="rId50"/>
    <p:sldId id="849" r:id="rId51"/>
    <p:sldId id="456" r:id="rId52"/>
    <p:sldId id="868" r:id="rId53"/>
    <p:sldId id="853" r:id="rId54"/>
    <p:sldId id="852" r:id="rId55"/>
    <p:sldId id="854" r:id="rId56"/>
    <p:sldId id="855" r:id="rId57"/>
    <p:sldId id="856" r:id="rId58"/>
    <p:sldId id="857" r:id="rId59"/>
    <p:sldId id="411" r:id="rId60"/>
  </p:sldIdLst>
  <p:sldSz cx="9144000" cy="6858000" type="screen4x3"/>
  <p:notesSz cx="6815138" cy="9942513"/>
  <p:custDataLst>
    <p:tags r:id="rId63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Arial" panose="020B0604020202020204" pitchFamily="34" charset="0"/>
        <a:ea typeface="华文中宋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9" userDrawn="1">
          <p15:clr>
            <a:srgbClr val="A4A3A4"/>
          </p15:clr>
        </p15:guide>
        <p15:guide id="2" pos="283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12637A-3F4D-4AF5-7929-F8978858D0D7}" name="JJ He" initials="JH" userId="2320d2b21557c7b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E08EC"/>
    <a:srgbClr val="1F09EB"/>
    <a:srgbClr val="FFCC66"/>
    <a:srgbClr val="FF9900"/>
    <a:srgbClr val="006600"/>
    <a:srgbClr val="FF33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79" autoAdjust="0"/>
    <p:restoredTop sz="96613" autoAdjust="0"/>
  </p:normalViewPr>
  <p:slideViewPr>
    <p:cSldViewPr showGuides="1">
      <p:cViewPr varScale="1">
        <p:scale>
          <a:sx n="72" d="100"/>
          <a:sy n="72" d="100"/>
        </p:scale>
        <p:origin x="483" y="27"/>
      </p:cViewPr>
      <p:guideLst>
        <p:guide orient="horz" pos="2179"/>
        <p:guide pos="2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ags" Target="tags/tag1.xml"/><Relationship Id="rId68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omments/modernComment_1B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2E75EC-D4B5-4405-9905-A70762C81509}" authorId="{9D12637A-3F4D-4AF5-7929-F8978858D0D7}" created="2025-06-25T11:05:08.856">
    <pc:sldMkLst xmlns:pc="http://schemas.microsoft.com/office/powerpoint/2013/main/command">
      <pc:docMk/>
      <pc:sldMk cId="0" sldId="446"/>
    </pc:sldMkLst>
    <p188:txBody>
      <a:bodyPr/>
      <a:lstStyle/>
      <a:p>
        <a:r>
          <a:rPr lang="zh-CN" altLang="en-US"/>
          <a:t>1</a:t>
        </a:r>
      </a:p>
    </p188:txBody>
  </p188:cm>
</p188:cmLst>
</file>

<file path=ppt/comments/modernComment_1C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D732F7-B6D7-43D3-B011-DA25C33EC9AC}" authorId="{9D12637A-3F4D-4AF5-7929-F8978858D0D7}" created="2025-06-25T11:05:27.138">
    <pc:sldMkLst xmlns:pc="http://schemas.microsoft.com/office/powerpoint/2013/main/command">
      <pc:docMk/>
      <pc:sldMk cId="0" sldId="451"/>
    </pc:sldMkLst>
    <p188:txBody>
      <a:bodyPr/>
      <a:lstStyle/>
      <a:p>
        <a:r>
          <a:rPr lang="zh-CN" altLang="en-US"/>
          <a:t>1</a:t>
        </a:r>
      </a:p>
    </p188:txBody>
  </p188:cm>
</p188:cmLst>
</file>

<file path=ppt/comments/modernComment_33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EB7281-1710-4086-A6C8-53A2020ACDB1}" authorId="{9D12637A-3F4D-4AF5-7929-F8978858D0D7}" created="2025-06-25T11:04:51.973">
    <pc:sldMkLst xmlns:pc="http://schemas.microsoft.com/office/powerpoint/2013/main/command">
      <pc:docMk/>
      <pc:sldMk cId="0" sldId="823"/>
    </pc:sldMkLst>
    <p188:txBody>
      <a:bodyPr/>
      <a:lstStyle/>
      <a:p>
        <a:r>
          <a:rPr lang="zh-CN" altLang="en-US"/>
          <a:t>1</a:t>
        </a:r>
      </a:p>
    </p188:txBody>
  </p188:cm>
</p188:cmLst>
</file>

<file path=ppt/comments/modernComment_33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876CBC-2069-4239-955D-3C9034769B94}" authorId="{9D12637A-3F4D-4AF5-7929-F8978858D0D7}" created="2025-06-25T11:05:18.615">
    <pc:sldMkLst xmlns:pc="http://schemas.microsoft.com/office/powerpoint/2013/main/command">
      <pc:docMk/>
      <pc:sldMk cId="0" sldId="825"/>
    </pc:sldMkLst>
    <p188:txBody>
      <a:bodyPr/>
      <a:lstStyle/>
      <a:p>
        <a:r>
          <a:rPr lang="zh-CN" altLang="en-US"/>
          <a:t>1</a:t>
        </a:r>
      </a:p>
    </p188:txBody>
  </p188:cm>
</p188:cmLst>
</file>

<file path=ppt/comments/modernComment_366_A5C1E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9B32ACD-469D-40E2-8DA0-6E5A4CEE60E5}" authorId="{9D12637A-3F4D-4AF5-7929-F8978858D0D7}" created="2025-06-25T11:04:36.325">
    <pc:sldMkLst xmlns:pc="http://schemas.microsoft.com/office/powerpoint/2013/main/command">
      <pc:docMk/>
      <pc:sldMk cId="173809352" sldId="870"/>
    </pc:sldMkLst>
    <p188:txBody>
      <a:bodyPr/>
      <a:lstStyle/>
      <a:p>
        <a:r>
          <a:rPr lang="zh-CN" altLang="en-US"/>
          <a:t>1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609D2B-FF68-4827-BA65-6284FC70D71A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+mn-cs"/>
              </a:rPr>
              <a:t>2025/6/25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4038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4038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68CE8E8-9978-4478-920F-3D388CD128D9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华文中宋" pitchFamily="2" charset="-122"/>
                <a:cs typeface="+mn-cs"/>
              </a:rPr>
              <a:t>‹#›</a:t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9213" y="0"/>
            <a:ext cx="2954338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A2D97C-132E-454A-97FE-129EECF3558B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6/25/2025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6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922338" y="746125"/>
            <a:ext cx="4972050" cy="3729038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2813"/>
            <a:ext cx="5453063" cy="44735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4038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13" y="9444038"/>
            <a:ext cx="2954338" cy="496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 smtClean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9B0A8B0-76A0-4D45-93A6-74AD53ACEE4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2338" y="746125"/>
            <a:ext cx="4972050" cy="37290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8829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2338" y="746125"/>
            <a:ext cx="4972050" cy="37290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1828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2338" y="746125"/>
            <a:ext cx="4972050" cy="37290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0364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2338" y="746125"/>
            <a:ext cx="4972050" cy="372903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025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10AE-1644-20D7-306B-5ECD03FA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A1D78B-8D57-E27D-0684-B74AC6405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2338" y="746125"/>
            <a:ext cx="4972050" cy="372903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BF4BD4-DE25-743F-C8B4-5F5D78697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4562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0AFD9F84-804D-4201-8471-60C6359370B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36A73CCE-D943-4A36-A68B-7C282B0495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B547D726-F3EE-4284-A1FA-6C2CDBA670D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E01B35A3-70A8-47C3-8D2D-F2B4F33497E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D1CC5F24-851A-421D-8311-4E1E7124BD1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ACB95480-A9B3-464F-A1A9-AF610BFB4A7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16469671-C9A3-4E01-957A-18191B4F467D}" type="slidenum">
              <a:rPr lang="zh-CN" altLang="en-US" smtClean="0"/>
              <a:pPr>
                <a:defRPr/>
              </a:pPr>
              <a:t>‹#›</a:t>
            </a:fld>
            <a:endParaRPr lang="zh-CN" altLang="en-US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D3B6DAE4-5135-4745-AE97-E449B822711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10" descr="gdut_to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5290" y="5949950"/>
            <a:ext cx="1873250" cy="503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DB5839FE-BD6B-49AE-B572-00E1BD4B0E9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7070D1A8-0DD2-421F-A859-B24226D5CBB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D121C2DA-AFA4-4B5C-B320-AE14EBA1EFC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mtClean="0"/>
            </a:lvl1pPr>
          </a:lstStyle>
          <a:p>
            <a:pPr>
              <a:defRPr/>
            </a:pPr>
            <a:fld id="{4429FE46-FA99-4796-9558-1E2F271002B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519867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F58A2655-3FE8-4BD2-8B68-CA00BD95B6D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E4A08F78-A5E0-42BE-8990-1BE88D370F7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E66FCE9E-2449-45D1-8217-CE47B2DAB22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64D5E8EF-44F7-440E-A99C-20B535086D3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53D4FA01-54B2-43EF-99CE-BB96542C75A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B1C19464-0EB5-4EF1-B37C-DCBA78D72AC1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" y="-2822"/>
            <a:ext cx="9144000" cy="1055555"/>
          </a:xfrm>
          <a:prstGeom prst="rect">
            <a:avLst/>
          </a:prstGeom>
        </p:spPr>
      </p:pic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73BACCAA-0E71-4EDD-95F0-3AB239944C0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" y="0"/>
            <a:ext cx="9150350" cy="1546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947962CC-A601-4065-977B-8BAFAB9241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10" descr="gdut_to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5290" y="5949950"/>
            <a:ext cx="1873250" cy="503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2AF40863-80D0-4745-95BD-F2FD4DB38D4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79E60342-7645-4958-B281-2641DDB584C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270BCBB6-72A2-42D5-909D-CB2DDC60EE3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2F57B68A-E9EF-4B25-93DD-8A863007161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92"/>
            <a:ext cx="4038600" cy="21875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CEB16F8E-E5F7-48C1-B3C8-9FE98FEF4F8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4"/>
            <a:ext cx="4038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600204"/>
            <a:ext cx="4038600" cy="4525963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010400" y="6492879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800" smtClean="0"/>
            </a:lvl1pPr>
          </a:lstStyle>
          <a:p>
            <a:pPr>
              <a:defRPr/>
            </a:pPr>
            <a:fld id="{410C99EF-FABC-47AE-9D78-AA3FF11E19E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35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643438" y="62372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8313" y="623729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25D258A-3F56-491D-B111-72BDE67432F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10" descr="gdut_top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55650" y="6165850"/>
            <a:ext cx="1873250" cy="5032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_H$7HKGDN1~GZ6)W9961WF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101015" y="188917"/>
            <a:ext cx="863600" cy="681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" y="0"/>
            <a:ext cx="9150350" cy="15468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幼圆" pitchFamily="49" charset="-122"/>
          <a:ea typeface="幼圆" pitchFamily="49" charset="-122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j-lt"/>
          <a:ea typeface="+mj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j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  <a:cs typeface="楷体_GB231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A3134AD-7636-478A-9801-F2C22F12C5B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_H$7HKGDN1~GZ6)W9961WF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8101015" y="188917"/>
            <a:ext cx="863600" cy="681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" y="0"/>
            <a:ext cx="9150350" cy="15468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幼圆" pitchFamily="49" charset="-122"/>
          <a:ea typeface="幼圆" pitchFamily="49" charset="-122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j-lt"/>
          <a:ea typeface="+mj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j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  <a:cs typeface="楷体_GB231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j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123" name="Rectangle 4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400">
                <a:effectLst/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713" y="6457950"/>
            <a:ext cx="19050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4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3912" name="Freeform 8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  <p:sp>
        <p:nvSpPr>
          <p:cNvPr id="123913" name="Line 9"/>
          <p:cNvSpPr>
            <a:spLocks noChangeShapeType="1"/>
          </p:cNvSpPr>
          <p:nvPr/>
        </p:nvSpPr>
        <p:spPr bwMode="auto">
          <a:xfrm>
            <a:off x="485775" y="6600825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123" name="Rectangle 4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400">
                <a:effectLst/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713" y="6457950"/>
            <a:ext cx="1905000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4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DE12F87-6393-4365-A45B-C9104F533FA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23912" name="Freeform 8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  <p:sp>
        <p:nvSpPr>
          <p:cNvPr id="123913" name="Line 9"/>
          <p:cNvSpPr>
            <a:spLocks noChangeShapeType="1"/>
          </p:cNvSpPr>
          <p:nvPr/>
        </p:nvSpPr>
        <p:spPr bwMode="auto">
          <a:xfrm>
            <a:off x="485775" y="6600825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华文中宋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</p:sldLayoutIdLst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40.xml"/><Relationship Id="rId1" Type="http://schemas.openxmlformats.org/officeDocument/2006/relationships/tags" Target="../tags/tag4.xml"/><Relationship Id="rId4" Type="http://schemas.openxmlformats.org/officeDocument/2006/relationships/image" Target="../media/image7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8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4.wmf"/><Relationship Id="rId7" Type="http://schemas.openxmlformats.org/officeDocument/2006/relationships/image" Target="../media/image1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12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21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366_A5C1EC8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337_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BE_0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8/10/relationships/comments" Target="../comments/modernComment_339_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jpeg"/></Relationships>
</file>

<file path=ppt/slides/_rels/slide2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C3_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tags" Target="../tags/tag17.xml"/><Relationship Id="rId7" Type="http://schemas.openxmlformats.org/officeDocument/2006/relationships/image" Target="../media/image32.w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1.jpeg"/><Relationship Id="rId4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3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3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41.w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40.png"/><Relationship Id="rId4" Type="http://schemas.openxmlformats.org/officeDocument/2006/relationships/image" Target="../media/image3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6.png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2.wmf"/><Relationship Id="rId7" Type="http://schemas.openxmlformats.org/officeDocument/2006/relationships/image" Target="../media/image50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7.wmf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1.xml"/><Relationship Id="rId4" Type="http://schemas.openxmlformats.org/officeDocument/2006/relationships/image" Target="../media/image7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4" y="0"/>
            <a:ext cx="9182100" cy="6858000"/>
          </a:xfrm>
          <a:prstGeom prst="rect">
            <a:avLst/>
          </a:prstGeom>
        </p:spPr>
      </p:pic>
      <p:sp>
        <p:nvSpPr>
          <p:cNvPr id="34818" name="矩形 5"/>
          <p:cNvSpPr/>
          <p:nvPr/>
        </p:nvSpPr>
        <p:spPr>
          <a:xfrm flipV="1">
            <a:off x="-4760" y="1835150"/>
            <a:ext cx="9145587" cy="954088"/>
          </a:xfrm>
          <a:prstGeom prst="rect">
            <a:avLst/>
          </a:prstGeom>
          <a:solidFill>
            <a:srgbClr val="143860">
              <a:alpha val="63921"/>
            </a:srgbClr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sz="1800" dirty="0">
              <a:solidFill>
                <a:srgbClr val="1D528D"/>
              </a:solidFill>
            </a:endParaRPr>
          </a:p>
        </p:txBody>
      </p:sp>
      <p:sp>
        <p:nvSpPr>
          <p:cNvPr id="34819" name="矩形 5"/>
          <p:cNvSpPr/>
          <p:nvPr/>
        </p:nvSpPr>
        <p:spPr>
          <a:xfrm>
            <a:off x="250829" y="1273814"/>
            <a:ext cx="8640763" cy="221259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000" dirty="0">
                <a:solidFill>
                  <a:srgbClr val="FFFF00"/>
                </a:solidFill>
              </a:rPr>
              <a:t>数字电子技术</a:t>
            </a:r>
          </a:p>
          <a:p>
            <a:pPr algn="ctr">
              <a:lnSpc>
                <a:spcPct val="120000"/>
              </a:lnSpc>
            </a:pPr>
            <a:r>
              <a:rPr lang="zh-CN" altLang="en-US" sz="6000" dirty="0">
                <a:solidFill>
                  <a:srgbClr val="FFFF00"/>
                </a:solidFill>
              </a:rPr>
              <a:t>期末复习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89" y="3860169"/>
            <a:ext cx="2416175" cy="2422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矩形 19"/>
          <p:cNvSpPr/>
          <p:nvPr/>
        </p:nvSpPr>
        <p:spPr>
          <a:xfrm>
            <a:off x="1547664" y="116632"/>
            <a:ext cx="5528310" cy="817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algn="ctr"/>
            <a:r>
              <a:rPr lang="zh-CN" altLang="en-US" sz="4800" dirty="0">
                <a:solidFill>
                  <a:srgbClr val="C00000"/>
                </a:solidFill>
              </a:rPr>
              <a:t>一、题型及分数</a:t>
            </a:r>
          </a:p>
        </p:txBody>
      </p:sp>
      <p:sp>
        <p:nvSpPr>
          <p:cNvPr id="33795" name="矩形 20"/>
          <p:cNvSpPr/>
          <p:nvPr/>
        </p:nvSpPr>
        <p:spPr>
          <a:xfrm>
            <a:off x="180823" y="1358094"/>
            <a:ext cx="8712967" cy="42709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20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选择题（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题，每题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分，共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分）</a:t>
            </a:r>
            <a:endParaRPr lang="en-US" altLang="zh-CN" sz="2800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简答题（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4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题，每题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分，共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24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分）</a:t>
            </a:r>
            <a:endParaRPr lang="en-US" altLang="zh-CN" sz="2800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函数化简（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1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题，每题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分，共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分）</a:t>
            </a:r>
          </a:p>
          <a:p>
            <a:pPr marL="457200" indent="-457200">
              <a:lnSpc>
                <a:spcPct val="20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简单分析设计题（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题，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+16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分，共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26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分）</a:t>
            </a:r>
            <a:endParaRPr lang="en-US" altLang="zh-CN" sz="2800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buFont typeface="宋体" panose="02010600030101010101" pitchFamily="2" charset="-122"/>
              <a:buAutoNum type="arabicPeriod"/>
            </a:pP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综合分析题（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题，共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分）</a:t>
            </a:r>
            <a:endParaRPr lang="en-US" altLang="zh-CN" sz="2800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 bwMode="auto">
          <a:xfrm>
            <a:off x="973307" y="983407"/>
            <a:ext cx="71280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矩形 20">
            <a:extLst>
              <a:ext uri="{FF2B5EF4-FFF2-40B4-BE49-F238E27FC236}">
                <a16:creationId xmlns:a16="http://schemas.microsoft.com/office/drawing/2014/main" id="{ACAD620C-828E-CC0A-9840-ED1E1EC5DD73}"/>
              </a:ext>
            </a:extLst>
          </p:cNvPr>
          <p:cNvSpPr/>
          <p:nvPr/>
        </p:nvSpPr>
        <p:spPr>
          <a:xfrm>
            <a:off x="180823" y="5805264"/>
            <a:ext cx="8712967" cy="823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第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3,6,7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章，加起来不超过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分。    第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章，有个简答题</a:t>
            </a:r>
            <a:endParaRPr lang="en-US" altLang="zh-CN" sz="2800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矩形 5"/>
          <p:cNvSpPr/>
          <p:nvPr/>
        </p:nvSpPr>
        <p:spPr>
          <a:xfrm>
            <a:off x="971550" y="3213104"/>
            <a:ext cx="7704138" cy="195386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周周一（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2025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年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月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30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日）（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9</a:t>
            </a:r>
            <a:r>
              <a:rPr 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:3</a:t>
            </a: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0-11</a:t>
            </a:r>
            <a:r>
              <a:rPr 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:30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endParaRPr lang="en-US" altLang="zh-CN" sz="2800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800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带上尺</a:t>
            </a:r>
            <a:endParaRPr lang="en-US" altLang="zh-CN" sz="2800" dirty="0">
              <a:solidFill>
                <a:srgbClr val="0066CC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476058" y="2277745"/>
            <a:ext cx="61560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867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3</a:t>
            </a:fld>
            <a:endParaRPr lang="zh-CN" altLang="en-US" sz="1800" dirty="0"/>
          </a:p>
        </p:txBody>
      </p:sp>
      <p:sp>
        <p:nvSpPr>
          <p:cNvPr id="36868" name="矩形 4"/>
          <p:cNvSpPr/>
          <p:nvPr/>
        </p:nvSpPr>
        <p:spPr>
          <a:xfrm>
            <a:off x="1670685" y="1210314"/>
            <a:ext cx="56997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800" dirty="0">
                <a:solidFill>
                  <a:srgbClr val="C00000"/>
                </a:solidFill>
                <a:sym typeface="+mn-ea"/>
              </a:rPr>
              <a:t>二、考试时间安排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 bwMode="auto">
          <a:xfrm>
            <a:off x="1476058" y="2277745"/>
            <a:ext cx="61560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867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4</a:t>
            </a:fld>
            <a:endParaRPr lang="zh-CN" altLang="en-US" sz="1800" dirty="0"/>
          </a:p>
        </p:txBody>
      </p:sp>
      <p:sp>
        <p:nvSpPr>
          <p:cNvPr id="36868" name="矩形 4"/>
          <p:cNvSpPr/>
          <p:nvPr/>
        </p:nvSpPr>
        <p:spPr>
          <a:xfrm>
            <a:off x="1670685" y="1210314"/>
            <a:ext cx="56997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800" dirty="0">
                <a:solidFill>
                  <a:srgbClr val="C00000"/>
                </a:solidFill>
                <a:sym typeface="+mn-ea"/>
              </a:rPr>
              <a:t>三、复习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Box 5"/>
          <p:cNvSpPr txBox="1"/>
          <p:nvPr/>
        </p:nvSpPr>
        <p:spPr>
          <a:xfrm>
            <a:off x="466412" y="192088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第1章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数制和码制</a:t>
            </a:r>
          </a:p>
        </p:txBody>
      </p:sp>
      <p:sp>
        <p:nvSpPr>
          <p:cNvPr id="37892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5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466413" y="1052736"/>
            <a:ext cx="8354060" cy="12840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十进制数和二进制数之间的转换</a:t>
            </a: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二进制数与八进制和十六进制数之间的转换</a:t>
            </a:r>
          </a:p>
        </p:txBody>
      </p:sp>
      <p:sp>
        <p:nvSpPr>
          <p:cNvPr id="37894" name="TextBox 2"/>
          <p:cNvSpPr txBox="1"/>
          <p:nvPr>
            <p:custDataLst>
              <p:tags r:id="rId1"/>
            </p:custDataLst>
          </p:nvPr>
        </p:nvSpPr>
        <p:spPr>
          <a:xfrm>
            <a:off x="466412" y="2640360"/>
            <a:ext cx="8354060" cy="3668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anchor="ctr" anchorCtr="0"/>
          <a:lstStyle/>
          <a:p>
            <a:pPr>
              <a:lnSpc>
                <a:spcPct val="170000"/>
              </a:lnSpc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举例：</a:t>
            </a:r>
          </a:p>
          <a:p>
            <a:pPr>
              <a:lnSpc>
                <a:spcPct val="170000"/>
              </a:lnSpc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(46.125)</a:t>
            </a:r>
            <a:r>
              <a:rPr lang="zh-CN" altLang="en-US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(  101110.001  )</a:t>
            </a:r>
            <a:r>
              <a:rPr lang="zh-CN" altLang="en-US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=(  56.1  )</a:t>
            </a:r>
            <a:r>
              <a:rPr lang="zh-CN" altLang="en-US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=(   2E.2  )</a:t>
            </a:r>
            <a:r>
              <a:rPr lang="zh-CN" altLang="en-US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endParaRPr lang="en-US" altLang="zh-CN" sz="2400" baseline="-25000" dirty="0">
              <a:solidFill>
                <a:srgbClr val="0066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</a:pPr>
            <a:endParaRPr lang="zh-CN" altLang="en-US" sz="2400" dirty="0">
              <a:solidFill>
                <a:srgbClr val="0066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练习：</a:t>
            </a:r>
            <a:endParaRPr lang="en-US" altLang="zh-CN" sz="2400" dirty="0">
              <a:solidFill>
                <a:srgbClr val="0066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(28.25)</a:t>
            </a:r>
            <a:r>
              <a:rPr lang="en-US" altLang="zh-CN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u="sng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400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u="sng" dirty="0">
                <a:solidFill>
                  <a:srgbClr val="639EF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endParaRPr lang="en-US" altLang="zh-CN" sz="2400" dirty="0">
              <a:solidFill>
                <a:srgbClr val="0066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70000"/>
              </a:lnSpc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11111111.11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400" u="sng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10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400" u="sng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sz="24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400" baseline="-250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 sz="2400" u="sng" baseline="-25000" dirty="0">
              <a:solidFill>
                <a:srgbClr val="0066CC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Box 5"/>
          <p:cNvSpPr txBox="1"/>
          <p:nvPr/>
        </p:nvSpPr>
        <p:spPr>
          <a:xfrm>
            <a:off x="395540" y="-99392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第1章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数制和码制</a:t>
            </a:r>
          </a:p>
        </p:txBody>
      </p:sp>
      <p:sp>
        <p:nvSpPr>
          <p:cNvPr id="37892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6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395540" y="644594"/>
            <a:ext cx="8222543" cy="11111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十进制代码 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二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十进制代码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) (BCD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，是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位二进制数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来表示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位十进制数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十个数码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常见的几种十进制代码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680A0A9-E7E9-5E49-058D-04C7EBF42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914522"/>
              </p:ext>
            </p:extLst>
          </p:nvPr>
        </p:nvGraphicFramePr>
        <p:xfrm>
          <a:off x="395540" y="1893530"/>
          <a:ext cx="8222543" cy="4383786"/>
        </p:xfrm>
        <a:graphic>
          <a:graphicData uri="http://schemas.openxmlformats.org/drawingml/2006/table">
            <a:tbl>
              <a:tblPr firstRow="1" firstCol="1" bandRow="1"/>
              <a:tblGrid>
                <a:gridCol w="1368152">
                  <a:extLst>
                    <a:ext uri="{9D8B030D-6E8A-4147-A177-3AD203B41FA5}">
                      <a16:colId xmlns:a16="http://schemas.microsoft.com/office/drawing/2014/main" val="1098368367"/>
                    </a:ext>
                  </a:extLst>
                </a:gridCol>
                <a:gridCol w="1452700">
                  <a:extLst>
                    <a:ext uri="{9D8B030D-6E8A-4147-A177-3AD203B41FA5}">
                      <a16:colId xmlns:a16="http://schemas.microsoft.com/office/drawing/2014/main" val="1526237206"/>
                    </a:ext>
                  </a:extLst>
                </a:gridCol>
                <a:gridCol w="1040367">
                  <a:extLst>
                    <a:ext uri="{9D8B030D-6E8A-4147-A177-3AD203B41FA5}">
                      <a16:colId xmlns:a16="http://schemas.microsoft.com/office/drawing/2014/main" val="3467214133"/>
                    </a:ext>
                  </a:extLst>
                </a:gridCol>
                <a:gridCol w="1422746">
                  <a:extLst>
                    <a:ext uri="{9D8B030D-6E8A-4147-A177-3AD203B41FA5}">
                      <a16:colId xmlns:a16="http://schemas.microsoft.com/office/drawing/2014/main" val="1721829058"/>
                    </a:ext>
                  </a:extLst>
                </a:gridCol>
                <a:gridCol w="1469289">
                  <a:extLst>
                    <a:ext uri="{9D8B030D-6E8A-4147-A177-3AD203B41FA5}">
                      <a16:colId xmlns:a16="http://schemas.microsoft.com/office/drawing/2014/main" val="834495811"/>
                    </a:ext>
                  </a:extLst>
                </a:gridCol>
                <a:gridCol w="1469289">
                  <a:extLst>
                    <a:ext uri="{9D8B030D-6E8A-4147-A177-3AD203B41FA5}">
                      <a16:colId xmlns:a16="http://schemas.microsoft.com/office/drawing/2014/main" val="1698615558"/>
                    </a:ext>
                  </a:extLst>
                </a:gridCol>
              </a:tblGrid>
              <a:tr h="22543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十进制数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有权码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无权码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803801"/>
                  </a:ext>
                </a:extLst>
              </a:tr>
              <a:tr h="253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8421</a:t>
                      </a:r>
                      <a:r>
                        <a:rPr lang="zh-CN" sz="1800" kern="100">
                          <a:effectLst/>
                        </a:rPr>
                        <a:t>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381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2421</a:t>
                      </a:r>
                      <a:r>
                        <a:rPr lang="zh-CN" sz="1800" kern="100">
                          <a:effectLst/>
                        </a:rPr>
                        <a:t>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5211</a:t>
                      </a:r>
                      <a:r>
                        <a:rPr lang="zh-CN" sz="1800" kern="100" dirty="0">
                          <a:effectLst/>
                        </a:rPr>
                        <a:t>码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余</a:t>
                      </a:r>
                      <a:r>
                        <a:rPr lang="en-US" sz="1800" kern="100">
                          <a:effectLst/>
                        </a:rPr>
                        <a:t>3</a:t>
                      </a:r>
                      <a:r>
                        <a:rPr lang="zh-CN" sz="1800" kern="100">
                          <a:effectLst/>
                        </a:rPr>
                        <a:t>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余</a:t>
                      </a:r>
                      <a:r>
                        <a:rPr lang="en-US" sz="1800" kern="100">
                          <a:effectLst/>
                        </a:rPr>
                        <a:t>3</a:t>
                      </a:r>
                      <a:r>
                        <a:rPr lang="zh-CN" sz="1800" kern="100">
                          <a:effectLst/>
                        </a:rPr>
                        <a:t>循环码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577890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0</a:t>
                      </a:r>
                      <a:endParaRPr lang="zh-CN" sz="2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0000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0000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0000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0011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0010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248788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1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0001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0001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0001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0110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410288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0010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0010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0100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0111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478060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0011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0011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0110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413792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0111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0111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103287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5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1011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1000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1000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1100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741691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6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0110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1100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1001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1001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1101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569892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7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0111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1101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1100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1010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1111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176062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8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1000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1110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1101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1011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1110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47024"/>
                  </a:ext>
                </a:extLst>
              </a:tr>
              <a:tr h="2545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9</a:t>
                      </a:r>
                      <a:endParaRPr lang="zh-CN" sz="2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1001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1111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1111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>
                          <a:effectLst/>
                        </a:rPr>
                        <a:t>1100</a:t>
                      </a:r>
                      <a:endParaRPr lang="zh-CN" sz="2400" b="1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字魂105号-简雅黑"/>
                          <a:ea typeface="字魂105号-简雅黑"/>
                        </a:defRPr>
                      </a:lvl9pPr>
                    </a:lstStyle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1010</a:t>
                      </a:r>
                      <a:endParaRPr lang="zh-CN" sz="2400" b="1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6D9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2373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8B443A9-1F82-4233-7D2E-BF644D31E607}"/>
              </a:ext>
            </a:extLst>
          </p:cNvPr>
          <p:cNvSpPr txBox="1"/>
          <p:nvPr/>
        </p:nvSpPr>
        <p:spPr>
          <a:xfrm>
            <a:off x="395541" y="6403101"/>
            <a:ext cx="8222542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>
            <a:defPPr>
              <a:defRPr lang="en-US"/>
            </a:defPPr>
            <a:lvl1pPr marL="457200" indent="-457200">
              <a:buFont typeface="Wingdings" panose="05000000000000000000" charset="0"/>
              <a:buChar char="Ø"/>
              <a:defRPr sz="2000"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8421</a:t>
            </a:r>
            <a:r>
              <a:rPr lang="zh-CN" altLang="en-US" dirty="0"/>
              <a:t>码表示的十进制数</a:t>
            </a:r>
            <a:r>
              <a:rPr lang="en-US" altLang="zh-CN" dirty="0"/>
              <a:t>65</a:t>
            </a:r>
            <a:r>
              <a:rPr lang="zh-CN" altLang="en-US" dirty="0"/>
              <a:t>，写成 </a:t>
            </a:r>
            <a:r>
              <a:rPr lang="en-US" altLang="zh-CN" dirty="0"/>
              <a:t>(0110  0101)</a:t>
            </a:r>
            <a:r>
              <a:rPr lang="en-US" altLang="zh-CN" sz="1400" dirty="0"/>
              <a:t>8421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TextBox 5"/>
          <p:cNvSpPr txBox="1"/>
          <p:nvPr/>
        </p:nvSpPr>
        <p:spPr>
          <a:xfrm>
            <a:off x="466412" y="192088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第1章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数制和码制</a:t>
            </a:r>
          </a:p>
        </p:txBody>
      </p:sp>
      <p:sp>
        <p:nvSpPr>
          <p:cNvPr id="37892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7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466412" y="883289"/>
            <a:ext cx="8569325" cy="637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800" dirty="0" err="1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原码、反码、补码的表示方法</a:t>
            </a:r>
            <a:endParaRPr sz="28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1" name="图片 41" descr="17190604084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620520"/>
            <a:ext cx="5923946" cy="35277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</p:pic>
      <p:sp>
        <p:nvSpPr>
          <p:cNvPr id="100" name="文本框 99"/>
          <p:cNvSpPr txBox="1"/>
          <p:nvPr/>
        </p:nvSpPr>
        <p:spPr>
          <a:xfrm>
            <a:off x="1475659" y="5264785"/>
            <a:ext cx="5923947" cy="14198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举例：若用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位二进制表示一个数</a:t>
            </a: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的原码为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00001011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的原码是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10001011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的反码为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00001011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的反码是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11110100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的补码为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00001011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的补码是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11110101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8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179512" y="1268764"/>
            <a:ext cx="8712968" cy="49917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熟悉基本逻辑运算</a:t>
            </a:r>
            <a:endParaRPr lang="en-US" altLang="zh-CN" sz="24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掌握逻辑代数的基本公式和常用公式</a:t>
            </a:r>
            <a:endParaRPr lang="en-US" altLang="zh-CN" sz="24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逻辑函数的表示方法及相互转换：真值表、逻辑函数式、逻辑电路图、波形图、卡诺图</a:t>
            </a:r>
            <a:endParaRPr lang="en-US" altLang="zh-CN" sz="24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最小项、逻辑函数最小项之和的标准形式</a:t>
            </a:r>
            <a:endParaRPr lang="en-US" altLang="zh-CN" sz="24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逻辑函数化简：公式化简法、</a:t>
            </a:r>
            <a:r>
              <a:rPr lang="zh-CN" altLang="en-US" sz="2400" dirty="0">
                <a:solidFill>
                  <a:srgbClr val="C00000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卡诺图化简法</a:t>
            </a:r>
          </a:p>
        </p:txBody>
      </p:sp>
      <p:sp>
        <p:nvSpPr>
          <p:cNvPr id="2" name="TextBox 5"/>
          <p:cNvSpPr txBox="1"/>
          <p:nvPr>
            <p:custDataLst>
              <p:tags r:id="rId1"/>
            </p:custDataLst>
          </p:nvPr>
        </p:nvSpPr>
        <p:spPr>
          <a:xfrm>
            <a:off x="466412" y="192088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第2章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逻辑代数基础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37D16-1CCD-7495-7BD1-3BDE5D19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灯片编号占位符 1">
            <a:extLst>
              <a:ext uri="{FF2B5EF4-FFF2-40B4-BE49-F238E27FC236}">
                <a16:creationId xmlns:a16="http://schemas.microsoft.com/office/drawing/2014/main" id="{5B167216-8E73-63D4-8557-D63FCBBDB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9</a:t>
            </a:fld>
            <a:endParaRPr lang="zh-CN" altLang="en-US" sz="18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AAEF68D6-F3FD-71BD-EF33-87CC0EB752F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66412" y="192088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第2章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逻辑代数基础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F732E8-961C-8DE5-75BB-B814F3898B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36"/>
          <a:stretch>
            <a:fillRect/>
          </a:stretch>
        </p:blipFill>
        <p:spPr>
          <a:xfrm>
            <a:off x="1043608" y="1980314"/>
            <a:ext cx="6864518" cy="483495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7B16565-A4FD-18D3-BC8C-89D67B8E4679}"/>
              </a:ext>
            </a:extLst>
          </p:cNvPr>
          <p:cNvSpPr txBox="1"/>
          <p:nvPr/>
        </p:nvSpPr>
        <p:spPr>
          <a:xfrm>
            <a:off x="0" y="1052736"/>
            <a:ext cx="9144000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cs typeface="+mn-ea"/>
                <a:sym typeface="+mn-lt"/>
              </a:rPr>
              <a:t>表</a:t>
            </a:r>
            <a:r>
              <a:rPr lang="en-US" altLang="zh-CN" sz="2400" dirty="0">
                <a:solidFill>
                  <a:schemeClr val="tx1"/>
                </a:solidFill>
                <a:cs typeface="+mn-ea"/>
                <a:sym typeface="+mn-lt"/>
              </a:rPr>
              <a:t>2.2.1</a:t>
            </a:r>
            <a:r>
              <a:rPr lang="zh-CN" altLang="en-US" sz="2400" dirty="0">
                <a:solidFill>
                  <a:schemeClr val="tx1"/>
                </a:solidFill>
                <a:cs typeface="+mn-ea"/>
                <a:sym typeface="+mn-lt"/>
              </a:rPr>
              <a:t>给出了逻辑代数的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基本定律</a:t>
            </a:r>
            <a:r>
              <a:rPr lang="zh-CN" altLang="en-US" sz="2400" dirty="0">
                <a:solidFill>
                  <a:schemeClr val="tx1"/>
                </a:solidFill>
                <a:cs typeface="+mn-ea"/>
                <a:sym typeface="+mn-lt"/>
              </a:rPr>
              <a:t>。</a:t>
            </a:r>
            <a:endParaRPr lang="en-US" altLang="zh-CN" sz="2400" dirty="0">
              <a:cs typeface="+mn-ea"/>
              <a:sym typeface="+mn-lt"/>
            </a:endParaRPr>
          </a:p>
          <a:p>
            <a:r>
              <a:rPr lang="zh-CN" altLang="en-US" sz="2400" dirty="0">
                <a:solidFill>
                  <a:schemeClr val="tx1"/>
                </a:solidFill>
                <a:cs typeface="+mn-ea"/>
                <a:sym typeface="+mn-lt"/>
              </a:rPr>
              <a:t>给出了变量与常量间、变量与变量之间的运算规则。</a:t>
            </a:r>
            <a:endParaRPr lang="en-US" altLang="zh-CN" sz="24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95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10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466729" y="916047"/>
            <a:ext cx="8258175" cy="772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 algn="just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最小项</a:t>
            </a:r>
          </a:p>
          <a:p>
            <a:pPr algn="just">
              <a:lnSpc>
                <a:spcPct val="130000"/>
              </a:lnSpc>
              <a:buFont typeface="Wingdings" panose="05000000000000000000" pitchFamily="2" charset="2"/>
            </a:pPr>
            <a:endParaRPr lang="zh-CN" altLang="en-US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2" name="TextBox 5"/>
          <p:cNvSpPr txBox="1"/>
          <p:nvPr>
            <p:custDataLst>
              <p:tags r:id="rId1"/>
            </p:custDataLst>
          </p:nvPr>
        </p:nvSpPr>
        <p:spPr>
          <a:xfrm>
            <a:off x="466412" y="78775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第2章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逻辑代数基础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1805" y="1471676"/>
            <a:ext cx="8347710" cy="16360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000" dirty="0">
                <a:solidFill>
                  <a:srgbClr val="1F09EB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最小项的定义：</a:t>
            </a:r>
            <a:r>
              <a:rPr lang="zh-CN" altLang="en-US" sz="20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在n变量逻辑函数中，若m为包含n个因子的乘积项(与项)，而且这n个变量都以原变量或反变量的形式在m 中出现，且仅出现一次，则这个乘积项m称为该函数的一个标准乘积项，通常称为最小项。</a:t>
            </a:r>
            <a:endParaRPr lang="zh-CN" altLang="en-US" sz="20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>
              <a:lnSpc>
                <a:spcPct val="130000"/>
              </a:lnSpc>
              <a:buFont typeface="Wingdings" panose="05000000000000000000" pitchFamily="2" charset="2"/>
            </a:pP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n个变量可组成 2</a:t>
            </a:r>
            <a:r>
              <a:rPr lang="zh-CN" altLang="en-US" sz="2000" baseline="30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个最小项，可记为m</a:t>
            </a:r>
            <a:r>
              <a:rPr lang="zh-CN" altLang="en-US" sz="2000" baseline="-25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0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～m</a:t>
            </a:r>
            <a:r>
              <a:rPr lang="en-US" altLang="zh-CN" sz="2000" baseline="-25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2</a:t>
            </a:r>
            <a:r>
              <a:rPr lang="en-US" altLang="zh-CN" sz="2000" baseline="30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n</a:t>
            </a:r>
            <a:r>
              <a:rPr lang="zh-CN" altLang="en-US" sz="2000" baseline="-25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-1</a:t>
            </a:r>
            <a:r>
              <a:rPr lang="zh-CN" altLang="en-US" sz="2000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。</a:t>
            </a:r>
            <a:endParaRPr lang="zh-CN" altLang="en-US" sz="20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4" name="对象 -21474826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64320"/>
              </p:ext>
            </p:extLst>
          </p:nvPr>
        </p:nvGraphicFramePr>
        <p:xfrm>
          <a:off x="467544" y="3861439"/>
          <a:ext cx="4027622" cy="710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971800" imgH="508000" progId="Equation.3">
                  <p:embed/>
                </p:oleObj>
              </mc:Choice>
              <mc:Fallback>
                <p:oleObj r:id="rId3" imgW="2971800" imgH="508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7544" y="3861439"/>
                        <a:ext cx="4027622" cy="710565"/>
                      </a:xfrm>
                      <a:prstGeom prst="rect">
                        <a:avLst/>
                      </a:prstGeom>
                      <a:solidFill>
                        <a:srgbClr val="BBE0E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395536" y="494915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sz="1800" b="0" dirty="0">
                <a:solidFill>
                  <a:srgbClr val="1F09E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800" b="0" dirty="0">
                <a:solidFill>
                  <a:srgbClr val="1F09E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变量</a:t>
            </a:r>
            <a:r>
              <a:rPr lang="zh-CN" altLang="en-US" sz="1800" b="0" dirty="0">
                <a:solidFill>
                  <a:srgbClr val="1F09EB"/>
                </a:solidFill>
                <a:ea typeface="宋体" panose="02010600030101010101" pitchFamily="2" charset="-122"/>
              </a:rPr>
              <a:t>可组成</a:t>
            </a:r>
            <a:r>
              <a:rPr lang="en-US" sz="1800" b="0" dirty="0">
                <a:solidFill>
                  <a:srgbClr val="1F09E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16</a:t>
            </a:r>
            <a:r>
              <a:rPr lang="zh-CN" altLang="en-US" sz="1800" b="0" dirty="0">
                <a:solidFill>
                  <a:srgbClr val="1F09EB"/>
                </a:solidFill>
                <a:ea typeface="宋体" panose="02010600030101010101" pitchFamily="2" charset="-122"/>
              </a:rPr>
              <a:t>个最小项</a:t>
            </a:r>
            <a:r>
              <a:rPr lang="zh-CN" altLang="en-US" sz="1800" b="0" dirty="0">
                <a:solidFill>
                  <a:srgbClr val="1F09E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</p:txBody>
      </p:sp>
      <p:graphicFrame>
        <p:nvGraphicFramePr>
          <p:cNvPr id="5" name="对象 -21474826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089229"/>
              </p:ext>
            </p:extLst>
          </p:nvPr>
        </p:nvGraphicFramePr>
        <p:xfrm>
          <a:off x="466412" y="5324470"/>
          <a:ext cx="4037330" cy="129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581400" imgH="1041400" progId="Equation.3">
                  <p:embed/>
                </p:oleObj>
              </mc:Choice>
              <mc:Fallback>
                <p:oleObj r:id="rId5" imgW="3581400" imgH="10414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412" y="5324470"/>
                        <a:ext cx="4037330" cy="1296670"/>
                      </a:xfrm>
                      <a:prstGeom prst="rect">
                        <a:avLst/>
                      </a:prstGeom>
                      <a:solidFill>
                        <a:srgbClr val="BBE0E3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648835" y="3789040"/>
            <a:ext cx="4170680" cy="28321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最小项的性质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sz="1800" b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F09EB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① </a:t>
            </a:r>
            <a:r>
              <a:rPr lang="zh-CN" altLang="en-US" sz="1800" dirty="0">
                <a:solidFill>
                  <a:srgbClr val="1F09EB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任意一个最小项，只有一组变量取值使其值为</a:t>
            </a:r>
            <a:r>
              <a:rPr lang="en-US" sz="1800" dirty="0">
                <a:solidFill>
                  <a:srgbClr val="1F09EB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1F09EB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  <a:endParaRPr lang="en-US" sz="1800" b="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   </a:t>
            </a:r>
            <a:r>
              <a:rPr lang="zh-CN" alt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例如：对于最小项</a:t>
            </a:r>
            <a:r>
              <a:rPr lang="en-US" altLang="zh-CN" sz="1800" b="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sz="1800" b="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sz="1800" b="0" dirty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=A’B’C’D’</a:t>
            </a:r>
            <a:r>
              <a:rPr lang="zh-CN" alt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，只有</a:t>
            </a:r>
            <a:r>
              <a:rPr 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0000</a:t>
            </a:r>
            <a:r>
              <a:rPr lang="zh-CN" alt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的取值可使其值为</a:t>
            </a:r>
            <a:r>
              <a:rPr 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1.</a:t>
            </a:r>
            <a:endParaRPr lang="zh-CN" altLang="en-US" sz="1800" b="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  <a:cs typeface="仿宋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② 全部最小项的和必为</a:t>
            </a:r>
            <a:r>
              <a:rPr 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1</a:t>
            </a:r>
            <a:r>
              <a:rPr lang="zh-CN" alt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③ 任意两个不同的最小项的乘积必为</a:t>
            </a:r>
            <a:r>
              <a:rPr 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0</a:t>
            </a:r>
            <a:r>
              <a:rPr lang="zh-CN" altLang="en-US" sz="1800" b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sz="1800" dirty="0">
                <a:solidFill>
                  <a:srgbClr val="1F09EB"/>
                </a:solidFill>
                <a:latin typeface="仿宋" panose="02010609060101010101" pitchFamily="49" charset="-122"/>
                <a:ea typeface="仿宋" panose="02010609060101010101" pitchFamily="49" charset="-122"/>
                <a:cs typeface="仿宋" panose="02010609060101010101" pitchFamily="49" charset="-122"/>
              </a:rPr>
              <a:t>④ 具有相邻性的两个最小项可以合并并消去一对因子。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D599BE-5418-2F96-D595-B6B3E7BF4FC9}"/>
              </a:ext>
            </a:extLst>
          </p:cNvPr>
          <p:cNvSpPr txBox="1"/>
          <p:nvPr/>
        </p:nvSpPr>
        <p:spPr>
          <a:xfrm>
            <a:off x="395536" y="3336846"/>
            <a:ext cx="4597756" cy="517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80000"/>
              </a:lnSpc>
              <a:buFont typeface="Wingdings" panose="05000000000000000000" pitchFamily="2" charset="2"/>
            </a:pPr>
            <a:r>
              <a:rPr lang="zh-CN" altLang="en-US" sz="1800" b="0" dirty="0">
                <a:solidFill>
                  <a:srgbClr val="1F09EB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3变量可组成 8个最小项</a:t>
            </a:r>
            <a:r>
              <a:rPr lang="zh-CN" altLang="en-US" dirty="0">
                <a:solidFill>
                  <a:srgbClr val="1F09EB"/>
                </a:solidFill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11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466412" y="985203"/>
            <a:ext cx="8569325" cy="13955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3200" dirty="0">
                <a:solidFill>
                  <a:srgbClr val="0066CC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逻辑函数的化简</a:t>
            </a:r>
          </a:p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、公式法化简法</a:t>
            </a:r>
            <a:endParaRPr lang="zh-CN" altLang="en-US" sz="2800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TextBox 5"/>
          <p:cNvSpPr txBox="1"/>
          <p:nvPr>
            <p:custDataLst>
              <p:tags r:id="rId1"/>
            </p:custDataLst>
          </p:nvPr>
        </p:nvSpPr>
        <p:spPr>
          <a:xfrm>
            <a:off x="466412" y="192088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第2章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逻辑代数基础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12775" y="2594614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举例：用公式法化简逻辑函数</a:t>
            </a: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4787904" y="2565404"/>
            <a:ext cx="3646805" cy="441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619885" y="3284855"/>
            <a:ext cx="6040120" cy="920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5"/>
          <p:cNvSpPr txBox="1"/>
          <p:nvPr/>
        </p:nvSpPr>
        <p:spPr>
          <a:xfrm>
            <a:off x="539437" y="4577398"/>
            <a:ext cx="8569325" cy="128400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en-US" altLang="zh-CN" sz="28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2800" dirty="0">
                <a:solidFill>
                  <a:srgbClr val="0066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、卡诺图化简法</a:t>
            </a:r>
          </a:p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zh-CN" altLang="en-US" sz="28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掌握</a:t>
            </a:r>
            <a:r>
              <a:rPr lang="zh-CN" altLang="en-US" sz="2800" dirty="0">
                <a:solidFill>
                  <a:srgbClr val="C00000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卡诺图化简</a:t>
            </a:r>
            <a:r>
              <a:rPr lang="zh-CN" altLang="en-US" sz="28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逻辑函数的方法，会处理无关项。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1"/>
          <p:cNvSpPr txBox="1">
            <a:spLocks noGrp="1"/>
          </p:cNvSpPr>
          <p:nvPr>
            <p:ph type="sldNum" sz="quarter" idx="4"/>
          </p:nvPr>
        </p:nvSpPr>
        <p:spPr>
          <a:xfrm>
            <a:off x="6831013" y="6524625"/>
            <a:ext cx="2133600" cy="476250"/>
          </a:xfrm>
        </p:spPr>
        <p:txBody>
          <a:bodyPr/>
          <a:lstStyle/>
          <a:p>
            <a:fld id="{9A0DB2DC-4C9A-4742-B13C-FB6460FD3503}" type="slidenum">
              <a:rPr lang="en-US" altLang="zh-CN" dirty="0"/>
              <a:pPr/>
              <a:t>12</a:t>
            </a:fld>
            <a:endParaRPr lang="en-US" altLang="zh-CN" dirty="0"/>
          </a:p>
        </p:txBody>
      </p:sp>
      <p:sp>
        <p:nvSpPr>
          <p:cNvPr id="159748" name="Text Box 4"/>
          <p:cNvSpPr txBox="1"/>
          <p:nvPr/>
        </p:nvSpPr>
        <p:spPr>
          <a:xfrm>
            <a:off x="251778" y="248285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举例：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化简逻辑函数</a:t>
            </a:r>
          </a:p>
        </p:txBody>
      </p:sp>
      <p:graphicFrame>
        <p:nvGraphicFramePr>
          <p:cNvPr id="159749" name="Object 5"/>
          <p:cNvGraphicFramePr>
            <a:graphicFrameLocks noChangeAspect="1"/>
          </p:cNvGraphicFramePr>
          <p:nvPr/>
        </p:nvGraphicFramePr>
        <p:xfrm>
          <a:off x="3637284" y="300677"/>
          <a:ext cx="50403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20900" imgH="177800" progId="Equation.3">
                  <p:embed/>
                </p:oleObj>
              </mc:Choice>
              <mc:Fallback>
                <p:oleObj r:id="rId2" imgW="2120900" imgH="177800" progId="Equation.3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7284" y="300677"/>
                        <a:ext cx="5040313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0" name="Text Box 6"/>
          <p:cNvSpPr txBox="1"/>
          <p:nvPr/>
        </p:nvSpPr>
        <p:spPr>
          <a:xfrm>
            <a:off x="540703" y="822964"/>
            <a:ext cx="64817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latin typeface="Verdana" panose="020B0604030504040204" pitchFamily="34" charset="0"/>
              </a:rPr>
              <a:t>已知约束条件为：</a:t>
            </a:r>
          </a:p>
        </p:txBody>
      </p:sp>
      <p:graphicFrame>
        <p:nvGraphicFramePr>
          <p:cNvPr id="159751" name="Object 7"/>
          <p:cNvGraphicFramePr>
            <a:graphicFrameLocks noChangeAspect="1"/>
          </p:cNvGraphicFramePr>
          <p:nvPr/>
        </p:nvGraphicFramePr>
        <p:xfrm>
          <a:off x="3590291" y="846455"/>
          <a:ext cx="5204460" cy="89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74265" imgH="405765" progId="Equation.3">
                  <p:embed/>
                </p:oleObj>
              </mc:Choice>
              <mc:Fallback>
                <p:oleObj r:id="rId4" imgW="2374265" imgH="405765" progId="Equation.3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90291" y="846455"/>
                        <a:ext cx="5204460" cy="8928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2" name="Object 8"/>
          <p:cNvGraphicFramePr>
            <a:graphicFrameLocks noChangeAspect="1"/>
          </p:cNvGraphicFramePr>
          <p:nvPr/>
        </p:nvGraphicFramePr>
        <p:xfrm>
          <a:off x="1056005" y="3081655"/>
          <a:ext cx="5549900" cy="355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991995" imgH="1275715" progId="Word.Document.8">
                  <p:embed/>
                </p:oleObj>
              </mc:Choice>
              <mc:Fallback>
                <p:oleObj r:id="rId6" imgW="1991995" imgH="1275715" progId="Word.Document.8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56005" y="3081655"/>
                        <a:ext cx="5549900" cy="35534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4" name="AutoShape 10"/>
          <p:cNvSpPr/>
          <p:nvPr/>
        </p:nvSpPr>
        <p:spPr>
          <a:xfrm>
            <a:off x="3649980" y="3931289"/>
            <a:ext cx="1582420" cy="936625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hlink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2498094" y="4912995"/>
            <a:ext cx="3965575" cy="1162050"/>
            <a:chOff x="1565" y="2734"/>
            <a:chExt cx="2940" cy="870"/>
          </a:xfrm>
        </p:grpSpPr>
        <p:sp>
          <p:nvSpPr>
            <p:cNvPr id="101388" name="Freeform 12"/>
            <p:cNvSpPr/>
            <p:nvPr/>
          </p:nvSpPr>
          <p:spPr>
            <a:xfrm>
              <a:off x="1565" y="2734"/>
              <a:ext cx="582" cy="854"/>
            </a:xfrm>
            <a:custGeom>
              <a:avLst/>
              <a:gdLst>
                <a:gd name="txL" fmla="*/ 0 w 582"/>
                <a:gd name="txT" fmla="*/ 0 h 854"/>
                <a:gd name="txR" fmla="*/ 582 w 582"/>
                <a:gd name="txB" fmla="*/ 854 h 854"/>
              </a:gdLst>
              <a:ahLst/>
              <a:cxnLst>
                <a:cxn ang="0">
                  <a:pos x="0" y="106"/>
                </a:cxn>
                <a:cxn ang="0">
                  <a:pos x="499" y="106"/>
                </a:cxn>
                <a:cxn ang="0">
                  <a:pos x="499" y="741"/>
                </a:cxn>
                <a:cxn ang="0">
                  <a:pos x="0" y="787"/>
                </a:cxn>
              </a:cxnLst>
              <a:rect l="txL" t="txT" r="txR" b="txB"/>
              <a:pathLst>
                <a:path w="582" h="854">
                  <a:moveTo>
                    <a:pt x="0" y="106"/>
                  </a:moveTo>
                  <a:cubicBezTo>
                    <a:pt x="208" y="53"/>
                    <a:pt x="416" y="0"/>
                    <a:pt x="499" y="106"/>
                  </a:cubicBezTo>
                  <a:cubicBezTo>
                    <a:pt x="582" y="212"/>
                    <a:pt x="582" y="628"/>
                    <a:pt x="499" y="741"/>
                  </a:cubicBezTo>
                  <a:cubicBezTo>
                    <a:pt x="416" y="854"/>
                    <a:pt x="83" y="779"/>
                    <a:pt x="0" y="787"/>
                  </a:cubicBezTo>
                </a:path>
              </a:pathLst>
            </a:custGeom>
            <a:noFill/>
            <a:ln w="38100" cap="flat" cmpd="sng">
              <a:solidFill>
                <a:schemeClr val="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9" name="Freeform 13"/>
            <p:cNvSpPr/>
            <p:nvPr/>
          </p:nvSpPr>
          <p:spPr>
            <a:xfrm flipH="1">
              <a:off x="3923" y="2750"/>
              <a:ext cx="582" cy="854"/>
            </a:xfrm>
            <a:custGeom>
              <a:avLst/>
              <a:gdLst>
                <a:gd name="txL" fmla="*/ 0 w 582"/>
                <a:gd name="txT" fmla="*/ 0 h 854"/>
                <a:gd name="txR" fmla="*/ 582 w 582"/>
                <a:gd name="txB" fmla="*/ 854 h 854"/>
              </a:gdLst>
              <a:ahLst/>
              <a:cxnLst>
                <a:cxn ang="0">
                  <a:pos x="0" y="106"/>
                </a:cxn>
                <a:cxn ang="0">
                  <a:pos x="499" y="106"/>
                </a:cxn>
                <a:cxn ang="0">
                  <a:pos x="499" y="741"/>
                </a:cxn>
                <a:cxn ang="0">
                  <a:pos x="0" y="787"/>
                </a:cxn>
              </a:cxnLst>
              <a:rect l="txL" t="txT" r="txR" b="txB"/>
              <a:pathLst>
                <a:path w="582" h="854">
                  <a:moveTo>
                    <a:pt x="0" y="106"/>
                  </a:moveTo>
                  <a:cubicBezTo>
                    <a:pt x="208" y="53"/>
                    <a:pt x="416" y="0"/>
                    <a:pt x="499" y="106"/>
                  </a:cubicBezTo>
                  <a:cubicBezTo>
                    <a:pt x="582" y="212"/>
                    <a:pt x="582" y="628"/>
                    <a:pt x="499" y="741"/>
                  </a:cubicBezTo>
                  <a:cubicBezTo>
                    <a:pt x="416" y="854"/>
                    <a:pt x="83" y="779"/>
                    <a:pt x="0" y="787"/>
                  </a:cubicBezTo>
                </a:path>
              </a:pathLst>
            </a:custGeom>
            <a:noFill/>
            <a:ln w="38100" cap="flat" cmpd="sng">
              <a:solidFill>
                <a:schemeClr val="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9759" name="Object 15"/>
          <p:cNvGraphicFramePr>
            <a:graphicFrameLocks noChangeAspect="1"/>
          </p:cNvGraphicFramePr>
          <p:nvPr/>
        </p:nvGraphicFramePr>
        <p:xfrm>
          <a:off x="3119755" y="6291584"/>
          <a:ext cx="239903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67715" imgH="81915" progId="Equation.3">
                  <p:embed/>
                </p:oleObj>
              </mc:Choice>
              <mc:Fallback>
                <p:oleObj r:id="rId8" imgW="767715" imgH="81915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00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19755" y="6291584"/>
                        <a:ext cx="2399030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0" y="1989455"/>
            <a:ext cx="9143999" cy="7683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altLang="en-US" sz="2400" b="0" i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（题目也可写成：化简逻辑函数</a:t>
            </a:r>
          </a:p>
          <a:p>
            <a:pPr indent="266700"/>
            <a:r>
              <a:rPr lang="en-US" sz="2000" b="0" i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Y(A,B,C,D) </a:t>
            </a:r>
            <a:r>
              <a:rPr lang="en-US" sz="2000" b="0" dirty="0">
                <a:solidFill>
                  <a:srgbClr val="000000"/>
                </a:solidFill>
                <a:latin typeface="Symbol" panose="05050102010706020507" charset="0"/>
                <a:ea typeface="宋体" panose="02010600030101010101" pitchFamily="2" charset="-122"/>
              </a:rPr>
              <a:t>= å </a:t>
            </a:r>
            <a:r>
              <a:rPr lang="en-US" sz="2000" b="0" i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 </a:t>
            </a:r>
            <a:r>
              <a:rPr lang="en-US" sz="2000" b="0" dirty="0">
                <a:solidFill>
                  <a:srgbClr val="000000"/>
                </a:solidFill>
                <a:latin typeface="Symbol" panose="05050102010706020507" charset="0"/>
                <a:ea typeface="宋体" panose="02010600030101010101" pitchFamily="2" charset="-122"/>
              </a:rPr>
              <a:t>(</a:t>
            </a:r>
            <a:r>
              <a:rPr lang="en-US" sz="20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1,7,8</a:t>
            </a:r>
            <a:r>
              <a:rPr lang="en-US" sz="2000" b="0" dirty="0">
                <a:solidFill>
                  <a:srgbClr val="000000"/>
                </a:solidFill>
                <a:latin typeface="Symbol" panose="05050102010706020507" charset="0"/>
                <a:ea typeface="宋体" panose="02010600030101010101" pitchFamily="2" charset="-122"/>
              </a:rPr>
              <a:t>) + å </a:t>
            </a:r>
            <a:r>
              <a:rPr lang="en-US" sz="2000" b="0" i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 </a:t>
            </a:r>
            <a:r>
              <a:rPr lang="en-US" sz="2000" b="0" dirty="0">
                <a:solidFill>
                  <a:srgbClr val="000000"/>
                </a:solidFill>
                <a:latin typeface="Symbol" panose="05050102010706020507" charset="0"/>
                <a:ea typeface="宋体" panose="02010600030101010101" pitchFamily="2" charset="-122"/>
              </a:rPr>
              <a:t>(</a:t>
            </a:r>
            <a:r>
              <a:rPr lang="en-US" sz="20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3,5,9,10,12,14,15</a:t>
            </a:r>
            <a:r>
              <a:rPr lang="en-US" sz="2000" b="0" dirty="0">
                <a:solidFill>
                  <a:srgbClr val="000000"/>
                </a:solidFill>
                <a:latin typeface="Symbol" panose="05050102010706020507" charset="0"/>
                <a:ea typeface="宋体" panose="02010600030101010101" pitchFamily="2" charset="-122"/>
              </a:rPr>
              <a:t>)     </a:t>
            </a:r>
            <a:r>
              <a:rPr lang="zh-CN" altLang="en-US" sz="2000" b="0" dirty="0">
                <a:solidFill>
                  <a:srgbClr val="000000"/>
                </a:solidFill>
                <a:latin typeface="Symbol" panose="05050102010706020507" charset="0"/>
                <a:ea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1"/>
          <p:cNvSpPr txBox="1">
            <a:spLocks noGrp="1"/>
          </p:cNvSpPr>
          <p:nvPr>
            <p:ph type="sldNum" sz="quarter" idx="4"/>
          </p:nvPr>
        </p:nvSpPr>
        <p:spPr>
          <a:xfrm>
            <a:off x="6831013" y="6524625"/>
            <a:ext cx="2133600" cy="476250"/>
          </a:xfrm>
        </p:spPr>
        <p:txBody>
          <a:bodyPr/>
          <a:lstStyle/>
          <a:p>
            <a:fld id="{9A0DB2DC-4C9A-4742-B13C-FB6460FD3503}" type="slidenum">
              <a:rPr lang="en-US" altLang="zh-CN" dirty="0"/>
              <a:pPr/>
              <a:t>13</a:t>
            </a:fld>
            <a:endParaRPr lang="en-US" altLang="zh-CN" dirty="0"/>
          </a:p>
        </p:txBody>
      </p:sp>
      <p:sp>
        <p:nvSpPr>
          <p:cNvPr id="159748" name="Text Box 4"/>
          <p:cNvSpPr txBox="1"/>
          <p:nvPr/>
        </p:nvSpPr>
        <p:spPr>
          <a:xfrm>
            <a:off x="251778" y="248285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举例：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化简逻辑函数</a:t>
            </a:r>
          </a:p>
        </p:txBody>
      </p:sp>
      <p:graphicFrame>
        <p:nvGraphicFramePr>
          <p:cNvPr id="2" name="对象 -2147482615"/>
          <p:cNvGraphicFramePr>
            <a:graphicFrameLocks noChangeAspect="1"/>
          </p:cNvGraphicFramePr>
          <p:nvPr/>
        </p:nvGraphicFramePr>
        <p:xfrm>
          <a:off x="3636014" y="339729"/>
          <a:ext cx="497649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36925" imgH="254000" progId="Equation.3">
                  <p:embed/>
                </p:oleObj>
              </mc:Choice>
              <mc:Fallback>
                <p:oleObj r:id="rId2" imgW="3336925" imgH="2540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6014" y="339729"/>
                        <a:ext cx="497649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-2147482614"/>
          <p:cNvGraphicFramePr>
            <a:graphicFrameLocks noChangeAspect="1"/>
          </p:cNvGraphicFramePr>
          <p:nvPr/>
        </p:nvGraphicFramePr>
        <p:xfrm>
          <a:off x="1610364" y="836934"/>
          <a:ext cx="2205355" cy="2483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14475" imgH="1704975" progId="PBrush">
                  <p:embed/>
                </p:oleObj>
              </mc:Choice>
              <mc:Fallback>
                <p:oleObj r:id="rId4" imgW="1514475" imgH="1704975" progId="PBrush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10364" y="836934"/>
                        <a:ext cx="2205355" cy="24834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-2147482613"/>
          <p:cNvGraphicFramePr>
            <a:graphicFrameLocks noChangeAspect="1"/>
          </p:cNvGraphicFramePr>
          <p:nvPr/>
        </p:nvGraphicFramePr>
        <p:xfrm>
          <a:off x="4499932" y="1701165"/>
          <a:ext cx="206184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06500" imgH="215900" progId="Equation.3">
                  <p:embed/>
                </p:oleObj>
              </mc:Choice>
              <mc:Fallback>
                <p:oleObj r:id="rId6" imgW="1206500" imgH="2159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99932" y="1701165"/>
                        <a:ext cx="2061845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/>
          <p:nvPr/>
        </p:nvSpPr>
        <p:spPr>
          <a:xfrm>
            <a:off x="323533" y="3502660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举例：</a:t>
            </a:r>
            <a:r>
              <a:rPr lang="zh-CN" altLang="en-US" sz="2800" b="1" dirty="0">
                <a:latin typeface="Times New Roman" panose="02020603050405020304" pitchFamily="18" charset="0"/>
              </a:rPr>
              <a:t>化简逻辑函数</a:t>
            </a:r>
          </a:p>
        </p:txBody>
      </p:sp>
      <p:graphicFrame>
        <p:nvGraphicFramePr>
          <p:cNvPr id="8" name="对象 -2147482612"/>
          <p:cNvGraphicFramePr>
            <a:graphicFrameLocks noChangeAspect="1"/>
          </p:cNvGraphicFramePr>
          <p:nvPr/>
        </p:nvGraphicFramePr>
        <p:xfrm>
          <a:off x="3996055" y="3574419"/>
          <a:ext cx="3256280" cy="741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20265" imgH="482600" progId="Equation.3">
                  <p:embed/>
                </p:oleObj>
              </mc:Choice>
              <mc:Fallback>
                <p:oleObj r:id="rId8" imgW="2120265" imgH="482600" progId="Equation.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96055" y="3574419"/>
                        <a:ext cx="3256280" cy="7410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2611"/>
          <p:cNvGraphicFramePr>
            <a:graphicFrameLocks noChangeAspect="1"/>
          </p:cNvGraphicFramePr>
          <p:nvPr/>
        </p:nvGraphicFramePr>
        <p:xfrm>
          <a:off x="1403354" y="4076704"/>
          <a:ext cx="2318385" cy="2566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09725" imgH="1781175" progId="PBrush">
                  <p:embed/>
                </p:oleObj>
              </mc:Choice>
              <mc:Fallback>
                <p:oleObj r:id="rId10" imgW="1609725" imgH="1781175" progId="PBrush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03354" y="4076704"/>
                        <a:ext cx="2318385" cy="25660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-2147482613"/>
          <p:cNvGraphicFramePr>
            <a:graphicFrameLocks noChangeAspect="1"/>
          </p:cNvGraphicFramePr>
          <p:nvPr/>
        </p:nvGraphicFramePr>
        <p:xfrm>
          <a:off x="4644391" y="5301615"/>
          <a:ext cx="208407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219200" imgH="215900" progId="Equation.3">
                  <p:embed/>
                </p:oleObj>
              </mc:Choice>
              <mc:Fallback>
                <p:oleObj r:id="rId12" imgW="1219200" imgH="215900" progId="Equation.3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44391" y="5301615"/>
                        <a:ext cx="208407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14</a:t>
            </a:fld>
            <a:endParaRPr lang="zh-CN" altLang="en-US" sz="1800" dirty="0"/>
          </a:p>
        </p:txBody>
      </p:sp>
      <p:sp>
        <p:nvSpPr>
          <p:cNvPr id="2" name="TextBox 5"/>
          <p:cNvSpPr txBox="1"/>
          <p:nvPr>
            <p:custDataLst>
              <p:tags r:id="rId1"/>
            </p:custDataLst>
          </p:nvPr>
        </p:nvSpPr>
        <p:spPr>
          <a:xfrm>
            <a:off x="466412" y="192088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第3章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集成逻辑门电路</a:t>
            </a:r>
          </a:p>
        </p:txBody>
      </p:sp>
      <p:sp>
        <p:nvSpPr>
          <p:cNvPr id="3" name="TextBox 5"/>
          <p:cNvSpPr txBox="1"/>
          <p:nvPr/>
        </p:nvSpPr>
        <p:spPr>
          <a:xfrm>
            <a:off x="276578" y="1119505"/>
            <a:ext cx="8615902" cy="9411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集成逻辑门电路，特殊门电路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的功能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集电极开路门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(OC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、三态门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(TS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76578" y="2532474"/>
            <a:ext cx="8615902" cy="12273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集电极开路门（</a:t>
            </a:r>
            <a:r>
              <a:rPr lang="en-US" altLang="zh-CN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门）</a:t>
            </a:r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两个或两个以上门电路的输出端直接连接</a:t>
            </a:r>
            <a:r>
              <a:rPr lang="en-US" altLang="zh-CN" sz="24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线与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323528" y="4077072"/>
            <a:ext cx="8568952" cy="17813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三态门（</a:t>
            </a:r>
            <a:r>
              <a:rPr 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</a:t>
            </a:r>
            <a:r>
              <a:rPr lang="zh-CN" altLang="en-US" sz="2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门）</a:t>
            </a:r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高电平、低电平、高阻</a:t>
            </a:r>
            <a:r>
              <a:rPr 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种状态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使能控制可分为高电平有效或低电平有效总线传输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957EA-7CAC-831E-9738-B068920E7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灯片编号占位符 1">
            <a:extLst>
              <a:ext uri="{FF2B5EF4-FFF2-40B4-BE49-F238E27FC236}">
                <a16:creationId xmlns:a16="http://schemas.microsoft.com/office/drawing/2014/main" id="{E5893771-3015-6C27-CC55-EFA24DF6D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15</a:t>
            </a:fld>
            <a:endParaRPr lang="zh-CN" altLang="en-US" sz="18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FD4AB628-DD7C-B17E-90D1-0D089AAC828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66412" y="192088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第3章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集成逻辑门电路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C8F9FFDC-CC56-4AA1-FF98-2F0898EFECDE}"/>
              </a:ext>
            </a:extLst>
          </p:cNvPr>
          <p:cNvSpPr txBox="1"/>
          <p:nvPr/>
        </p:nvSpPr>
        <p:spPr>
          <a:xfrm>
            <a:off x="34404" y="1119505"/>
            <a:ext cx="9002092" cy="9411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集成逻辑门电路，三种特殊门电路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的功能及逻辑符号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漏极开路门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(OD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、三态门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(TS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、CMOS传输门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DB92F15-B7E3-03E3-87A2-8E156A4A00CB}"/>
              </a:ext>
            </a:extLst>
          </p:cNvPr>
          <p:cNvSpPr txBox="1"/>
          <p:nvPr/>
        </p:nvSpPr>
        <p:spPr>
          <a:xfrm>
            <a:off x="34404" y="2440972"/>
            <a:ext cx="2533015" cy="990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漏极开路门（</a:t>
            </a:r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OD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门）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两个或两个以上门电路的输出端直接连接</a:t>
            </a:r>
            <a:r>
              <a:rPr lang="en-US" altLang="zh-CN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线与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62EADA3-D8FD-43A3-E187-1F881776061C}"/>
              </a:ext>
            </a:extLst>
          </p:cNvPr>
          <p:cNvSpPr txBox="1"/>
          <p:nvPr/>
        </p:nvSpPr>
        <p:spPr>
          <a:xfrm>
            <a:off x="2725753" y="2433707"/>
            <a:ext cx="2460926" cy="16004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三态门（</a:t>
            </a:r>
            <a:r>
              <a:rPr 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门）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高电平、低电平、高阻</a:t>
            </a:r>
            <a:r>
              <a:rPr 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种状态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使能控制可分为高电平有效或低电平有效总线传输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F0E0BB9-B5DE-A8BC-3C01-0DF78FC6A998}"/>
              </a:ext>
            </a:extLst>
          </p:cNvPr>
          <p:cNvSpPr txBox="1"/>
          <p:nvPr/>
        </p:nvSpPr>
        <p:spPr>
          <a:xfrm>
            <a:off x="5356611" y="2433707"/>
            <a:ext cx="3679885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传输门</a:t>
            </a:r>
            <a:endParaRPr lang="zh-CN" alt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传输门</a:t>
            </a:r>
            <a:r>
              <a:rPr 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TG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</a:t>
            </a:r>
            <a:r>
              <a:rPr 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Transmission Gate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）是一个</a:t>
            </a:r>
            <a:r>
              <a:rPr lang="zh-CN" altLang="en-US" sz="1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理想的双向开关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，可传输模拟信号，也可传输数字信号。</a:t>
            </a:r>
            <a:endParaRPr lang="en-US" altLang="zh-CN" sz="1600" b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b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’为互补控制信号：</a:t>
            </a:r>
            <a:endParaRPr lang="en-US" altLang="zh-CN" sz="1600" b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C=1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C’=0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时，传输门开通</a:t>
            </a:r>
            <a:endParaRPr lang="en-US" altLang="zh-CN" sz="1600" b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C=0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C’=1</a:t>
            </a:r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时，传输门关闭</a:t>
            </a:r>
            <a:endParaRPr lang="en-US" altLang="zh-CN" sz="1600" b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sz="1600" b="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传输门的输出端和输入端可互换。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90F9FF9-A410-C5F8-5CC0-BFBA1B8DE425}"/>
              </a:ext>
            </a:extLst>
          </p:cNvPr>
          <p:cNvCxnSpPr/>
          <p:nvPr/>
        </p:nvCxnSpPr>
        <p:spPr>
          <a:xfrm>
            <a:off x="2635156" y="2440972"/>
            <a:ext cx="11430" cy="4032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1D9685C-E008-2FCF-F160-953A3406555F}"/>
              </a:ext>
            </a:extLst>
          </p:cNvPr>
          <p:cNvCxnSpPr/>
          <p:nvPr/>
        </p:nvCxnSpPr>
        <p:spPr>
          <a:xfrm>
            <a:off x="5265930" y="2460879"/>
            <a:ext cx="11430" cy="4032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16</a:t>
            </a:fld>
            <a:endParaRPr lang="zh-CN" altLang="en-US" sz="1800" dirty="0"/>
          </a:p>
        </p:txBody>
      </p:sp>
      <p:sp>
        <p:nvSpPr>
          <p:cNvPr id="2" name="TextBox 5"/>
          <p:cNvSpPr txBox="1"/>
          <p:nvPr>
            <p:custDataLst>
              <p:tags r:id="rId1"/>
            </p:custDataLst>
          </p:nvPr>
        </p:nvSpPr>
        <p:spPr>
          <a:xfrm>
            <a:off x="466412" y="192088"/>
            <a:ext cx="7724775" cy="743986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第3章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集成逻辑门电路</a:t>
            </a:r>
          </a:p>
        </p:txBody>
      </p:sp>
      <p:sp>
        <p:nvSpPr>
          <p:cNvPr id="3" name="TextBox 5"/>
          <p:cNvSpPr txBox="1"/>
          <p:nvPr/>
        </p:nvSpPr>
        <p:spPr>
          <a:xfrm>
            <a:off x="538484" y="1119509"/>
            <a:ext cx="7962265" cy="540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 algn="just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门电路多余输入端的处理方法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0404" y="1917069"/>
            <a:ext cx="75672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sym typeface="+mn-ea"/>
              </a:rPr>
              <a:t>举例：</a:t>
            </a:r>
            <a:r>
              <a:rPr lang="zh-CN" altLang="en-US" sz="2400" dirty="0"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  <a:sym typeface="+mn-ea"/>
              </a:rPr>
              <a:t>如何分别由与非门、或非门、异或门接成非门？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0931" y="3287421"/>
            <a:ext cx="4979784" cy="2030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  答：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 </a:t>
            </a:r>
            <a:r>
              <a:rPr lang="en-US" altLang="zh-CN" sz="2000" dirty="0"/>
              <a:t> </a:t>
            </a:r>
            <a:r>
              <a:rPr lang="zh-CN" altLang="en-US" sz="2000" dirty="0"/>
              <a:t>与非门输入端并联或多余的脚接高电平；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  或非门多余的脚接低电平；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  异或门多余的脚接高电平。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065" y="3022006"/>
            <a:ext cx="1666875" cy="6388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796136" y="3697602"/>
            <a:ext cx="2922905" cy="15659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/>
              <a:t>以二输入与非门为例进行分析：</a:t>
            </a:r>
          </a:p>
          <a:p>
            <a:pPr>
              <a:lnSpc>
                <a:spcPct val="120000"/>
              </a:lnSpc>
            </a:pPr>
            <a:r>
              <a:rPr lang="en-US" altLang="zh-CN" sz="1600"/>
              <a:t>Y=(AB)’</a:t>
            </a:r>
          </a:p>
          <a:p>
            <a:pPr>
              <a:lnSpc>
                <a:spcPct val="120000"/>
              </a:lnSpc>
            </a:pPr>
            <a:r>
              <a:rPr lang="zh-CN" altLang="en-US" sz="1600"/>
              <a:t>当</a:t>
            </a:r>
            <a:r>
              <a:rPr lang="en-US" altLang="zh-CN" sz="1600"/>
              <a:t>B=1</a:t>
            </a:r>
            <a:r>
              <a:rPr lang="zh-CN" altLang="en-US" sz="1600"/>
              <a:t>或</a:t>
            </a:r>
            <a:r>
              <a:rPr lang="en-US" altLang="zh-CN" sz="1600"/>
              <a:t>B=A</a:t>
            </a:r>
            <a:r>
              <a:rPr lang="zh-CN" altLang="en-US" sz="1600"/>
              <a:t>时，</a:t>
            </a:r>
            <a:r>
              <a:rPr lang="en-US" altLang="zh-CN" sz="1600"/>
              <a:t>Y=A’</a:t>
            </a:r>
          </a:p>
          <a:p>
            <a:pPr>
              <a:lnSpc>
                <a:spcPct val="120000"/>
              </a:lnSpc>
            </a:pPr>
            <a:r>
              <a:rPr lang="zh-CN" altLang="en-US" sz="1600"/>
              <a:t>所以与非门接成非门，多余端应接高电平或输入端并接。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716280" y="91317"/>
            <a:ext cx="7815580" cy="82541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第4章 </a:t>
            </a:r>
            <a:r>
              <a:rPr lang="en-US" sz="3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17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732790" y="1196752"/>
            <a:ext cx="7799070" cy="20669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1F09E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组合逻辑电路：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电路在任一时刻输出仅取决于该时刻的输入，而与电路原来的状态无关。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1F09E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电路结构特点：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只有门电路，不含存储（记忆）单元。</a:t>
            </a:r>
          </a:p>
        </p:txBody>
      </p:sp>
      <p:sp>
        <p:nvSpPr>
          <p:cNvPr id="2" name="TextBox 5"/>
          <p:cNvSpPr txBox="1"/>
          <p:nvPr/>
        </p:nvSpPr>
        <p:spPr>
          <a:xfrm>
            <a:off x="716280" y="3645024"/>
            <a:ext cx="7799070" cy="3046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组合逻辑电路的分析方法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分析步骤：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1.由图写出逻辑函数式，并作适当化简；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000" dirty="0" err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注意：写逻辑函数式时从输入到输出逐级写出</a:t>
            </a: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2.由函数式列出真值表；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3.根据真值表说明电路功能。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451485" y="192409"/>
            <a:ext cx="8097520" cy="82541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第4章 </a:t>
            </a:r>
            <a:r>
              <a:rPr lang="en-US" sz="3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3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18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17748" y="1114425"/>
            <a:ext cx="9108504" cy="490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组合逻辑电路的设计方法</a:t>
            </a:r>
          </a:p>
          <a:p>
            <a:pPr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设计步骤：</a:t>
            </a:r>
          </a:p>
          <a:p>
            <a:pPr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1.逻辑抽象：</a:t>
            </a:r>
          </a:p>
          <a:p>
            <a:pPr lvl="1" indent="-6350"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(1)设定变量--根据因果关系确定输入、输出变量；</a:t>
            </a:r>
          </a:p>
          <a:p>
            <a:pPr lvl="1" indent="-6350"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(2)状态赋值：定义逻辑状态的含意。</a:t>
            </a:r>
          </a:p>
          <a:p>
            <a:pPr lvl="1" indent="-6350"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(3)列出真值表</a:t>
            </a:r>
          </a:p>
          <a:p>
            <a:pPr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2.由真值表写出逻辑函数式</a:t>
            </a:r>
          </a:p>
          <a:p>
            <a:pPr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3.选定器件的类型：可选用小规模门电路，中规模常用组合逻辑器件或可编程逻辑器件。</a:t>
            </a:r>
          </a:p>
          <a:p>
            <a:pPr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4.函数化简或变换式</a:t>
            </a:r>
          </a:p>
          <a:p>
            <a:pPr indent="450850"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(1)用门电路进行设计：</a:t>
            </a:r>
            <a:r>
              <a:rPr lang="zh-CN" altLang="en-US" sz="16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从真值表----卡诺图/公式法化简。</a:t>
            </a:r>
            <a:endParaRPr lang="zh-CN" altLang="en-US" sz="1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450850"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(2)用中规模常用组合电路设计：</a:t>
            </a:r>
            <a:r>
              <a:rPr lang="zh-CN" altLang="en-US" sz="16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把函数式变换为与所用器件函数式相似的形式。</a:t>
            </a:r>
          </a:p>
          <a:p>
            <a:pPr>
              <a:lnSpc>
                <a:spcPct val="140000"/>
              </a:lnSpc>
              <a:buFont typeface="Wingdings" panose="05000000000000000000" charset="0"/>
            </a:pPr>
            <a:r>
              <a:rPr lang="zh-CN" altLang="en-US" sz="1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5.画出逻辑图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19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723791" y="128905"/>
            <a:ext cx="7673340" cy="15430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noAutofit/>
          </a:bodyPr>
          <a:lstStyle/>
          <a:p>
            <a:pPr>
              <a:lnSpc>
                <a:spcPct val="100000"/>
              </a:lnSpc>
              <a:buFont typeface="Wingdings" panose="05000000000000000000" charset="0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举例：</a:t>
            </a: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设计一个能用楼上、楼下的开关独立控制楼梯上的路灯的逻辑电路，使之在上楼前，用楼下开关打开电灯，上楼后，用楼上开关关灭电灯；或者在下楼前，用楼上开关打开电灯，下楼后，用楼下开关关灭电灯。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669925" y="1721489"/>
            <a:ext cx="7740650" cy="307007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设楼上开关为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，楼下开关为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，灯泡为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闭合时为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，断开时为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；灯亮时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，灯灭时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>
              <a:spcBef>
                <a:spcPts val="150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1F09EB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分析：首先假设开关初始状态都为断开状态，此时灯灭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，然后按照实际使用情况可知，只要有一个开关闭合，灯都会亮，如果有两个开关闭合，灯会灭。</a:t>
            </a:r>
          </a:p>
          <a:p>
            <a:pPr>
              <a:spcBef>
                <a:spcPts val="150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（扩展：对于多处开关独立控制同一盏灯的控制电路，在假设开关初始状态都为断开状态，此时灯灭，然后有奇数个开关闭合时灯亮，有偶数个开关闭合时灯灭。）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ts val="150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根据分析的逻辑关系可得真值表：</a:t>
            </a:r>
          </a:p>
        </p:txBody>
      </p:sp>
      <p:pic>
        <p:nvPicPr>
          <p:cNvPr id="42" name="图片 42" descr="17190613663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4" y="4692015"/>
            <a:ext cx="2666365" cy="16573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746351" y="4297650"/>
            <a:ext cx="3743325" cy="12915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写出逻辑函数式：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F=S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’=S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⊕S</a:t>
            </a:r>
            <a:r>
              <a:rPr lang="en-US" sz="20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若用门电路实现，电路图如下：</a:t>
            </a: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5538827" y="5470525"/>
            <a:ext cx="1619250" cy="7150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6" name="文本框 105"/>
          <p:cNvSpPr txBox="1"/>
          <p:nvPr/>
        </p:nvSpPr>
        <p:spPr>
          <a:xfrm>
            <a:off x="4674596" y="6181729"/>
            <a:ext cx="383222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</a:rPr>
              <a:t>（也可使用译码器或数据选择器来实现，具体步骤见后面的内容。）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20</a:t>
            </a:fld>
            <a:endParaRPr lang="zh-CN" altLang="en-US" sz="1800" dirty="0"/>
          </a:p>
        </p:txBody>
      </p:sp>
      <p:sp>
        <p:nvSpPr>
          <p:cNvPr id="9" name="文本框 8"/>
          <p:cNvSpPr txBox="1"/>
          <p:nvPr/>
        </p:nvSpPr>
        <p:spPr>
          <a:xfrm>
            <a:off x="1764987" y="837887"/>
            <a:ext cx="11001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</a:p>
        </p:txBody>
      </p:sp>
      <p:sp>
        <p:nvSpPr>
          <p:cNvPr id="4" name="矩形标注 3"/>
          <p:cNvSpPr/>
          <p:nvPr/>
        </p:nvSpPr>
        <p:spPr>
          <a:xfrm>
            <a:off x="3571561" y="3743327"/>
            <a:ext cx="5402263" cy="927100"/>
          </a:xfrm>
          <a:prstGeom prst="wedgeRectCallout">
            <a:avLst>
              <a:gd name="adj1" fmla="val -54879"/>
              <a:gd name="adj2" fmla="val -22413"/>
            </a:avLst>
          </a:prstGeom>
          <a:solidFill>
            <a:srgbClr val="E6E6E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输入中选1个进行输出，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亦可实现逻辑函数（配合合适的门电路）</a:t>
            </a:r>
          </a:p>
        </p:txBody>
      </p:sp>
      <p:sp>
        <p:nvSpPr>
          <p:cNvPr id="5" name="矩形 4"/>
          <p:cNvSpPr/>
          <p:nvPr/>
        </p:nvSpPr>
        <p:spPr>
          <a:xfrm>
            <a:off x="179070" y="1998349"/>
            <a:ext cx="895350" cy="2030413"/>
          </a:xfrm>
          <a:prstGeom prst="rect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r>
              <a:rPr lang="zh-CN" altLang="en-US" sz="2400" noProof="1">
                <a:solidFill>
                  <a:srgbClr val="C00000"/>
                </a:solidFill>
              </a:rPr>
              <a:t>常用</a:t>
            </a:r>
          </a:p>
          <a:p>
            <a:pPr>
              <a:defRPr/>
            </a:pPr>
            <a:r>
              <a:rPr lang="zh-CN" altLang="en-US" sz="2400" noProof="1">
                <a:solidFill>
                  <a:srgbClr val="C00000"/>
                </a:solidFill>
              </a:rPr>
              <a:t>组合</a:t>
            </a:r>
          </a:p>
          <a:p>
            <a:pPr>
              <a:defRPr/>
            </a:pPr>
            <a:r>
              <a:rPr lang="zh-CN" altLang="en-US" sz="2400" noProof="1">
                <a:solidFill>
                  <a:srgbClr val="C00000"/>
                </a:solidFill>
              </a:rPr>
              <a:t>逻辑</a:t>
            </a:r>
          </a:p>
          <a:p>
            <a:pPr>
              <a:defRPr/>
            </a:pPr>
            <a:r>
              <a:rPr lang="zh-CN" altLang="en-US" sz="2400" noProof="1">
                <a:solidFill>
                  <a:srgbClr val="C00000"/>
                </a:solidFill>
              </a:rPr>
              <a:t>电路</a:t>
            </a:r>
          </a:p>
          <a:p>
            <a:pPr>
              <a:defRPr/>
            </a:pPr>
            <a:r>
              <a:rPr lang="zh-CN" altLang="en-US" sz="2400" noProof="1">
                <a:solidFill>
                  <a:srgbClr val="C00000"/>
                </a:solidFill>
              </a:rPr>
              <a:t>模块</a:t>
            </a:r>
          </a:p>
        </p:txBody>
      </p:sp>
      <p:sp>
        <p:nvSpPr>
          <p:cNvPr id="6" name="左大括号 5"/>
          <p:cNvSpPr/>
          <p:nvPr/>
        </p:nvSpPr>
        <p:spPr>
          <a:xfrm>
            <a:off x="1188720" y="1055374"/>
            <a:ext cx="503238" cy="3889375"/>
          </a:xfrm>
          <a:prstGeom prst="leftBrace">
            <a:avLst>
              <a:gd name="adj1" fmla="val 8265"/>
              <a:gd name="adj2" fmla="val 50000"/>
            </a:avLst>
          </a:prstGeom>
          <a:noFill/>
          <a:ln w="47625" cap="flat" cmpd="sng">
            <a:solidFill>
              <a:srgbClr val="11709F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en-US" altLang="en-US" sz="1800" dirty="0"/>
          </a:p>
        </p:txBody>
      </p:sp>
      <p:sp>
        <p:nvSpPr>
          <p:cNvPr id="7" name="文本框 6"/>
          <p:cNvSpPr txBox="1"/>
          <p:nvPr/>
        </p:nvSpPr>
        <p:spPr>
          <a:xfrm>
            <a:off x="1804670" y="2782574"/>
            <a:ext cx="11001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691958" y="3790637"/>
            <a:ext cx="17653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691958" y="4727262"/>
            <a:ext cx="17653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804670" y="1845949"/>
            <a:ext cx="11001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</a:p>
        </p:txBody>
      </p:sp>
      <p:sp>
        <p:nvSpPr>
          <p:cNvPr id="3" name="矩形标注 2"/>
          <p:cNvSpPr/>
          <p:nvPr/>
        </p:nvSpPr>
        <p:spPr>
          <a:xfrm>
            <a:off x="3100074" y="800100"/>
            <a:ext cx="5850255" cy="468630"/>
          </a:xfrm>
          <a:prstGeom prst="wedgeRectCallout">
            <a:avLst>
              <a:gd name="adj1" fmla="val -54231"/>
              <a:gd name="adj2" fmla="val -8611"/>
            </a:avLst>
          </a:prstGeom>
          <a:solidFill>
            <a:srgbClr val="E6E6E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74283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是一个超前进位的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位加法器</a:t>
            </a:r>
          </a:p>
        </p:txBody>
      </p:sp>
      <p:sp>
        <p:nvSpPr>
          <p:cNvPr id="14" name="矩形标注 13"/>
          <p:cNvSpPr/>
          <p:nvPr/>
        </p:nvSpPr>
        <p:spPr>
          <a:xfrm>
            <a:off x="3123887" y="1498284"/>
            <a:ext cx="5849937" cy="1098232"/>
          </a:xfrm>
          <a:prstGeom prst="wedgeRectCallout">
            <a:avLst>
              <a:gd name="adj1" fmla="val -55118"/>
              <a:gd name="adj2" fmla="val -15359"/>
            </a:avLst>
          </a:prstGeom>
          <a:solidFill>
            <a:srgbClr val="E6E6E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n-2</a:t>
            </a:r>
            <a:r>
              <a:rPr lang="en-US" altLang="zh-CN" sz="2000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译码器，可以输出关于输入的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最小项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3-8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4-16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4-10</a:t>
            </a:r>
          </a:p>
          <a:p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模型“译码器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合适的与非门”可实现逻辑函数</a:t>
            </a:r>
          </a:p>
        </p:txBody>
      </p:sp>
      <p:sp>
        <p:nvSpPr>
          <p:cNvPr id="15" name="矩形标注 14"/>
          <p:cNvSpPr/>
          <p:nvPr/>
        </p:nvSpPr>
        <p:spPr>
          <a:xfrm>
            <a:off x="3101975" y="2888938"/>
            <a:ext cx="5848350" cy="561975"/>
          </a:xfrm>
          <a:prstGeom prst="wedgeRectCallout">
            <a:avLst>
              <a:gd name="adj1" fmla="val -54713"/>
              <a:gd name="adj2" fmla="val -21042"/>
            </a:avLst>
          </a:prstGeom>
          <a:solidFill>
            <a:srgbClr val="E6E6E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2</a:t>
            </a:r>
            <a:r>
              <a:rPr lang="en-US" altLang="zh-CN" sz="2000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n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-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编码器，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2</a:t>
            </a:r>
            <a:r>
              <a:rPr lang="en-US" altLang="zh-CN" sz="2000" baseline="3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n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个状态对应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n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位编码</a:t>
            </a:r>
          </a:p>
        </p:txBody>
      </p:sp>
      <p:sp>
        <p:nvSpPr>
          <p:cNvPr id="16" name="矩形标注 15"/>
          <p:cNvSpPr/>
          <p:nvPr/>
        </p:nvSpPr>
        <p:spPr>
          <a:xfrm>
            <a:off x="3571561" y="4992373"/>
            <a:ext cx="5353443" cy="561975"/>
          </a:xfrm>
          <a:prstGeom prst="wedgeRectCallout">
            <a:avLst>
              <a:gd name="adj1" fmla="val -54041"/>
              <a:gd name="adj2" fmla="val -49435"/>
            </a:avLst>
          </a:prstGeom>
          <a:solidFill>
            <a:srgbClr val="E6E6E6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比较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2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个</a:t>
            </a:r>
            <a:r>
              <a:rPr lang="en-US" altLang="zh-CN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n</a:t>
            </a:r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楷体_GB2312" pitchFamily="49" charset="-122"/>
              </a:rPr>
              <a:t>二进制数的大小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9074" y="6057904"/>
            <a:ext cx="8771255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</a:rPr>
              <a:t>（对于典型</a:t>
            </a:r>
            <a:r>
              <a:rPr lang="zh-CN" altLang="en-US" sz="2400" dirty="0">
                <a:solidFill>
                  <a:schemeClr val="tx2"/>
                </a:solidFill>
              </a:rPr>
              <a:t>芯片</a:t>
            </a:r>
            <a:r>
              <a:rPr lang="zh-CN" altLang="en-US" sz="2000" dirty="0">
                <a:solidFill>
                  <a:schemeClr val="tx2"/>
                </a:solidFill>
              </a:rPr>
              <a:t>要熟悉输入输出端情况、基本功能、能看懂功能表）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35000" y="5621829"/>
            <a:ext cx="271335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/>
            </a:lvl1pPr>
          </a:lstStyle>
          <a:p>
            <a:r>
              <a:rPr lang="en-US" altLang="zh-CN" sz="1500" dirty="0"/>
              <a:t>8</a:t>
            </a:r>
            <a:r>
              <a:rPr lang="zh-CN" altLang="en-US" sz="1500" dirty="0"/>
              <a:t>线</a:t>
            </a:r>
            <a:r>
              <a:rPr lang="en-US" altLang="zh-CN" sz="1500" dirty="0"/>
              <a:t>-3</a:t>
            </a:r>
            <a:r>
              <a:rPr lang="zh-CN" altLang="en-US" sz="1500" dirty="0"/>
              <a:t>线优先编码器</a:t>
            </a:r>
            <a:r>
              <a:rPr lang="en-US" altLang="zh-CN" sz="1500"/>
              <a:t>74148</a:t>
            </a:r>
            <a:endParaRPr lang="zh-CN" altLang="en-US" sz="1500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67995" y="252254"/>
            <a:ext cx="7886700" cy="551104"/>
          </a:xfrm>
        </p:spPr>
        <p:txBody>
          <a:bodyPr>
            <a:noAutofit/>
          </a:bodyPr>
          <a:lstStyle/>
          <a:p>
            <a:pPr algn="l"/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典型组合逻辑电路芯片</a:t>
            </a:r>
            <a:endParaRPr lang="zh-CN" altLang="en-US" sz="2800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435" y="3330114"/>
            <a:ext cx="1575435" cy="21393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8" y="3501008"/>
            <a:ext cx="4571365" cy="24269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138930" y="3114849"/>
            <a:ext cx="30968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/>
            </a:lvl1pPr>
          </a:lstStyle>
          <a:p>
            <a:r>
              <a:rPr lang="en-US" altLang="zh-CN" sz="1400" dirty="0">
                <a:solidFill>
                  <a:schemeClr val="tx2"/>
                </a:solidFill>
              </a:rPr>
              <a:t>8</a:t>
            </a:r>
            <a:r>
              <a:rPr lang="zh-CN" altLang="en-US" sz="1400" dirty="0">
                <a:solidFill>
                  <a:schemeClr val="tx2"/>
                </a:solidFill>
              </a:rPr>
              <a:t>线</a:t>
            </a:r>
            <a:r>
              <a:rPr lang="en-US" altLang="zh-CN" sz="1400" dirty="0">
                <a:solidFill>
                  <a:schemeClr val="tx2"/>
                </a:solidFill>
              </a:rPr>
              <a:t>-3</a:t>
            </a:r>
            <a:r>
              <a:rPr lang="zh-CN" altLang="en-US" sz="1400" dirty="0">
                <a:solidFill>
                  <a:schemeClr val="tx2"/>
                </a:solidFill>
              </a:rPr>
              <a:t>线优先编码器</a:t>
            </a:r>
            <a:r>
              <a:rPr lang="en-US" altLang="zh-CN" sz="1400">
                <a:solidFill>
                  <a:schemeClr val="tx2"/>
                </a:solidFill>
              </a:rPr>
              <a:t>74148</a:t>
            </a:r>
            <a:r>
              <a:rPr lang="zh-CN" altLang="en-US" sz="1400">
                <a:solidFill>
                  <a:schemeClr val="tx2"/>
                </a:solidFill>
              </a:rPr>
              <a:t>功能表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  <p:sp>
        <p:nvSpPr>
          <p:cNvPr id="35844" name="灯片编号占位符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21</a:t>
            </a:fld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12700" y="1003230"/>
            <a:ext cx="9108503" cy="17284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、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编码器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编码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就是把输入的每一个高、低电平信号，编成一个对应的二进制代码。</a:t>
            </a:r>
            <a:endParaRPr lang="en-US" altLang="zh-CN" sz="2000" dirty="0">
              <a:ea typeface="宋体" panose="02010600030101010101" pitchFamily="2" charset="-122"/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编码器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就是具有编码功能的逻辑电路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优先编码器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几个输入信号同时出现时，只对优先权最高的一个进行编码。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67995" y="252254"/>
            <a:ext cx="7886700" cy="551104"/>
          </a:xfrm>
        </p:spPr>
        <p:txBody>
          <a:bodyPr>
            <a:noAutofit/>
          </a:bodyPr>
          <a:lstStyle/>
          <a:p>
            <a:pPr algn="l"/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典型组合逻辑电路芯片</a:t>
            </a:r>
            <a:endParaRPr lang="zh-CN" altLang="en-US" sz="2800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4" name="灯片编号占位符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22</a:t>
            </a:fld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0" y="836934"/>
            <a:ext cx="9143999" cy="1849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、译码器</a:t>
            </a:r>
            <a:endParaRPr lang="en-US" altLang="zh-CN" sz="1800" dirty="0">
              <a:ea typeface="宋体" panose="02010600030101010101" pitchFamily="2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译码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是编码的逆过程，译码能将二进制码，翻译成代表某一组特定含义的输出信号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即电路的某种状态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。具有译码功能的逻辑电路称为</a:t>
            </a:r>
            <a:r>
              <a:rPr lang="zh-CN" altLang="en-US" sz="20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译码器。</a:t>
            </a:r>
            <a:endParaRPr lang="zh-CN" altLang="en-US" sz="2000" dirty="0">
              <a:ea typeface="宋体" panose="02010600030101010101" pitchFamily="2" charset="-122"/>
              <a:sym typeface="+mn-ea"/>
            </a:endParaRPr>
          </a:p>
          <a:p>
            <a:pPr marL="285750" indent="-285750">
              <a:lnSpc>
                <a:spcPct val="14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显示译码器：半导体数码管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(LED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数码管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、 液晶显示器</a:t>
            </a:r>
            <a:r>
              <a:rPr lang="en-US" altLang="zh-CN" sz="2000" dirty="0">
                <a:ea typeface="宋体" panose="02010600030101010101" pitchFamily="2" charset="-122"/>
                <a:sym typeface="+mn-ea"/>
              </a:rPr>
              <a:t>(LCD)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7819" y="5441701"/>
            <a:ext cx="22987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/>
            </a:lvl1pPr>
          </a:lstStyle>
          <a:p>
            <a:r>
              <a:rPr lang="en-US" altLang="zh-CN" sz="1400" dirty="0"/>
              <a:t>3</a:t>
            </a:r>
            <a:r>
              <a:rPr lang="zh-CN" altLang="en-US" sz="1400" dirty="0"/>
              <a:t>线</a:t>
            </a:r>
            <a:r>
              <a:rPr lang="en-US" altLang="zh-CN" sz="1400" dirty="0"/>
              <a:t>-8</a:t>
            </a:r>
            <a:r>
              <a:rPr lang="zh-CN" altLang="en-US" sz="1400" dirty="0"/>
              <a:t>线译码器</a:t>
            </a:r>
            <a:r>
              <a:rPr lang="en-US" altLang="zh-CN" sz="1400"/>
              <a:t>74138</a:t>
            </a:r>
            <a:endParaRPr lang="zh-CN" altLang="en-US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604" y="3144267"/>
            <a:ext cx="1765300" cy="22987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8" y="3356992"/>
            <a:ext cx="4686935" cy="2988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19588" y="3018541"/>
            <a:ext cx="25304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/>
            </a:lvl1pPr>
          </a:lstStyle>
          <a:p>
            <a:r>
              <a:rPr lang="en-US" altLang="zh-CN" sz="1400" dirty="0">
                <a:solidFill>
                  <a:schemeClr val="tx2"/>
                </a:solidFill>
              </a:rPr>
              <a:t>3</a:t>
            </a:r>
            <a:r>
              <a:rPr lang="zh-CN" altLang="en-US" sz="1400" dirty="0">
                <a:solidFill>
                  <a:schemeClr val="tx2"/>
                </a:solidFill>
              </a:rPr>
              <a:t>线</a:t>
            </a:r>
            <a:r>
              <a:rPr lang="en-US" altLang="zh-CN" sz="1400" dirty="0">
                <a:solidFill>
                  <a:schemeClr val="tx2"/>
                </a:solidFill>
              </a:rPr>
              <a:t>-8</a:t>
            </a:r>
            <a:r>
              <a:rPr lang="zh-CN" altLang="en-US" sz="1400" dirty="0">
                <a:solidFill>
                  <a:schemeClr val="tx2"/>
                </a:solidFill>
              </a:rPr>
              <a:t>线译码器</a:t>
            </a:r>
            <a:r>
              <a:rPr lang="en-US" altLang="zh-CN" sz="1400">
                <a:solidFill>
                  <a:schemeClr val="tx2"/>
                </a:solidFill>
              </a:rPr>
              <a:t>74138</a:t>
            </a:r>
            <a:r>
              <a:rPr lang="zh-CN" altLang="en-US" sz="1400">
                <a:solidFill>
                  <a:schemeClr val="tx2"/>
                </a:solidFill>
              </a:rPr>
              <a:t>功能表</a:t>
            </a:r>
            <a:endParaRPr lang="zh-CN" altLang="en-US" sz="1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67995" y="252254"/>
            <a:ext cx="7886700" cy="551104"/>
          </a:xfrm>
        </p:spPr>
        <p:txBody>
          <a:bodyPr>
            <a:noAutofit/>
          </a:bodyPr>
          <a:lstStyle/>
          <a:p>
            <a:pPr algn="l"/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典型组合逻辑电路芯片</a:t>
            </a:r>
            <a:endParaRPr lang="zh-CN" altLang="en-US" sz="2800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4" name="灯片编号占位符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23</a:t>
            </a:fld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563249" y="836934"/>
            <a:ext cx="8021955" cy="10672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、数据选择器：</a:t>
            </a:r>
          </a:p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     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从一组输入数据中选出某一个输出的电路，也称为多路开关。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pic>
        <p:nvPicPr>
          <p:cNvPr id="3" name="图片 61">
            <a:extLst>
              <a:ext uri="{FF2B5EF4-FFF2-40B4-BE49-F238E27FC236}">
                <a16:creationId xmlns:a16="http://schemas.microsoft.com/office/drawing/2014/main" id="{7DA7BC29-27D9-6300-53E5-26428A59C792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030" y="2478014"/>
            <a:ext cx="4572493" cy="278449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</p:pic>
      <p:graphicFrame>
        <p:nvGraphicFramePr>
          <p:cNvPr id="4" name="Group 4">
            <a:extLst>
              <a:ext uri="{FF2B5EF4-FFF2-40B4-BE49-F238E27FC236}">
                <a16:creationId xmlns:a16="http://schemas.microsoft.com/office/drawing/2014/main" id="{AE0AFE91-4687-7071-FF05-7AB5B7C04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618905"/>
              </p:ext>
            </p:extLst>
          </p:nvPr>
        </p:nvGraphicFramePr>
        <p:xfrm>
          <a:off x="5411471" y="2177945"/>
          <a:ext cx="3048962" cy="3384972"/>
        </p:xfrm>
        <a:graphic>
          <a:graphicData uri="http://schemas.openxmlformats.org/drawingml/2006/table">
            <a:tbl>
              <a:tblPr/>
              <a:tblGrid>
                <a:gridCol w="756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0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6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6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6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6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42">
            <a:extLst>
              <a:ext uri="{FF2B5EF4-FFF2-40B4-BE49-F238E27FC236}">
                <a16:creationId xmlns:a16="http://schemas.microsoft.com/office/drawing/2014/main" id="{9D5DDF20-6381-4D92-6190-F5C174C328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311068"/>
              </p:ext>
            </p:extLst>
          </p:nvPr>
        </p:nvGraphicFramePr>
        <p:xfrm>
          <a:off x="5478145" y="2134129"/>
          <a:ext cx="696497" cy="481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7165" imgH="266700" progId="Equation.3">
                  <p:embed/>
                </p:oleObj>
              </mc:Choice>
              <mc:Fallback>
                <p:oleObj r:id="rId6" imgW="177165" imgH="266700" progId="Equation.3">
                  <p:embed/>
                  <p:pic>
                    <p:nvPicPr>
                      <p:cNvPr id="52266" name="Object 4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78145" y="2134129"/>
                        <a:ext cx="696497" cy="481658"/>
                      </a:xfrm>
                      <a:prstGeom prst="rect">
                        <a:avLst/>
                      </a:prstGeom>
                      <a:solidFill>
                        <a:srgbClr val="4B93A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-2147482385">
            <a:extLst>
              <a:ext uri="{FF2B5EF4-FFF2-40B4-BE49-F238E27FC236}">
                <a16:creationId xmlns:a16="http://schemas.microsoft.com/office/drawing/2014/main" id="{489E0F79-1E44-ABAC-BE41-2F8772FD67F3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35176791"/>
              </p:ext>
            </p:extLst>
          </p:nvPr>
        </p:nvGraphicFramePr>
        <p:xfrm>
          <a:off x="625889" y="5764700"/>
          <a:ext cx="7797165" cy="59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581400" imgH="266700" progId="Equation.DSMT4">
                  <p:embed/>
                </p:oleObj>
              </mc:Choice>
              <mc:Fallback>
                <p:oleObj r:id="rId6" imgW="3581400" imgH="266700" progId="Equation.DSMT4">
                  <p:embed/>
                  <p:pic>
                    <p:nvPicPr>
                      <p:cNvPr id="2" name="对象 -21474823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5889" y="5764700"/>
                        <a:ext cx="7797165" cy="59118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片 77" descr="17190691779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2457956"/>
            <a:ext cx="5365750" cy="3535680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67995" y="252254"/>
            <a:ext cx="7886700" cy="551104"/>
          </a:xfrm>
        </p:spPr>
        <p:txBody>
          <a:bodyPr>
            <a:noAutofit/>
          </a:bodyPr>
          <a:lstStyle/>
          <a:p>
            <a:pPr algn="l"/>
            <a:r>
              <a:rPr lang="zh-CN" altLang="en-US" sz="28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典型组合逻辑电路芯片</a:t>
            </a:r>
            <a:endParaRPr lang="zh-CN" altLang="en-US" sz="2800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844" name="灯片编号占位符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24</a:t>
            </a:fld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563249" y="836934"/>
            <a:ext cx="8021955" cy="546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4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、数值比较器</a:t>
            </a:r>
            <a:r>
              <a:rPr lang="zh-CN" altLang="en-US" sz="1800" dirty="0">
                <a:ea typeface="宋体" panose="02010600030101010101" pitchFamily="2" charset="-122"/>
                <a:sym typeface="+mn-ea"/>
              </a:rPr>
              <a:t>：比较两个数的大小的逻辑电路。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989" y="2421255"/>
            <a:ext cx="1735455" cy="25146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282065" y="4912360"/>
            <a:ext cx="1854200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ctr">
              <a:defRPr sz="2000" b="1"/>
            </a:lvl1pPr>
          </a:lstStyle>
          <a:p>
            <a:r>
              <a:rPr lang="en-US" altLang="zh-CN" sz="1500" dirty="0"/>
              <a:t>4</a:t>
            </a:r>
            <a:r>
              <a:rPr lang="zh-CN" altLang="en-US" sz="1500" dirty="0"/>
              <a:t>位数值比较器</a:t>
            </a:r>
          </a:p>
        </p:txBody>
      </p:sp>
      <p:sp>
        <p:nvSpPr>
          <p:cNvPr id="23" name="标注: 线形 8"/>
          <p:cNvSpPr/>
          <p:nvPr/>
        </p:nvSpPr>
        <p:spPr>
          <a:xfrm>
            <a:off x="2699792" y="1653226"/>
            <a:ext cx="1538228" cy="584835"/>
          </a:xfrm>
          <a:prstGeom prst="borderCallout1">
            <a:avLst>
              <a:gd name="adj1" fmla="val 98371"/>
              <a:gd name="adj2" fmla="val 28790"/>
              <a:gd name="adj3" fmla="val 192725"/>
              <a:gd name="adj4" fmla="val 2030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rgbClr val="FF0000"/>
                </a:solidFill>
              </a:rPr>
              <a:t>OUTPUT(A&gt;B)</a:t>
            </a:r>
          </a:p>
          <a:p>
            <a:pPr algn="ctr"/>
            <a:r>
              <a:rPr lang="en-US" altLang="zh-CN" sz="1050" dirty="0">
                <a:solidFill>
                  <a:srgbClr val="FF0000"/>
                </a:solidFill>
              </a:rPr>
              <a:t>OUTPUT(A=B)</a:t>
            </a:r>
            <a:endParaRPr lang="zh-CN" altLang="en-US" sz="1050" dirty="0">
              <a:solidFill>
                <a:srgbClr val="FF0000"/>
              </a:solidFill>
            </a:endParaRPr>
          </a:p>
          <a:p>
            <a:pPr algn="ctr"/>
            <a:r>
              <a:rPr lang="en-US" altLang="zh-CN" sz="1050" dirty="0">
                <a:solidFill>
                  <a:srgbClr val="FF0000"/>
                </a:solidFill>
              </a:rPr>
              <a:t>OUTPUT(A&lt;B)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sp>
        <p:nvSpPr>
          <p:cNvPr id="24" name="标注: 线形 9"/>
          <p:cNvSpPr/>
          <p:nvPr/>
        </p:nvSpPr>
        <p:spPr>
          <a:xfrm>
            <a:off x="179512" y="4392299"/>
            <a:ext cx="1126048" cy="584835"/>
          </a:xfrm>
          <a:prstGeom prst="borderCallout1">
            <a:avLst>
              <a:gd name="adj1" fmla="val -508"/>
              <a:gd name="adj2" fmla="val 58929"/>
              <a:gd name="adj3" fmla="val -15200"/>
              <a:gd name="adj4" fmla="val 113528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rgbClr val="FF0000"/>
                </a:solidFill>
              </a:rPr>
              <a:t>INPUT(A&gt;B)</a:t>
            </a:r>
          </a:p>
          <a:p>
            <a:pPr algn="ctr"/>
            <a:r>
              <a:rPr lang="en-US" altLang="zh-CN" sz="900" dirty="0">
                <a:solidFill>
                  <a:srgbClr val="FF0000"/>
                </a:solidFill>
              </a:rPr>
              <a:t>INPUT(A=B)</a:t>
            </a:r>
            <a:endParaRPr lang="zh-CN" altLang="en-US" sz="900" dirty="0">
              <a:solidFill>
                <a:srgbClr val="FF0000"/>
              </a:solidFill>
            </a:endParaRPr>
          </a:p>
          <a:p>
            <a:pPr algn="ctr"/>
            <a:r>
              <a:rPr lang="en-US" altLang="zh-CN" sz="900" dirty="0">
                <a:solidFill>
                  <a:srgbClr val="FF0000"/>
                </a:solidFill>
              </a:rPr>
              <a:t>INPUT(A&lt;B)</a:t>
            </a:r>
            <a:endParaRPr lang="zh-CN" altLang="en-US" sz="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灯片编号占位符 1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25</a:t>
            </a:fld>
            <a:endParaRPr lang="zh-CN" altLang="en-US" sz="1800" dirty="0"/>
          </a:p>
        </p:txBody>
      </p:sp>
      <p:sp>
        <p:nvSpPr>
          <p:cNvPr id="2" name="文本框 1"/>
          <p:cNvSpPr txBox="1"/>
          <p:nvPr/>
        </p:nvSpPr>
        <p:spPr>
          <a:xfrm>
            <a:off x="468895" y="476672"/>
            <a:ext cx="8179989" cy="6226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8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2800" dirty="0">
                <a:solidFill>
                  <a:srgbClr val="C00000"/>
                </a:solidFill>
                <a:ea typeface="宋体" panose="02010600030101010101" pitchFamily="2" charset="-122"/>
                <a:sym typeface="+mn-ea"/>
              </a:rPr>
              <a:t>、加法器</a:t>
            </a:r>
            <a:r>
              <a:rPr lang="zh-CN" altLang="en-US" sz="2000" dirty="0">
                <a:ea typeface="宋体" panose="02010600030101010101" pitchFamily="2" charset="-122"/>
                <a:sym typeface="+mn-ea"/>
              </a:rPr>
              <a:t>：完成两个二进制数相加的逻辑电路。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3140968"/>
            <a:ext cx="3984625" cy="21316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67540" y="2232279"/>
            <a:ext cx="3776980" cy="675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1E08E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sz="2000" dirty="0">
                <a:solidFill>
                  <a:srgbClr val="1E08EC"/>
                </a:solidFill>
                <a:latin typeface="Times New Roman" panose="02020603050405020304" pitchFamily="18" charset="0"/>
                <a:sym typeface="+mn-ea"/>
              </a:rPr>
              <a:t>1</a:t>
            </a:r>
            <a:r>
              <a:rPr lang="zh-CN" altLang="en-US" sz="2000" dirty="0">
                <a:solidFill>
                  <a:srgbClr val="1E08E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en-US" sz="2000" dirty="0">
                <a:solidFill>
                  <a:srgbClr val="1E08EC"/>
                </a:solidFill>
                <a:ea typeface="宋体" panose="02010600030101010101" pitchFamily="2" charset="-122"/>
                <a:sym typeface="+mn-ea"/>
              </a:rPr>
              <a:t>半加器</a:t>
            </a:r>
            <a:r>
              <a:rPr lang="zh-CN" altLang="en-US" sz="2000" dirty="0">
                <a:solidFill>
                  <a:srgbClr val="1E08E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不考虑来自低位的进位的两个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位二进制数相加的电路。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4787449" y="2232279"/>
            <a:ext cx="3861435" cy="6756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2000" dirty="0">
                <a:solidFill>
                  <a:srgbClr val="1E08E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2000" dirty="0">
                <a:solidFill>
                  <a:srgbClr val="1E08E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2000" dirty="0">
                <a:solidFill>
                  <a:srgbClr val="1E08E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）全加器：</a:t>
            </a: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带低位进位的两个 </a:t>
            </a:r>
            <a:r>
              <a:rPr lang="en-US" altLang="zh-CN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1 </a:t>
            </a: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位二进制数相加的电路。     </a:t>
            </a:r>
          </a:p>
        </p:txBody>
      </p:sp>
      <p:pic>
        <p:nvPicPr>
          <p:cNvPr id="6" name="图片 5"/>
          <p:cNvPicPr/>
          <p:nvPr/>
        </p:nvPicPr>
        <p:blipFill>
          <a:blip r:embed="rId4"/>
          <a:stretch>
            <a:fillRect/>
          </a:stretch>
        </p:blipFill>
        <p:spPr>
          <a:xfrm>
            <a:off x="4859204" y="3082544"/>
            <a:ext cx="3796665" cy="24371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/>
          <p:cNvSpPr txBox="1"/>
          <p:nvPr/>
        </p:nvSpPr>
        <p:spPr>
          <a:xfrm>
            <a:off x="35496" y="189234"/>
            <a:ext cx="9073012" cy="637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用常用中规模集成组合逻辑器件</a:t>
            </a:r>
            <a:r>
              <a:rPr lang="en-US" altLang="zh-CN" sz="2800" dirty="0">
                <a:solidFill>
                  <a:srgbClr val="C0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设计组合电路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496" y="981714"/>
            <a:ext cx="3972560" cy="2157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1、</a:t>
            </a:r>
            <a:r>
              <a:rPr lang="zh-CN" alt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用译码器设计组合电路</a:t>
            </a:r>
          </a:p>
          <a:p>
            <a:pPr>
              <a:lnSpc>
                <a:spcPct val="140000"/>
              </a:lnSpc>
            </a:pPr>
            <a:r>
              <a:rPr lang="zh-CN" altLang="en-US" sz="1800" dirty="0"/>
              <a:t>方法：(1)选择集成二进制译码器；</a:t>
            </a:r>
          </a:p>
          <a:p>
            <a:pPr>
              <a:lnSpc>
                <a:spcPct val="140000"/>
              </a:lnSpc>
            </a:pPr>
            <a:r>
              <a:rPr lang="en-US" altLang="zh-CN" sz="1800" dirty="0"/>
              <a:t>           </a:t>
            </a:r>
            <a:r>
              <a:rPr lang="zh-CN" altLang="en-US" sz="1800" dirty="0"/>
              <a:t>(2)写函数的标准与非-与非式；</a:t>
            </a:r>
          </a:p>
          <a:p>
            <a:pPr>
              <a:lnSpc>
                <a:spcPct val="140000"/>
              </a:lnSpc>
            </a:pPr>
            <a:r>
              <a:rPr lang="en-US" altLang="zh-CN" sz="1800" dirty="0"/>
              <a:t>           </a:t>
            </a:r>
            <a:r>
              <a:rPr lang="zh-CN" altLang="en-US" sz="1800" dirty="0"/>
              <a:t>(3)确认变量和输入关系；</a:t>
            </a:r>
          </a:p>
          <a:p>
            <a:pPr>
              <a:lnSpc>
                <a:spcPct val="140000"/>
              </a:lnSpc>
            </a:pPr>
            <a:r>
              <a:rPr lang="en-US" altLang="zh-CN" sz="1800" dirty="0"/>
              <a:t>           </a:t>
            </a:r>
            <a:r>
              <a:rPr lang="zh-CN" altLang="en-US" sz="1800" dirty="0"/>
              <a:t>(4)画连线图。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218143" y="981714"/>
            <a:ext cx="4890365" cy="28936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2、</a:t>
            </a:r>
            <a:r>
              <a:rPr lang="zh-CN" altLang="en-US" sz="2400" dirty="0">
                <a:solidFill>
                  <a:srgbClr val="C00000"/>
                </a:solidFill>
                <a:highlight>
                  <a:srgbClr val="FFFF00"/>
                </a:highlight>
              </a:rPr>
              <a:t>用数据选择器设计组合电路</a:t>
            </a:r>
          </a:p>
          <a:p>
            <a:pPr>
              <a:lnSpc>
                <a:spcPct val="140000"/>
              </a:lnSpc>
              <a:buClrTx/>
              <a:buSzTx/>
              <a:buNone/>
            </a:pPr>
            <a:r>
              <a:rPr lang="zh-CN" altLang="en-US" sz="1800" dirty="0"/>
              <a:t>方法：</a:t>
            </a:r>
          </a:p>
          <a:p>
            <a:pPr>
              <a:lnSpc>
                <a:spcPct val="140000"/>
              </a:lnSpc>
              <a:buClrTx/>
              <a:buSzTx/>
              <a:buNone/>
            </a:pPr>
            <a:r>
              <a:rPr lang="zh-CN" altLang="en-US" sz="1800" dirty="0"/>
              <a:t>(1)写出函数的标准与或式和</a:t>
            </a:r>
            <a:r>
              <a:rPr lang="zh-CN" altLang="en-US" sz="1800" dirty="0">
                <a:solidFill>
                  <a:srgbClr val="1E08EC"/>
                </a:solidFill>
              </a:rPr>
              <a:t>数据选择器表达式</a:t>
            </a:r>
            <a:r>
              <a:rPr lang="zh-CN" altLang="en-US" sz="1800" dirty="0"/>
              <a:t>；</a:t>
            </a:r>
          </a:p>
          <a:p>
            <a:pPr>
              <a:lnSpc>
                <a:spcPct val="140000"/>
              </a:lnSpc>
              <a:buClrTx/>
              <a:buSzTx/>
              <a:buNone/>
            </a:pPr>
            <a:r>
              <a:rPr lang="zh-CN" altLang="en-US" sz="1800" dirty="0"/>
              <a:t>(2)对照比较确定输入变量和地址码的对应关系；</a:t>
            </a:r>
          </a:p>
          <a:p>
            <a:pPr>
              <a:lnSpc>
                <a:spcPct val="140000"/>
              </a:lnSpc>
              <a:buClrTx/>
              <a:buSzTx/>
              <a:buNone/>
            </a:pPr>
            <a:r>
              <a:rPr lang="zh-CN" altLang="en-US" sz="1800" dirty="0"/>
              <a:t>输入变量可能是变量(原变量或反变量)，也可能是常量(0或1)。</a:t>
            </a:r>
          </a:p>
          <a:p>
            <a:pPr>
              <a:lnSpc>
                <a:spcPct val="140000"/>
              </a:lnSpc>
              <a:buClrTx/>
              <a:buSzTx/>
              <a:buNone/>
            </a:pPr>
            <a:r>
              <a:rPr lang="zh-CN" altLang="en-US" sz="1800" dirty="0"/>
              <a:t>(3)画连线图。</a:t>
            </a:r>
          </a:p>
        </p:txBody>
      </p:sp>
      <p:pic>
        <p:nvPicPr>
          <p:cNvPr id="8" name="图片 38" descr="171905934329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3700780"/>
            <a:ext cx="1581150" cy="815340"/>
          </a:xfrm>
          <a:prstGeom prst="rect">
            <a:avLst/>
          </a:prstGeom>
        </p:spPr>
      </p:pic>
      <p:graphicFrame>
        <p:nvGraphicFramePr>
          <p:cNvPr id="2" name="对象 -21474825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884115"/>
              </p:ext>
            </p:extLst>
          </p:nvPr>
        </p:nvGraphicFramePr>
        <p:xfrm>
          <a:off x="971554" y="4548505"/>
          <a:ext cx="2990215" cy="295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37130" imgH="241300" progId="Equation.DSMT4">
                  <p:embed/>
                </p:oleObj>
              </mc:Choice>
              <mc:Fallback>
                <p:oleObj r:id="rId3" imgW="2437130" imgH="2413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4" y="4548505"/>
                        <a:ext cx="2990215" cy="29591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" name="图片 39" descr="17190595146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439" y="5227320"/>
            <a:ext cx="1812925" cy="858520"/>
          </a:xfrm>
          <a:prstGeom prst="rect">
            <a:avLst/>
          </a:prstGeom>
        </p:spPr>
      </p:pic>
      <p:graphicFrame>
        <p:nvGraphicFramePr>
          <p:cNvPr id="4" name="对象 -21474825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95735"/>
              </p:ext>
            </p:extLst>
          </p:nvPr>
        </p:nvGraphicFramePr>
        <p:xfrm>
          <a:off x="884555" y="6165215"/>
          <a:ext cx="713232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890260" imgH="241300" progId="Equation.DSMT4">
                  <p:embed/>
                </p:oleObj>
              </mc:Choice>
              <mc:Fallback>
                <p:oleObj r:id="rId6" imgW="5890260" imgH="2413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4555" y="6165215"/>
                        <a:ext cx="7132320" cy="2921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828040" y="3356614"/>
            <a:ext cx="28854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42265"/>
            <a:r>
              <a:rPr lang="en-US" sz="16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16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选</a:t>
            </a:r>
            <a:r>
              <a:rPr lang="en-US" sz="16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数据选择器：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835664" y="4904109"/>
            <a:ext cx="273240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342265"/>
            <a:r>
              <a:rPr lang="en-US" sz="16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选</a:t>
            </a:r>
            <a:r>
              <a:rPr lang="en-US" sz="16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16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数据选择器：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26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27</a:t>
            </a:fld>
            <a:endParaRPr lang="zh-CN" altLang="en-US" sz="1800" dirty="0"/>
          </a:p>
        </p:txBody>
      </p:sp>
      <p:sp>
        <p:nvSpPr>
          <p:cNvPr id="43012" name="文本框 99"/>
          <p:cNvSpPr txBox="1"/>
          <p:nvPr/>
        </p:nvSpPr>
        <p:spPr bwMode="auto">
          <a:xfrm>
            <a:off x="1" y="335919"/>
            <a:ext cx="9144000" cy="4960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  <a:buClrTx/>
              <a:buSzTx/>
              <a:buFontTx/>
            </a:pP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sym typeface="+mn-ea"/>
              </a:rPr>
              <a:t>举例：分别用3-8线译码器和4选1数据选择器实现以下逻辑函数</a:t>
            </a:r>
          </a:p>
        </p:txBody>
      </p:sp>
      <p:graphicFrame>
        <p:nvGraphicFramePr>
          <p:cNvPr id="2" name="对象 -21474825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696652"/>
              </p:ext>
            </p:extLst>
          </p:nvPr>
        </p:nvGraphicFramePr>
        <p:xfrm>
          <a:off x="2339752" y="930136"/>
          <a:ext cx="3960440" cy="4864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50060" imgH="215900" progId="Equation.DSMT4">
                  <p:embed/>
                </p:oleObj>
              </mc:Choice>
              <mc:Fallback>
                <p:oleObj r:id="rId2" imgW="1750060" imgH="2159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9752" y="930136"/>
                        <a:ext cx="3960440" cy="48647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文本框 110"/>
          <p:cNvSpPr txBox="1"/>
          <p:nvPr/>
        </p:nvSpPr>
        <p:spPr>
          <a:xfrm>
            <a:off x="160045" y="215710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解：（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）用</a:t>
            </a: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3-8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线译码器实现</a:t>
            </a:r>
            <a:r>
              <a:rPr 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en-US" sz="24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734089" y="3282002"/>
            <a:ext cx="5146675" cy="3917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" name="文本框 111"/>
          <p:cNvSpPr txBox="1"/>
          <p:nvPr/>
        </p:nvSpPr>
        <p:spPr>
          <a:xfrm>
            <a:off x="231800" y="3838576"/>
            <a:ext cx="5080000" cy="398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 </a:t>
            </a:r>
            <a:r>
              <a:rPr lang="en-US" sz="2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化成与非-与非式</a:t>
            </a: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</a:p>
        </p:txBody>
      </p:sp>
      <p:pic>
        <p:nvPicPr>
          <p:cNvPr id="4" name="图片 3"/>
          <p:cNvPicPr/>
          <p:nvPr/>
        </p:nvPicPr>
        <p:blipFill>
          <a:blip r:embed="rId5"/>
          <a:stretch>
            <a:fillRect/>
          </a:stretch>
        </p:blipFill>
        <p:spPr>
          <a:xfrm>
            <a:off x="734085" y="4340547"/>
            <a:ext cx="4189730" cy="4705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3" name="文本框 112"/>
          <p:cNvSpPr txBox="1"/>
          <p:nvPr/>
        </p:nvSpPr>
        <p:spPr>
          <a:xfrm>
            <a:off x="231800" y="4984751"/>
            <a:ext cx="5080000" cy="398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③ 设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R=A2、A=A1、G=A0</a:t>
            </a: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则</a:t>
            </a:r>
          </a:p>
        </p:txBody>
      </p:sp>
      <p:pic>
        <p:nvPicPr>
          <p:cNvPr id="5" name="图片 4"/>
          <p:cNvPicPr/>
          <p:nvPr/>
        </p:nvPicPr>
        <p:blipFill>
          <a:blip r:embed="rId6"/>
          <a:stretch>
            <a:fillRect/>
          </a:stretch>
        </p:blipFill>
        <p:spPr>
          <a:xfrm>
            <a:off x="754409" y="5557203"/>
            <a:ext cx="1938655" cy="469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" name="文本框 113"/>
          <p:cNvSpPr txBox="1"/>
          <p:nvPr/>
        </p:nvSpPr>
        <p:spPr>
          <a:xfrm>
            <a:off x="231800" y="6192838"/>
            <a:ext cx="5080000" cy="398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④ 画连线图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6405" y="2770823"/>
            <a:ext cx="5080000" cy="398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写出函数的</a:t>
            </a:r>
            <a:r>
              <a:rPr lang="zh-CN" altLang="en-US" sz="200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标准与或式</a:t>
            </a:r>
            <a:endParaRPr lang="zh-CN" altLang="en-US" sz="20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9476" y="3527744"/>
            <a:ext cx="3092948" cy="28644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28</a:t>
            </a:fld>
            <a:endParaRPr lang="zh-CN" altLang="en-US" sz="1800" dirty="0"/>
          </a:p>
        </p:txBody>
      </p:sp>
      <p:sp>
        <p:nvSpPr>
          <p:cNvPr id="43012" name="文本框 99"/>
          <p:cNvSpPr txBox="1"/>
          <p:nvPr/>
        </p:nvSpPr>
        <p:spPr bwMode="auto">
          <a:xfrm>
            <a:off x="-2233" y="251420"/>
            <a:ext cx="9187815" cy="496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  <a:buClrTx/>
              <a:buSzTx/>
              <a:buFontTx/>
            </a:pP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sym typeface="+mn-ea"/>
              </a:rPr>
              <a:t>举例：分别用3-8线译码器和4选1数据选择器实现以下逻辑函数</a:t>
            </a:r>
          </a:p>
        </p:txBody>
      </p:sp>
      <p:graphicFrame>
        <p:nvGraphicFramePr>
          <p:cNvPr id="2" name="对象 -21474825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8760558"/>
              </p:ext>
            </p:extLst>
          </p:nvPr>
        </p:nvGraphicFramePr>
        <p:xfrm>
          <a:off x="2779368" y="751799"/>
          <a:ext cx="3204845" cy="394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50060" imgH="215900" progId="Equation.DSMT4">
                  <p:embed/>
                </p:oleObj>
              </mc:Choice>
              <mc:Fallback>
                <p:oleObj r:id="rId2" imgW="1750060" imgH="2159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79368" y="751799"/>
                        <a:ext cx="3204845" cy="3949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文本框 110"/>
          <p:cNvSpPr txBox="1"/>
          <p:nvPr/>
        </p:nvSpPr>
        <p:spPr>
          <a:xfrm>
            <a:off x="220322" y="1727462"/>
            <a:ext cx="4694927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解：（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用4选1数据选择器实现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en-US" sz="24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546" y="2357695"/>
            <a:ext cx="4674698" cy="398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写出函数的</a:t>
            </a:r>
            <a:r>
              <a:rPr lang="en-US" sz="2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标准与或式</a:t>
            </a: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</a:p>
        </p:txBody>
      </p:sp>
      <p:pic>
        <p:nvPicPr>
          <p:cNvPr id="9" name="图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5148064" y="2380643"/>
            <a:ext cx="3755390" cy="3473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/>
          <p:cNvPicPr/>
          <p:nvPr/>
        </p:nvPicPr>
        <p:blipFill>
          <a:blip r:embed="rId5"/>
          <a:stretch>
            <a:fillRect/>
          </a:stretch>
        </p:blipFill>
        <p:spPr>
          <a:xfrm>
            <a:off x="5148064" y="2969227"/>
            <a:ext cx="3535045" cy="411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6" name="文本框 115"/>
          <p:cNvSpPr txBox="1"/>
          <p:nvPr/>
        </p:nvSpPr>
        <p:spPr>
          <a:xfrm>
            <a:off x="240546" y="3458785"/>
            <a:ext cx="4674703" cy="9435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 </a:t>
            </a:r>
            <a:r>
              <a:rPr lang="en-US" sz="2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确定输入变量和地址码的对应关系</a:t>
            </a:r>
            <a:endParaRPr lang="en-US" sz="20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令 </a:t>
            </a:r>
            <a:r>
              <a:rPr 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A=A1，G=A0</a:t>
            </a: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</a:p>
        </p:txBody>
      </p:sp>
      <p:pic>
        <p:nvPicPr>
          <p:cNvPr id="11" name="图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1026768" y="4644965"/>
            <a:ext cx="3572510" cy="4584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7" name="文本框 116"/>
          <p:cNvSpPr txBox="1"/>
          <p:nvPr/>
        </p:nvSpPr>
        <p:spPr>
          <a:xfrm>
            <a:off x="955017" y="5221545"/>
            <a:ext cx="4345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则：    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</a:p>
        </p:txBody>
      </p:sp>
      <p:pic>
        <p:nvPicPr>
          <p:cNvPr id="12" name="图片 11"/>
          <p:cNvPicPr/>
          <p:nvPr/>
        </p:nvPicPr>
        <p:blipFill>
          <a:blip r:embed="rId7"/>
          <a:stretch>
            <a:fillRect/>
          </a:stretch>
        </p:blipFill>
        <p:spPr>
          <a:xfrm>
            <a:off x="1530958" y="5202499"/>
            <a:ext cx="678180" cy="4057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图片 12"/>
          <p:cNvPicPr/>
          <p:nvPr/>
        </p:nvPicPr>
        <p:blipFill>
          <a:blip r:embed="rId8"/>
          <a:stretch>
            <a:fillRect/>
          </a:stretch>
        </p:blipFill>
        <p:spPr>
          <a:xfrm>
            <a:off x="2489808" y="5250120"/>
            <a:ext cx="1080000" cy="360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9" name="文本框 118"/>
          <p:cNvSpPr txBox="1"/>
          <p:nvPr/>
        </p:nvSpPr>
        <p:spPr>
          <a:xfrm>
            <a:off x="812165" y="705739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sz="1800" b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en-US" sz="1800" b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图片 13"/>
          <p:cNvPicPr/>
          <p:nvPr/>
        </p:nvPicPr>
        <p:blipFill>
          <a:blip r:embed="rId9"/>
          <a:stretch>
            <a:fillRect/>
          </a:stretch>
        </p:blipFill>
        <p:spPr>
          <a:xfrm>
            <a:off x="3883637" y="5255839"/>
            <a:ext cx="589915" cy="3790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0" name="图片 119"/>
          <p:cNvPicPr/>
          <p:nvPr/>
        </p:nvPicPr>
        <p:blipFill>
          <a:blip r:embed="rId10"/>
          <a:stretch>
            <a:fillRect/>
          </a:stretch>
        </p:blipFill>
        <p:spPr>
          <a:xfrm>
            <a:off x="5036158" y="3675959"/>
            <a:ext cx="3181350" cy="2903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1" name="文本框 120"/>
          <p:cNvSpPr txBox="1"/>
          <p:nvPr/>
        </p:nvSpPr>
        <p:spPr>
          <a:xfrm>
            <a:off x="240546" y="5869245"/>
            <a:ext cx="4795612" cy="3987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③ 画连线图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82623" y="2952690"/>
            <a:ext cx="3780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写出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数据选择器逻辑函数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文本框 99"/>
          <p:cNvSpPr txBox="1"/>
          <p:nvPr/>
        </p:nvSpPr>
        <p:spPr bwMode="auto">
          <a:xfrm>
            <a:off x="466729" y="335919"/>
            <a:ext cx="8281735" cy="9392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  <a:buClrTx/>
              <a:buSzTx/>
              <a:buFontTx/>
            </a:pP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sym typeface="+mn-ea"/>
              </a:rPr>
              <a:t>举例：分别用74LS153(4选1数据选择器)和74LS152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sym typeface="+mn-ea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sym typeface="+mn-ea"/>
              </a:rPr>
              <a:t>(8选1数据选择器)实现函数F=AB+BC+AC。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539750" y="1491619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解：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(1)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用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选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数据选择器来设计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4211959" y="2184668"/>
            <a:ext cx="2968625" cy="378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" name="文本框 121"/>
          <p:cNvSpPr txBox="1"/>
          <p:nvPr/>
        </p:nvSpPr>
        <p:spPr>
          <a:xfrm>
            <a:off x="1158240" y="2808605"/>
            <a:ext cx="32537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选</a:t>
            </a:r>
            <a:r>
              <a:rPr lang="en-US" altLang="zh-CN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数据选择器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逻辑函数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4211955" y="2811145"/>
            <a:ext cx="3708000" cy="39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" name="文本框 122"/>
          <p:cNvSpPr txBox="1"/>
          <p:nvPr/>
        </p:nvSpPr>
        <p:spPr>
          <a:xfrm>
            <a:off x="755015" y="3320415"/>
            <a:ext cx="5080000" cy="943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 确定输入变量和地址码的对应关系</a:t>
            </a: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令 </a:t>
            </a:r>
            <a:r>
              <a:rPr 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A1=A,  A0=B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</a:t>
            </a:r>
          </a:p>
        </p:txBody>
      </p:sp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1259844" y="4365625"/>
            <a:ext cx="3742055" cy="4521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4" name="图片 123"/>
          <p:cNvPicPr/>
          <p:nvPr/>
        </p:nvPicPr>
        <p:blipFill>
          <a:blip r:embed="rId5"/>
          <a:stretch>
            <a:fillRect/>
          </a:stretch>
        </p:blipFill>
        <p:spPr>
          <a:xfrm>
            <a:off x="1216025" y="4882519"/>
            <a:ext cx="3813810" cy="4171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5" name="文本框 124"/>
          <p:cNvSpPr txBox="1"/>
          <p:nvPr/>
        </p:nvSpPr>
        <p:spPr>
          <a:xfrm>
            <a:off x="826770" y="5487674"/>
            <a:ext cx="3940810" cy="973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所以：</a:t>
            </a:r>
            <a:r>
              <a:rPr 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D0=0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D1=D2=C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D3=1</a:t>
            </a:r>
          </a:p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</a:p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③ 画连线图</a:t>
            </a:r>
          </a:p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5654" y="2216785"/>
            <a:ext cx="3368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 </a:t>
            </a:r>
            <a:r>
              <a:rPr lang="zh-CN" alt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写出函数的</a:t>
            </a:r>
            <a:r>
              <a:rPr lang="en-US" sz="2000" dirty="0" err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标准与或式</a:t>
            </a:r>
            <a:r>
              <a:rPr lang="en-US" sz="20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</a:t>
            </a:r>
          </a:p>
        </p:txBody>
      </p:sp>
      <p:pic>
        <p:nvPicPr>
          <p:cNvPr id="26" name="图片 1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625" y="4149090"/>
            <a:ext cx="2515870" cy="2115820"/>
          </a:xfrm>
          <a:prstGeom prst="rect">
            <a:avLst/>
          </a:prstGeom>
          <a:noFill/>
          <a:ln>
            <a:noFill/>
          </a:ln>
        </p:spPr>
      </p:pic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29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文本框 99"/>
          <p:cNvSpPr txBox="1"/>
          <p:nvPr/>
        </p:nvSpPr>
        <p:spPr bwMode="auto">
          <a:xfrm>
            <a:off x="466729" y="335919"/>
            <a:ext cx="8048625" cy="939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  <a:buClrTx/>
              <a:buSzTx/>
              <a:buFontTx/>
            </a:pPr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sym typeface="+mn-ea"/>
              </a:rPr>
              <a:t>举例：分别用74LS153(4选1数据选择器)和74LS152</a:t>
            </a:r>
            <a:r>
              <a:rPr lang="en-US" altLang="zh-CN" sz="24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sym typeface="+mn-ea"/>
              </a:rPr>
              <a:t> </a:t>
            </a:r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sym typeface="+mn-ea"/>
              </a:rPr>
              <a:t>(8选1数据选择器)实现函数F=AB+BC+AC。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539750" y="1491619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解：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(2) 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用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选</a:t>
            </a:r>
            <a:r>
              <a:rPr lang="en-US" altLang="zh-CN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数据选择器来设计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5650" y="2060575"/>
            <a:ext cx="5080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写出函数的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标准与或式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828040" y="2538095"/>
            <a:ext cx="2926080" cy="36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" name="图片 125"/>
          <p:cNvPicPr/>
          <p:nvPr/>
        </p:nvPicPr>
        <p:blipFill>
          <a:blip r:embed="rId3"/>
          <a:stretch>
            <a:fillRect/>
          </a:stretch>
        </p:blipFill>
        <p:spPr>
          <a:xfrm>
            <a:off x="1043309" y="3064510"/>
            <a:ext cx="7562215" cy="39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7" name="文本框 126"/>
          <p:cNvSpPr txBox="1"/>
          <p:nvPr/>
        </p:nvSpPr>
        <p:spPr>
          <a:xfrm>
            <a:off x="1186180" y="3655695"/>
            <a:ext cx="3521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8选1数据选择器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逻辑函数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</a:p>
        </p:txBody>
      </p:sp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40" y="4159250"/>
            <a:ext cx="7920000" cy="39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8" name="文本框 127"/>
          <p:cNvSpPr txBox="1"/>
          <p:nvPr/>
        </p:nvSpPr>
        <p:spPr>
          <a:xfrm>
            <a:off x="827405" y="4608195"/>
            <a:ext cx="5731510" cy="1320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② 确定输入变量和地址码的对应关系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令 A=A2，B=A1，C=A0 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则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D3=D5=D6=D7=1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D0=D1=D2=D4=0 </a:t>
            </a:r>
          </a:p>
        </p:txBody>
      </p:sp>
      <p:pic>
        <p:nvPicPr>
          <p:cNvPr id="9" name="图片 8"/>
          <p:cNvPicPr/>
          <p:nvPr/>
        </p:nvPicPr>
        <p:blipFill>
          <a:blip r:embed="rId5"/>
          <a:stretch>
            <a:fillRect/>
          </a:stretch>
        </p:blipFill>
        <p:spPr>
          <a:xfrm>
            <a:off x="5412744" y="4392295"/>
            <a:ext cx="3174365" cy="213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9" name="文本框 128"/>
          <p:cNvSpPr txBox="1"/>
          <p:nvPr/>
        </p:nvSpPr>
        <p:spPr>
          <a:xfrm>
            <a:off x="827409" y="6094095"/>
            <a:ext cx="2121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③ 画</a:t>
            </a:r>
            <a:r>
              <a:rPr lang="zh-CN" alt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电路</a:t>
            </a:r>
            <a:r>
              <a:rPr lang="en-US" sz="200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图 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30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451485" y="192405"/>
            <a:ext cx="8097520" cy="7439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31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517529" y="977269"/>
            <a:ext cx="8080375" cy="6457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40000"/>
              </a:lnSpc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触发器：</a:t>
            </a:r>
            <a:r>
              <a:rPr lang="zh-CN" altLang="en-US" sz="2400" dirty="0">
                <a:sym typeface="+mn-ea"/>
              </a:rPr>
              <a:t>逻辑功能、特性方程、相互转换方法</a:t>
            </a:r>
            <a:endParaRPr lang="zh-CN" altLang="en-US" sz="2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51" name="图片 51" descr="17189672075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767205"/>
            <a:ext cx="5915660" cy="4956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451485" y="192405"/>
            <a:ext cx="8097520" cy="7439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32</a:t>
            </a:fld>
            <a:endParaRPr lang="zh-CN" alt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517529" y="977269"/>
            <a:ext cx="8080375" cy="6457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40000"/>
              </a:lnSpc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触发器：</a:t>
            </a:r>
            <a:r>
              <a:rPr lang="zh-CN" altLang="en-US" sz="2400">
                <a:sym typeface="+mn-ea"/>
              </a:rPr>
              <a:t>逻辑功能、特性方程、相互转换方法</a:t>
            </a:r>
            <a:endParaRPr lang="zh-CN" altLang="en-US" sz="24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52" name="图片 52" descr="17189674533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844824"/>
            <a:ext cx="4886960" cy="4758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451485" y="192405"/>
            <a:ext cx="8097520" cy="7439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529" y="977269"/>
            <a:ext cx="8080375" cy="6457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40000"/>
              </a:lnSpc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触发器：</a:t>
            </a:r>
            <a:r>
              <a:rPr lang="zh-CN" altLang="en-US" sz="2400" dirty="0">
                <a:sym typeface="+mn-ea"/>
              </a:rPr>
              <a:t>逻辑功能、特性方程、</a:t>
            </a:r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相互转换方法</a:t>
            </a:r>
            <a:endParaRPr lang="zh-CN" altLang="en-US" sz="2400" dirty="0">
              <a:solidFill>
                <a:srgbClr val="C00000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53" name="图片 53" descr="17189675404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560" y="1917704"/>
            <a:ext cx="5069840" cy="2295525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273240" y="4149080"/>
            <a:ext cx="8568952" cy="22326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举例：</a:t>
            </a:r>
            <a:r>
              <a:rPr lang="en-US" sz="20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en-US" sz="2000" i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</a:rPr>
              <a:t>触发器在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CLK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</a:rPr>
              <a:t>脉冲作用下，要使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Q*=1</a:t>
            </a: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</a:rPr>
              <a:t>，则输入信号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2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chemeClr val="tx2"/>
                </a:solidFill>
                <a:ea typeface="宋体" panose="02010600030101010101" pitchFamily="2" charset="-122"/>
              </a:rPr>
              <a:t>           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J=? K=?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J-K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触发器特性方程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sz="2000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=JQ’+K’Q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要使的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sz="2000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，则需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JQ’+K’Q=1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，所以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J=1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Q’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          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K=0 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 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Q’</a:t>
            </a:r>
            <a:endParaRPr lang="en-US" alt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409" y="1917704"/>
            <a:ext cx="12998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宋体" panose="02010600030101010101" pitchFamily="2" charset="-122"/>
                <a:sym typeface="+mn-ea"/>
              </a:rPr>
              <a:t>举例：</a:t>
            </a:r>
          </a:p>
        </p:txBody>
      </p:sp>
      <p:sp>
        <p:nvSpPr>
          <p:cNvPr id="3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33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9726" y="182952"/>
            <a:ext cx="9036496" cy="7439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34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53752" y="1124744"/>
            <a:ext cx="9036496" cy="49725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时序逻辑电路概念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时序逻辑电路通常由组合逻辑电路和存储电路两部分组成，而存储电路是必不可少的。</a:t>
            </a:r>
            <a:endParaRPr lang="en-US" altLang="zh-CN" sz="20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l"/>
            </a:pPr>
            <a:endParaRPr lang="zh-CN" altLang="en-US" sz="20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时序逻辑电路分类：</a:t>
            </a:r>
          </a:p>
          <a:p>
            <a:pPr marL="895350" indent="-2667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根据时钟信号的作用方式分类，分为同步时序逻辑电路和异步时序逻辑电路两类。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endParaRPr lang="zh-CN" altLang="en-US" sz="20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20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时序逻辑电路逻辑功能特点：任一时刻的输出信号不仅取决于当时的输入信号，且取决于电路原来的状态。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451485" y="192405"/>
            <a:ext cx="8097520" cy="7439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35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1844824"/>
            <a:ext cx="8080375" cy="3244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时序逻辑电路功能的描述方式：</a:t>
            </a:r>
          </a:p>
          <a:p>
            <a:pPr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逻辑方程组：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驱动方程、状态方程、输出方程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状态转换真值表</a:t>
            </a:r>
          </a:p>
          <a:p>
            <a:pPr>
              <a:lnSpc>
                <a:spcPct val="14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状态转换图</a:t>
            </a:r>
          </a:p>
          <a:p>
            <a:pPr>
              <a:lnSpc>
                <a:spcPct val="140000"/>
              </a:lnSpc>
            </a:pP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(4) 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451485" y="192405"/>
            <a:ext cx="8097520" cy="7439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36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219040" y="967863"/>
            <a:ext cx="8673439" cy="55232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1、同步时序逻辑电路的分析方法</a:t>
            </a:r>
          </a:p>
          <a:p>
            <a:pPr>
              <a:lnSpc>
                <a:spcPct val="14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一般步骤：</a:t>
            </a:r>
          </a:p>
          <a:p>
            <a:pPr marL="450850" indent="-450850">
              <a:lnSpc>
                <a:spcPct val="14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(1)确定时序逻辑电路的类型 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0850" indent="-450850">
              <a:lnSpc>
                <a:spcPct val="14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(2)根据电路写出各触发器的驱动方程</a:t>
            </a:r>
          </a:p>
          <a:p>
            <a:pPr marL="450850" indent="-450850">
              <a:lnSpc>
                <a:spcPct val="14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(3)写出各触发器的状态方程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0850" indent="-450850">
              <a:lnSpc>
                <a:spcPct val="14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（将各触发器的驱动方程带入到触发器的特性方程）</a:t>
            </a:r>
          </a:p>
          <a:p>
            <a:pPr marL="450850" indent="-450850">
              <a:lnSpc>
                <a:spcPct val="14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(4)根据电路写出输出方程</a:t>
            </a:r>
          </a:p>
          <a:p>
            <a:pPr marL="450850" indent="-450850">
              <a:lnSpc>
                <a:spcPct val="14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(5)选用合适的描述方式</a:t>
            </a:r>
            <a:endParaRPr lang="en-US" altLang="zh-CN" sz="22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0850" indent="-450850">
              <a:lnSpc>
                <a:spcPct val="140000"/>
              </a:lnSpc>
            </a:pPr>
            <a:r>
              <a:rPr lang="en-US" altLang="zh-CN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（可以选择状态转换真值表、状态转移图等方式对电路进行描述）</a:t>
            </a:r>
          </a:p>
          <a:p>
            <a:pPr marL="450850" indent="-450850">
              <a:lnSpc>
                <a:spcPct val="14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(6)总结描述时序逻辑电路的功能</a:t>
            </a:r>
          </a:p>
          <a:p>
            <a:pPr marL="450850" indent="-450850">
              <a:lnSpc>
                <a:spcPct val="140000"/>
              </a:lnSpc>
            </a:pPr>
            <a:r>
              <a:rPr lang="zh-CN" altLang="en-US" sz="2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(7)视具体需要检查电路是否具有自启动的功能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文本框 130"/>
          <p:cNvSpPr txBox="1"/>
          <p:nvPr/>
        </p:nvSpPr>
        <p:spPr>
          <a:xfrm>
            <a:off x="755654" y="332740"/>
            <a:ext cx="7779385" cy="11988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举例：分析图示的时序电路，写出驱动方程、输出方程、状态方程，画出电路的状态图，检查电路能否自启动，说明电路的功能。</a:t>
            </a: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1763395" y="1557024"/>
            <a:ext cx="5828030" cy="2460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2" name="文本框 131"/>
          <p:cNvSpPr txBox="1"/>
          <p:nvPr/>
        </p:nvSpPr>
        <p:spPr>
          <a:xfrm>
            <a:off x="828679" y="4150364"/>
            <a:ext cx="7706360" cy="230695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驱动方程：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=K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=K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=A⊕Q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输出方程：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Y=AQ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+A’Q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JK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触发器特性方程：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Q*=JQ’+K’Q 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状态方程：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*=Q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’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*=A⊕Q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⊕Q</a:t>
            </a:r>
            <a:r>
              <a:rPr lang="en-US" sz="2400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37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292080" y="1086806"/>
            <a:ext cx="3335655" cy="25285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2" name="文本框 131"/>
          <p:cNvSpPr txBox="1"/>
          <p:nvPr/>
        </p:nvSpPr>
        <p:spPr>
          <a:xfrm>
            <a:off x="1115699" y="549279"/>
            <a:ext cx="26435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状态转换表：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453062" y="597539"/>
            <a:ext cx="3114675" cy="36258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电路的状态图：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899799" y="3718564"/>
            <a:ext cx="7837805" cy="21583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该电路的功能：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A=0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时作四进制加法计数，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A=1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时作四进制减法计数。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电路能自启动。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400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（此功能可尝试用后面的计数器芯片来实现）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99" y="1054100"/>
            <a:ext cx="3971925" cy="2405380"/>
          </a:xfrm>
          <a:prstGeom prst="rect">
            <a:avLst/>
          </a:prstGeom>
        </p:spPr>
      </p:pic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38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451485" y="192405"/>
            <a:ext cx="8097520" cy="7439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3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39</a:t>
            </a:fld>
            <a:endParaRPr lang="zh-CN" alt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517529" y="1049020"/>
            <a:ext cx="8080375" cy="56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20000"/>
              </a:lnSpc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常用时序逻辑电路模块：计数器</a:t>
            </a:r>
            <a:endParaRPr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7" name="图片 57" descr="17189683547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710245"/>
            <a:ext cx="5400600" cy="4955350"/>
          </a:xfrm>
          <a:prstGeom prst="rect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8" descr="17189684603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293370"/>
            <a:ext cx="8209280" cy="6134100"/>
          </a:xfrm>
          <a:prstGeom prst="rect">
            <a:avLst/>
          </a:prstGeom>
        </p:spPr>
      </p:pic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40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5" descr="17190662827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4" y="550549"/>
            <a:ext cx="3888105" cy="2522855"/>
          </a:xfrm>
          <a:prstGeom prst="rect">
            <a:avLst/>
          </a:prstGeom>
        </p:spPr>
      </p:pic>
      <p:sp>
        <p:nvSpPr>
          <p:cNvPr id="133" name="文本框 132"/>
          <p:cNvSpPr txBox="1"/>
          <p:nvPr/>
        </p:nvSpPr>
        <p:spPr>
          <a:xfrm>
            <a:off x="827405" y="2995299"/>
            <a:ext cx="332994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74160</a:t>
            </a:r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74161</a:t>
            </a:r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的功能表是一样的）</a:t>
            </a:r>
          </a:p>
        </p:txBody>
      </p:sp>
      <p:pic>
        <p:nvPicPr>
          <p:cNvPr id="68" name="图片 68" descr="17190677714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639" y="751844"/>
            <a:ext cx="3889375" cy="21151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43755" y="2961009"/>
            <a:ext cx="366649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74190</a:t>
            </a:r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74191</a:t>
            </a:r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的功能表是一样的）</a:t>
            </a:r>
          </a:p>
        </p:txBody>
      </p:sp>
      <p:pic>
        <p:nvPicPr>
          <p:cNvPr id="67" name="图片 67" descr="17190667201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9" y="3625219"/>
            <a:ext cx="5847715" cy="24415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90374" y="6092829"/>
            <a:ext cx="377888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74192</a:t>
            </a:r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74193</a:t>
            </a:r>
            <a:r>
              <a:rPr lang="zh-CN" altLang="en-US" sz="16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的功能表是一样的）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41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034" y="1276985"/>
            <a:ext cx="4897755" cy="4103370"/>
          </a:xfrm>
          <a:prstGeom prst="rect">
            <a:avLst/>
          </a:prstGeom>
          <a:noFill/>
          <a:ln>
            <a:noFill/>
          </a:ln>
        </p:spPr>
      </p:pic>
      <p:sp>
        <p:nvSpPr>
          <p:cNvPr id="40962" name="TextBox 5"/>
          <p:cNvSpPr txBox="1"/>
          <p:nvPr/>
        </p:nvSpPr>
        <p:spPr>
          <a:xfrm>
            <a:off x="396240" y="95640"/>
            <a:ext cx="8097520" cy="662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529" y="905514"/>
            <a:ext cx="8080375" cy="10814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用计数器芯片构建任意进制计数器方法：</a:t>
            </a:r>
          </a:p>
          <a:p>
            <a:pPr>
              <a:lnSpc>
                <a:spcPct val="110000"/>
              </a:lnSpc>
              <a:buFont typeface="Wingdings" panose="05000000000000000000" charset="0"/>
            </a:pP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1E08EC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置零法</a:t>
            </a:r>
            <a:r>
              <a:rPr lang="zh-CN" altLang="en-US" sz="2400" dirty="0">
                <a:solidFill>
                  <a:srgbClr val="1E08E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1E08EC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置数法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611509" y="2134239"/>
            <a:ext cx="31083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单芯片清零法</a:t>
            </a:r>
            <a:r>
              <a:rPr lang="zh-CN" altLang="en-US" sz="24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举例：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1505" y="2639064"/>
            <a:ext cx="3323590" cy="37215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电路分析：</a:t>
            </a:r>
            <a:endParaRPr lang="zh-CN" altLang="en-US" sz="18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6244" y="5301615"/>
            <a:ext cx="8101965" cy="13093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当开关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打到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端，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CLR=0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清零端无效，计数器从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开始进行加计数器，当计数值为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0110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（十进制数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）时，清零端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CLR=0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有效（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异步清零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），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0110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是暂态，计数器马上置为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0000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状态。所以数码管从开关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打到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b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端开始，显示值为：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0-1-2-3-4-5-0-1-2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…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，循环往复。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6240" y="2997835"/>
            <a:ext cx="3323590" cy="13093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LOAD’=1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，置数端无效，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DOWN=1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，脉冲信号从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up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端送入，若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CLR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清零端无效，则计数器为加计数功能。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6240" y="4289425"/>
            <a:ext cx="3323590" cy="10045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当开关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打到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端，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CLR=1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清零端有效，计数器清零，输出为“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”；</a:t>
            </a:r>
            <a:endParaRPr lang="zh-CN" altLang="en-US" sz="18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42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文本框 132"/>
          <p:cNvSpPr txBox="1"/>
          <p:nvPr/>
        </p:nvSpPr>
        <p:spPr>
          <a:xfrm>
            <a:off x="611509" y="483874"/>
            <a:ext cx="30295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单芯片置数法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举例：</a:t>
            </a:r>
          </a:p>
        </p:txBody>
      </p:sp>
      <p:pic>
        <p:nvPicPr>
          <p:cNvPr id="37" name="图片 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789" y="273050"/>
            <a:ext cx="5362575" cy="379603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81639" y="1588135"/>
            <a:ext cx="2666365" cy="1889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DOWN=1，脉冲信号从up端送入，若CLR清零端和LOAD置数端无效，则计数器为加计数功能。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2144" y="1125859"/>
            <a:ext cx="1809115" cy="372153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电路分析：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96879" y="3559814"/>
            <a:ext cx="2889885" cy="117030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当开关S1打到a端，CLR=1清零端有效，计数器清零，输出为“0”；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381635" y="4862195"/>
            <a:ext cx="8063230" cy="1569720"/>
            <a:chOff x="601" y="7657"/>
            <a:chExt cx="12698" cy="2472"/>
          </a:xfrm>
        </p:grpSpPr>
        <p:sp>
          <p:nvSpPr>
            <p:cNvPr id="135" name="文本框 134"/>
            <p:cNvSpPr txBox="1"/>
            <p:nvPr/>
          </p:nvSpPr>
          <p:spPr>
            <a:xfrm>
              <a:off x="601" y="7657"/>
              <a:ext cx="12699" cy="240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noFill/>
            </a:ln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当开关S1打到b端，CLR=0清零端无效，计数器从0开始进行加计数器，当计数值为0110（十进制数6）时，置数端LOAD’=0有效（</a:t>
              </a:r>
              <a:r>
                <a:rPr 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异步置数</a:t>
              </a:r>
              <a:r>
                <a:rPr lang="en-US" sz="1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），0110是暂态，计数器马上置为0010状态。所以数码管从开关S1打到b端开始，显示值为：</a:t>
              </a:r>
              <a:r>
                <a:rPr 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0-1-2-3-4-5</a:t>
              </a:r>
              <a:r>
                <a:rPr lang="en-US" sz="1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+mn-ea"/>
                </a:rPr>
                <a:t>，循环往复。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3305" y="9847"/>
              <a:ext cx="960" cy="282"/>
              <a:chOff x="3305" y="9847"/>
              <a:chExt cx="960" cy="282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3305" y="10124"/>
                <a:ext cx="960" cy="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33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" name="直接箭头连接符 10"/>
              <p:cNvCxnSpPr/>
              <p:nvPr/>
            </p:nvCxnSpPr>
            <p:spPr>
              <a:xfrm flipV="1">
                <a:off x="3320" y="9847"/>
                <a:ext cx="0" cy="283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" name="直接连接符 12"/>
              <p:cNvCxnSpPr/>
              <p:nvPr/>
            </p:nvCxnSpPr>
            <p:spPr>
              <a:xfrm flipV="1">
                <a:off x="4265" y="9847"/>
                <a:ext cx="0" cy="270"/>
              </a:xfrm>
              <a:prstGeom prst="line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43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文本框 132"/>
          <p:cNvSpPr txBox="1"/>
          <p:nvPr/>
        </p:nvSpPr>
        <p:spPr>
          <a:xfrm>
            <a:off x="611509" y="268605"/>
            <a:ext cx="635825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计数器级联整体置零法、整体置数法</a:t>
            </a:r>
            <a:endParaRPr lang="zh-CN" altLang="en-US" sz="280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612140" y="909959"/>
            <a:ext cx="71374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举例：利用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74LS160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接成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29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进制计数器。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12140" y="1434469"/>
            <a:ext cx="7726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解：</a:t>
            </a:r>
            <a:r>
              <a:rPr lang="zh-CN" altLang="en-US" sz="2000">
                <a:solidFill>
                  <a:srgbClr val="1E08E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方法一：</a:t>
            </a:r>
            <a:r>
              <a:rPr lang="zh-CN" altLang="en-US" sz="2000">
                <a:solidFill>
                  <a:srgbClr val="1E08EC"/>
                </a:solidFill>
                <a:ea typeface="宋体" panose="02010600030101010101" pitchFamily="2" charset="-122"/>
                <a:sym typeface="+mn-ea"/>
              </a:rPr>
              <a:t>采用整体置零法的实现电路如下</a:t>
            </a:r>
            <a:endParaRPr lang="zh-CN" altLang="en-US" sz="18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7349" name="Picture 8" descr="6-3-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4" y="3994789"/>
            <a:ext cx="5659755" cy="2722245"/>
          </a:xfrm>
          <a:prstGeom prst="rect">
            <a:avLst/>
          </a:prstGeom>
          <a:noFill/>
          <a:ln w="57150" cap="flat" cmpd="thickThin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" name="文本框 2"/>
          <p:cNvSpPr txBox="1"/>
          <p:nvPr/>
        </p:nvSpPr>
        <p:spPr>
          <a:xfrm>
            <a:off x="1223649" y="2640330"/>
            <a:ext cx="7138035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分析：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稳定状态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是：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00000000-00101000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0-28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）；</a:t>
            </a:r>
          </a:p>
          <a:p>
            <a:pPr>
              <a:lnSpc>
                <a:spcPct val="110000"/>
              </a:lnSpc>
            </a:pPr>
            <a:r>
              <a:rPr lang="zh-CN" altLang="en-US" sz="1800">
                <a:solidFill>
                  <a:srgbClr val="1E08E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异步清零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1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译码状态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回零状态</a:t>
            </a:r>
            <a:r>
              <a:rPr lang="en-US" altLang="zh-CN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为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00101001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29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）；所以当出现状态时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00101001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29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 时，复位信号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RD’=0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，两个芯片即刻都清零。计数值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29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（</a:t>
            </a: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00101001</a:t>
            </a:r>
            <a:r>
              <a:rPr lang="zh-CN" altLang="en-US" sz="1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）对应的状态是暂态。</a:t>
            </a:r>
            <a:endParaRPr lang="zh-CN" altLang="en-US" sz="180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7304" y="1918339"/>
            <a:ext cx="7553325" cy="7004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步骤：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、先构建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100</a:t>
            </a: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进制计数器；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、确定回零状态（译码状态）；</a:t>
            </a:r>
            <a:r>
              <a:rPr lang="en-US" altLang="zh-CN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          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、设计产生回零信号的译码电路。</a:t>
            </a:r>
            <a:endParaRPr lang="zh-CN" altLang="en-US" sz="18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44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文本框 132"/>
          <p:cNvSpPr txBox="1"/>
          <p:nvPr/>
        </p:nvSpPr>
        <p:spPr>
          <a:xfrm>
            <a:off x="467544" y="260648"/>
            <a:ext cx="82550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计数器级联整体置零法、整体置数法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403424" y="956735"/>
            <a:ext cx="71374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举例：利用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74LS160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接成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29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进制计数器。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24136" y="1448190"/>
            <a:ext cx="832432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解：</a:t>
            </a:r>
            <a:r>
              <a:rPr lang="zh-CN" altLang="en-US" sz="2000">
                <a:solidFill>
                  <a:srgbClr val="1E08EC"/>
                </a:solidFill>
                <a:ea typeface="宋体" panose="02010600030101010101" pitchFamily="2" charset="-122"/>
                <a:sym typeface="+mn-ea"/>
              </a:rPr>
              <a:t>方法二：采用整体置数法的实现电路如下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67544" y="3068960"/>
            <a:ext cx="8255000" cy="13093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分析：</a:t>
            </a:r>
            <a:r>
              <a:rPr sz="18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稳定状态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是：00000000-00101000（0-28）；</a:t>
            </a: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sz="18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同步置数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：</a:t>
            </a:r>
            <a:r>
              <a:rPr sz="18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置数（译码）状态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为00101000（28）；</a:t>
            </a:r>
          </a:p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所以当出现状态时00101000</a:t>
            </a:r>
            <a:r>
              <a:rPr 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28</a:t>
            </a:r>
            <a:r>
              <a:rPr 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sz="1800" dirty="0" err="1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时，预置数信号LD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’=0，在下一个时钟上升沿到达时，两个芯片状态为预置数00000000。计数值28</a:t>
            </a:r>
            <a:r>
              <a:rPr 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00101000</a:t>
            </a:r>
            <a:r>
              <a:rPr 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sz="1800" dirty="0" err="1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是稳定状态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67544" y="2004692"/>
            <a:ext cx="8255000" cy="98033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步骤：1、先构建100进制计数器；</a:t>
            </a:r>
            <a:endParaRPr lang="en-US" sz="1800" dirty="0">
              <a:solidFill>
                <a:schemeClr val="tx2"/>
              </a:solidFill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           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2、确定置数状态</a:t>
            </a:r>
            <a:r>
              <a:rPr 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sz="1800" dirty="0" err="1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译码状态</a:t>
            </a:r>
            <a:r>
              <a:rPr 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sz="1800" dirty="0" err="1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及预置数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；</a:t>
            </a:r>
          </a:p>
          <a:p>
            <a:pPr>
              <a:lnSpc>
                <a:spcPct val="110000"/>
              </a:lnSpc>
            </a:pP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          </a:t>
            </a:r>
            <a:r>
              <a:rPr sz="1800" dirty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3、设计产生置数信号的译码电路。</a:t>
            </a:r>
          </a:p>
        </p:txBody>
      </p:sp>
      <p:pic>
        <p:nvPicPr>
          <p:cNvPr id="60422" name="Picture 11" descr="6-3-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4509120"/>
            <a:ext cx="6095365" cy="2251710"/>
          </a:xfrm>
          <a:prstGeom prst="rect">
            <a:avLst/>
          </a:prstGeom>
          <a:noFill/>
          <a:ln w="57150" cap="flat" cmpd="thickThin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45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50" y="3017524"/>
            <a:ext cx="7501890" cy="3823335"/>
          </a:xfrm>
          <a:prstGeom prst="rect">
            <a:avLst/>
          </a:prstGeom>
        </p:spPr>
      </p:pic>
      <p:sp>
        <p:nvSpPr>
          <p:cNvPr id="40962" name="TextBox 5"/>
          <p:cNvSpPr txBox="1"/>
          <p:nvPr/>
        </p:nvSpPr>
        <p:spPr>
          <a:xfrm>
            <a:off x="451485" y="120650"/>
            <a:ext cx="8097520" cy="662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2" name="TextBox 5"/>
          <p:cNvSpPr txBox="1"/>
          <p:nvPr/>
        </p:nvSpPr>
        <p:spPr>
          <a:xfrm>
            <a:off x="517529" y="833759"/>
            <a:ext cx="8080375" cy="591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综合电路分析举例</a:t>
            </a:r>
            <a:endParaRPr lang="zh-CN" altLang="en-US" sz="2400" dirty="0">
              <a:solidFill>
                <a:srgbClr val="1E08EC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6240" y="1337314"/>
            <a:ext cx="8434070" cy="1751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下面图示电路中，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74LS161</a:t>
            </a:r>
            <a:r>
              <a:rPr lang="zh-CN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为一个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进制加法计数器（该计数器具有异步清零和同步预置数功能）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74LS283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是一个四位二进制加法器，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74LS157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是一个四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数据选择器。分析电路：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）当开关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点时，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74161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的输出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QDQCQBQA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为多少？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个显示器各显示什么？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）当开关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点后，分析此电路的工作情况。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46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55650" y="40449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00"/>
              <a:t>此例用到的三个芯片功能表如下：</a:t>
            </a:r>
          </a:p>
        </p:txBody>
      </p:sp>
      <p:pic>
        <p:nvPicPr>
          <p:cNvPr id="65" name="图片 65" descr="17190662827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64" y="996315"/>
            <a:ext cx="3693795" cy="2396490"/>
          </a:xfrm>
          <a:prstGeom prst="rect">
            <a:avLst/>
          </a:prstGeom>
        </p:spPr>
      </p:pic>
      <p:pic>
        <p:nvPicPr>
          <p:cNvPr id="79" name="图片 79" descr="17190711753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655" y="1059184"/>
            <a:ext cx="3525520" cy="21901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0" y="3844290"/>
            <a:ext cx="3963670" cy="2175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885393"/>
            <a:ext cx="5832648" cy="2972607"/>
          </a:xfrm>
          <a:prstGeom prst="rect">
            <a:avLst/>
          </a:prstGeom>
        </p:spPr>
      </p:pic>
      <p:sp>
        <p:nvSpPr>
          <p:cNvPr id="40962" name="TextBox 5"/>
          <p:cNvSpPr txBox="1"/>
          <p:nvPr/>
        </p:nvSpPr>
        <p:spPr>
          <a:xfrm>
            <a:off x="107504" y="-80572"/>
            <a:ext cx="8097520" cy="49962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第5章 </a:t>
            </a:r>
            <a:r>
              <a:rPr lang="en-US" sz="2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0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触发器与时序逻辑电路</a:t>
            </a:r>
          </a:p>
        </p:txBody>
      </p:sp>
      <p:sp>
        <p:nvSpPr>
          <p:cNvPr id="2" name="TextBox 5"/>
          <p:cNvSpPr txBox="1"/>
          <p:nvPr/>
        </p:nvSpPr>
        <p:spPr>
          <a:xfrm>
            <a:off x="-76992" y="1517039"/>
            <a:ext cx="8080375" cy="591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lstStyle/>
          <a:p>
            <a:pPr marL="457200" indent="-457200">
              <a:lnSpc>
                <a:spcPct val="110000"/>
              </a:lnSpc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综合电路分析举例</a:t>
            </a:r>
            <a:endParaRPr lang="zh-CN" altLang="en-US" sz="2400" dirty="0">
              <a:solidFill>
                <a:srgbClr val="1E08EC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724" y="2152538"/>
            <a:ext cx="9064550" cy="1751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下面图示电路中，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74LS161</a:t>
            </a:r>
            <a:r>
              <a:rPr lang="zh-CN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为一个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进制加法计数器（该计数器具有异步清零和同步预置数功能）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74LS283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是一个四位二进制加法器，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74LS157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是一个四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数据选择器（各芯片功能表见前面复习内容）。分析电路：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）当开关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点时，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74161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的输出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QDQCQBQA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为多少？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个显示器各显示什么？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）当开关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点后，分析此电路的工作情况。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944" y="9842"/>
            <a:ext cx="5027736" cy="2054068"/>
          </a:xfrm>
          <a:prstGeom prst="rect">
            <a:avLst/>
          </a:prstGeom>
        </p:spPr>
      </p:pic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48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55774" y="197083"/>
            <a:ext cx="11010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分析：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4704" y="740836"/>
            <a:ext cx="8243206" cy="15144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）当开关</a:t>
            </a:r>
            <a:r>
              <a:rPr lang="en-US" altLang="zh-CN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en-US" altLang="zh-CN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点时，</a:t>
            </a:r>
            <a:r>
              <a:rPr lang="en-US" altLang="zh-CN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74161</a:t>
            </a:r>
            <a:r>
              <a:rPr lang="zh-CN" altLang="en-US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的输出</a:t>
            </a:r>
            <a:r>
              <a:rPr lang="en-US" altLang="zh-CN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QDQCQBQA</a:t>
            </a:r>
            <a:r>
              <a:rPr lang="zh-CN" altLang="en-US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为多少？</a:t>
            </a:r>
            <a:r>
              <a:rPr lang="en-US" altLang="zh-CN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500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个显示器各显示什么？</a:t>
            </a:r>
            <a:endParaRPr lang="en-US" altLang="zh-CN" sz="1500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答：当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lang="zh-CN" altLang="en-US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点时：</a:t>
            </a:r>
            <a:endParaRPr lang="en-US" altLang="zh-CN" sz="15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74161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的清零端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CLR=0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有效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计数器清零，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QDQCQBQA=0000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数码管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U2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；加法器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74283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实现的是</a:t>
            </a:r>
            <a:r>
              <a:rPr lang="zh-CN" altLang="en-US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乘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运算，结果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S4S3S2S1=0000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，数码管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U4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选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数据选择器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74157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选择控制端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~A/B=1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，所以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Y=B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，此时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Y4Y3Y2Y1=B4B3B2B1=0 0 S2S3=0000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，数码管</a:t>
            </a:r>
            <a:r>
              <a:rPr lang="en-US" altLang="zh-CN" sz="1500" dirty="0">
                <a:latin typeface="宋体" panose="02010600030101010101" pitchFamily="2" charset="-122"/>
                <a:ea typeface="宋体" panose="02010600030101010101" pitchFamily="2" charset="-122"/>
              </a:rPr>
              <a:t>U5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5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5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1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4704" y="2291617"/>
            <a:ext cx="5271406" cy="349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5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5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）当开关</a:t>
            </a:r>
            <a:r>
              <a:rPr lang="en-US" altLang="zh-CN" sz="15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S1</a:t>
            </a:r>
            <a:r>
              <a:rPr lang="zh-CN" altLang="en-US" sz="15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位于</a:t>
            </a:r>
            <a:r>
              <a:rPr lang="en-US" altLang="zh-CN" sz="15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50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端时，分析此电路的工作情况。</a:t>
            </a:r>
            <a:endParaRPr lang="zh-CN" altLang="en-US" sz="1500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34704" y="2578734"/>
            <a:ext cx="8297634" cy="2176748"/>
            <a:chOff x="388259" y="3420288"/>
            <a:chExt cx="11063512" cy="2902331"/>
          </a:xfrm>
        </p:grpSpPr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88259" y="3420288"/>
              <a:ext cx="11063512" cy="286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anchor="ctr" anchorCtr="0" compatLnSpc="1"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5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答： 当</a:t>
              </a:r>
              <a:r>
                <a:rPr lang="en-US" altLang="zh-CN" sz="15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S1</a:t>
              </a:r>
              <a:r>
                <a:rPr lang="zh-CN" altLang="en-US" sz="15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接通</a:t>
              </a:r>
              <a:r>
                <a:rPr lang="en-US" altLang="zh-CN" sz="15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</a:t>
              </a:r>
              <a:r>
                <a:rPr lang="zh-CN" altLang="en-US" sz="15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点后：</a:t>
              </a:r>
              <a:r>
                <a:rPr lang="en-US" altLang="zh-CN" sz="1500" dirty="0">
                  <a:latin typeface="宋体" panose="02010600030101010101" pitchFamily="2" charset="-122"/>
                  <a:ea typeface="宋体" panose="02010600030101010101" pitchFamily="2" charset="-122"/>
                </a:rPr>
                <a:t>74161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清零端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CLR=1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无效，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ENP=ENT=1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，计数器正常计数。当计数值为 </a:t>
              </a:r>
              <a:r>
                <a:rPr lang="en-US" altLang="zh-CN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0100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（十进制数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）时，置数端 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LOAD=0 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有效（</a:t>
              </a:r>
              <a:r>
                <a:rPr lang="zh-CN" altLang="en-US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同步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置数），计数器置数为 </a:t>
              </a:r>
              <a:r>
                <a:rPr lang="en-US" altLang="zh-CN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0010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（十进制数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）。所以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74161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从启动开始，计数值和数码管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U2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为：</a:t>
              </a:r>
              <a:r>
                <a:rPr lang="en-US" altLang="zh-CN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0→1→2→3→4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；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74383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实现</a:t>
              </a:r>
              <a:r>
                <a:rPr lang="zh-CN" altLang="en-US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乘</a:t>
              </a:r>
              <a:r>
                <a:rPr lang="en-US" altLang="zh-CN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功能，所以数码管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U4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显示</a:t>
              </a:r>
              <a:r>
                <a:rPr lang="zh-CN" altLang="en-US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0→2→4→6→8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；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74157 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按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组输入的状态输出，而 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B4=B3=0,  B2=S2,  B1=S3,  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所以当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74283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的输出状态  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S4S3S2S1 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为 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0000 →0010→0100→0110→1000 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74157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的输出 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Y4Y3Y2Y1=B4B3B2B1 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的状态变化为  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0000 →0010→0001→0011→0000 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，所以数码管</a:t>
              </a:r>
              <a:r>
                <a:rPr lang="en-US" altLang="zh-CN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U5</a:t>
              </a:r>
              <a:r>
                <a:rPr lang="zh-CN" altLang="en-US" sz="1500" dirty="0">
                  <a:solidFill>
                    <a:srgbClr val="00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显示为：</a:t>
              </a:r>
              <a:r>
                <a:rPr lang="zh-CN" altLang="en-US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1500" dirty="0">
                  <a:solidFill>
                    <a:srgbClr val="FF00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0→2→1→3→0 </a:t>
              </a:r>
              <a:r>
                <a:rPr lang="zh-CN" altLang="en-US" sz="15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rPr>
                <a:t>。</a:t>
              </a:r>
              <a:endParaRPr lang="en-US" altLang="zh-CN" sz="1500" b="0" dirty="0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6035388" y="4774254"/>
              <a:ext cx="731898" cy="162251"/>
              <a:chOff x="3684072" y="6486934"/>
              <a:chExt cx="731898" cy="162251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4415970" y="6531423"/>
                <a:ext cx="0" cy="113950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 flipH="1">
                <a:off x="3684072" y="6649185"/>
                <a:ext cx="719999" cy="0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 flipV="1">
                <a:off x="3684979" y="6486934"/>
                <a:ext cx="0" cy="144000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/>
            <p:cNvGrpSpPr/>
            <p:nvPr/>
          </p:nvGrpSpPr>
          <p:grpSpPr>
            <a:xfrm>
              <a:off x="1818987" y="5231451"/>
              <a:ext cx="731898" cy="162251"/>
              <a:chOff x="3684072" y="6486934"/>
              <a:chExt cx="731898" cy="162251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4415970" y="6531423"/>
                <a:ext cx="0" cy="113950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3684072" y="6649185"/>
                <a:ext cx="719999" cy="0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 flipV="1">
                <a:off x="3684979" y="6486934"/>
                <a:ext cx="0" cy="144000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8916474" y="6160368"/>
              <a:ext cx="731898" cy="162251"/>
              <a:chOff x="3684072" y="6486934"/>
              <a:chExt cx="731898" cy="162251"/>
            </a:xfrm>
          </p:grpSpPr>
          <p:cxnSp>
            <p:nvCxnSpPr>
              <p:cNvPr id="25" name="直接连接符 24"/>
              <p:cNvCxnSpPr/>
              <p:nvPr/>
            </p:nvCxnSpPr>
            <p:spPr>
              <a:xfrm>
                <a:off x="4415970" y="6531423"/>
                <a:ext cx="0" cy="113950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>
              <a:xfrm flipH="1">
                <a:off x="3684072" y="6649185"/>
                <a:ext cx="719999" cy="0"/>
              </a:xfrm>
              <a:prstGeom prst="line">
                <a:avLst/>
              </a:prstGeom>
              <a:ln w="2222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/>
              <p:nvPr/>
            </p:nvCxnSpPr>
            <p:spPr>
              <a:xfrm flipV="1">
                <a:off x="3684979" y="6486934"/>
                <a:ext cx="0" cy="144000"/>
              </a:xfrm>
              <a:prstGeom prst="straightConnector1">
                <a:avLst/>
              </a:prstGeom>
              <a:ln w="2222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组合 27"/>
            <p:cNvGrpSpPr/>
            <p:nvPr/>
          </p:nvGrpSpPr>
          <p:grpSpPr>
            <a:xfrm>
              <a:off x="4547669" y="5695913"/>
              <a:ext cx="1476000" cy="162251"/>
              <a:chOff x="3684071" y="6486934"/>
              <a:chExt cx="1476000" cy="162251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5156201" y="6531423"/>
                <a:ext cx="0" cy="11395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>
              <a:xfrm flipH="1">
                <a:off x="3684071" y="6649185"/>
                <a:ext cx="147600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flipV="1">
                <a:off x="3684979" y="6486934"/>
                <a:ext cx="0" cy="14400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组合 31"/>
            <p:cNvGrpSpPr/>
            <p:nvPr/>
          </p:nvGrpSpPr>
          <p:grpSpPr>
            <a:xfrm>
              <a:off x="3422809" y="6153113"/>
              <a:ext cx="1476000" cy="162251"/>
              <a:chOff x="3684071" y="6486934"/>
              <a:chExt cx="1476000" cy="162251"/>
            </a:xfrm>
          </p:grpSpPr>
          <p:cxnSp>
            <p:nvCxnSpPr>
              <p:cNvPr id="33" name="直接连接符 32"/>
              <p:cNvCxnSpPr/>
              <p:nvPr/>
            </p:nvCxnSpPr>
            <p:spPr>
              <a:xfrm>
                <a:off x="5156201" y="6531423"/>
                <a:ext cx="0" cy="11395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flipH="1">
                <a:off x="3684071" y="6649185"/>
                <a:ext cx="1476000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 flipV="1">
                <a:off x="3684979" y="6486934"/>
                <a:ext cx="0" cy="14400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827409" y="4962529"/>
            <a:ext cx="3575685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/>
              <a:t>三个芯片输出的状态也可见下表：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4" y="5026664"/>
            <a:ext cx="4599305" cy="1698625"/>
          </a:xfrm>
          <a:prstGeom prst="rect">
            <a:avLst/>
          </a:prstGeom>
        </p:spPr>
      </p:pic>
      <p:sp>
        <p:nvSpPr>
          <p:cNvPr id="35844" name="灯片编号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010400" y="649287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49</a:t>
            </a:fld>
            <a:endParaRPr lang="zh-CN" alt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594995" y="192405"/>
            <a:ext cx="8097520" cy="662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第6章 </a:t>
            </a:r>
            <a:r>
              <a:rPr lang="en-US"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存储器与PLD</a:t>
            </a:r>
          </a:p>
        </p:txBody>
      </p:sp>
      <p:pic>
        <p:nvPicPr>
          <p:cNvPr id="56" name="图片 56" descr="17189680094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5" y="1153164"/>
            <a:ext cx="7336790" cy="3477895"/>
          </a:xfrm>
          <a:prstGeom prst="rect">
            <a:avLst/>
          </a:prstGeom>
        </p:spPr>
      </p:pic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50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594995" y="192405"/>
            <a:ext cx="8097520" cy="662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第6章 </a:t>
            </a:r>
            <a:r>
              <a:rPr lang="en-US"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存储器与PLD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143508" y="1026895"/>
            <a:ext cx="8856984" cy="53353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存储器相关名词术语，如地址数、字数、字长、数据线及容量等</a:t>
            </a:r>
          </a:p>
          <a:p>
            <a:pPr marL="342900" indent="-34290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存储容量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字数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位数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</a:t>
            </a:r>
            <a:r>
              <a:rPr lang="en-US" sz="20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位数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(n: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地址代码位数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举例：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已知某存储器标有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1K×4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字样，回答下列问题：</a:t>
            </a:r>
          </a:p>
          <a:p>
            <a:pPr marL="342900" indent="-34290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）该存储器有几条地址线？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条地址线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1K=2</a:t>
            </a:r>
            <a:r>
              <a:rPr lang="en-US" altLang="zh-CN" sz="2000" baseline="30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20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）该存储器能存储多少个字？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1024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个字</a:t>
            </a:r>
          </a:p>
          <a:p>
            <a:pPr marL="342900" indent="-34290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）每个字长是几位？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  <a:p>
            <a:pPr marL="342900" indent="-34290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）该存储器有几条数据线？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条</a:t>
            </a:r>
          </a:p>
          <a:p>
            <a:pPr marL="342900" indent="-342900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Font typeface="Wingdings" panose="05000000000000000000" charset="0"/>
              <a:buChar char="ü"/>
            </a:pP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）该存储器的容量是多少位？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4096</a:t>
            </a:r>
            <a:r>
              <a:rPr lang="zh-CN" alt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51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594995" y="192405"/>
            <a:ext cx="8097520" cy="662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第7章 </a:t>
            </a:r>
            <a:r>
              <a:rPr lang="en-US"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脉冲波形的发生与整形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1" y="1187050"/>
            <a:ext cx="9143999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施密特触发电路、单稳态电路、多谐振荡器的应用功能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52</a:t>
            </a:fld>
            <a:endParaRPr lang="zh-CN" altLang="en-US" sz="1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70092F-60D5-CDBD-0C18-0B7877C2DF0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51271" y="5672497"/>
            <a:ext cx="8641213" cy="7875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defTabSz="1219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由555定时器可以组成施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密特触发电路、单稳态电路和多谐振荡电路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219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555定时器的比较器灵敏度高、输出驱动电流大、功能灵活，在电子电路中获得了广泛应用。</a:t>
            </a:r>
          </a:p>
        </p:txBody>
      </p:sp>
      <p:sp>
        <p:nvSpPr>
          <p:cNvPr id="37" name="11 Rectángulo">
            <a:extLst>
              <a:ext uri="{FF2B5EF4-FFF2-40B4-BE49-F238E27FC236}">
                <a16:creationId xmlns:a16="http://schemas.microsoft.com/office/drawing/2014/main" id="{C069BD35-4B5C-A70E-EE74-2293ED10EEC6}"/>
              </a:ext>
            </a:extLst>
          </p:cNvPr>
          <p:cNvSpPr/>
          <p:nvPr/>
        </p:nvSpPr>
        <p:spPr>
          <a:xfrm>
            <a:off x="108779" y="2306747"/>
            <a:ext cx="2634602" cy="10506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单稳态电路</a:t>
            </a:r>
            <a:endParaRPr lang="en-US" altLang="zh-CN" sz="1800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42 Rectángulo">
            <a:extLst>
              <a:ext uri="{FF2B5EF4-FFF2-40B4-BE49-F238E27FC236}">
                <a16:creationId xmlns:a16="http://schemas.microsoft.com/office/drawing/2014/main" id="{36E91945-4002-9D58-16AE-10B54439F7BC}"/>
              </a:ext>
            </a:extLst>
          </p:cNvPr>
          <p:cNvSpPr/>
          <p:nvPr/>
        </p:nvSpPr>
        <p:spPr>
          <a:xfrm>
            <a:off x="3225928" y="2306747"/>
            <a:ext cx="2634604" cy="1050697"/>
          </a:xfrm>
          <a:prstGeom prst="rect">
            <a:avLst/>
          </a:prstGeom>
          <a:solidFill>
            <a:srgbClr val="E6A65C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施密特触发电路</a:t>
            </a:r>
            <a:endParaRPr lang="en-US" altLang="zh-CN" sz="1800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9" name="51 Rectángulo">
            <a:extLst>
              <a:ext uri="{FF2B5EF4-FFF2-40B4-BE49-F238E27FC236}">
                <a16:creationId xmlns:a16="http://schemas.microsoft.com/office/drawing/2014/main" id="{65CF376C-33EA-9AF3-5D56-DAD605B5685B}"/>
              </a:ext>
            </a:extLst>
          </p:cNvPr>
          <p:cNvSpPr/>
          <p:nvPr/>
        </p:nvSpPr>
        <p:spPr>
          <a:xfrm>
            <a:off x="6290398" y="2314703"/>
            <a:ext cx="2636366" cy="105069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91426" tIns="45712" rIns="91426" bIns="45712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800" b="1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多谐振荡电路</a:t>
            </a:r>
            <a:endParaRPr lang="en-US" altLang="zh-CN" sz="1800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B04DB60-03C0-0DD6-69CA-DA268FD35A0B}"/>
              </a:ext>
            </a:extLst>
          </p:cNvPr>
          <p:cNvSpPr txBox="1"/>
          <p:nvPr/>
        </p:nvSpPr>
        <p:spPr>
          <a:xfrm>
            <a:off x="108779" y="3535458"/>
            <a:ext cx="2634602" cy="9612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常用于脉冲的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2DBE06E-916B-A15B-0B6E-FD3BC863FB3B}"/>
              </a:ext>
            </a:extLst>
          </p:cNvPr>
          <p:cNvSpPr txBox="1"/>
          <p:nvPr/>
        </p:nvSpPr>
        <p:spPr>
          <a:xfrm>
            <a:off x="3225928" y="3559072"/>
            <a:ext cx="2634604" cy="96128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常用于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波形变换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幅度鉴别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48E4245-7E19-E525-1226-7B9A67B8E60C}"/>
              </a:ext>
            </a:extLst>
          </p:cNvPr>
          <p:cNvSpPr txBox="1"/>
          <p:nvPr/>
        </p:nvSpPr>
        <p:spPr>
          <a:xfrm>
            <a:off x="6290398" y="3584596"/>
            <a:ext cx="2634604" cy="14229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是一种自激振荡电路，常作为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时钟脉冲信号源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Box 5"/>
          <p:cNvSpPr txBox="1"/>
          <p:nvPr/>
        </p:nvSpPr>
        <p:spPr>
          <a:xfrm>
            <a:off x="594995" y="192405"/>
            <a:ext cx="8097520" cy="662554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第7章 </a:t>
            </a:r>
            <a:r>
              <a:rPr lang="en-US"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8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脉冲波形的发生与整形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608969" y="1052830"/>
            <a:ext cx="75723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charset="0"/>
              <a:buChar char="ü"/>
            </a:pP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矩形脉冲特性指标</a:t>
            </a:r>
          </a:p>
        </p:txBody>
      </p:sp>
      <p:pic>
        <p:nvPicPr>
          <p:cNvPr id="40" name="图片 40" descr="17190603097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99" y="1688465"/>
            <a:ext cx="5541645" cy="4772660"/>
          </a:xfrm>
          <a:prstGeom prst="rect">
            <a:avLst/>
          </a:prstGeom>
        </p:spPr>
      </p:pic>
      <p:sp>
        <p:nvSpPr>
          <p:cNvPr id="40964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  <a:t>53</a:t>
            </a:fld>
            <a:endParaRPr lang="zh-CN" alt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4" y="0"/>
            <a:ext cx="9182100" cy="6858000"/>
          </a:xfrm>
          <a:prstGeom prst="rect">
            <a:avLst/>
          </a:prstGeom>
        </p:spPr>
      </p:pic>
      <p:sp>
        <p:nvSpPr>
          <p:cNvPr id="62465" name="矩形 5"/>
          <p:cNvSpPr/>
          <p:nvPr/>
        </p:nvSpPr>
        <p:spPr>
          <a:xfrm>
            <a:off x="395605" y="914400"/>
            <a:ext cx="8496300" cy="24554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感谢同学们本学期的辛勤努力！</a:t>
            </a:r>
            <a:endParaRPr lang="en-US" altLang="zh-CN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感谢同学们对老师工作的支持与配合！</a:t>
            </a:r>
            <a:endParaRPr lang="en-US" altLang="zh-CN" sz="36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祝大家考试顺利！</a:t>
            </a:r>
          </a:p>
        </p:txBody>
      </p:sp>
      <p:sp>
        <p:nvSpPr>
          <p:cNvPr id="62466" name="灯片编号占位符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1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华文中宋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800" dirty="0"/>
              <a:t>54</a:t>
            </a:fld>
            <a:endParaRPr lang="zh-CN" altLang="en-US" sz="1800" dirty="0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89" y="3860169"/>
            <a:ext cx="2416175" cy="2422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8682">
        <p:plus/>
      </p:transition>
    </mc:Choice>
    <mc:Fallback xmlns="">
      <p:transition spd="slow" advTm="8682">
        <p:plus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I5YzUxYjc4MWE3ODIwY2VhMWZhMTQ2YWNlYzZkMj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_sample">
  <a:themeElements>
    <a:clrScheme name="20_sample 3">
      <a:dk1>
        <a:srgbClr val="1D528D"/>
      </a:dk1>
      <a:lt1>
        <a:srgbClr val="FFFFFF"/>
      </a:lt1>
      <a:dk2>
        <a:srgbClr val="000000"/>
      </a:dk2>
      <a:lt2>
        <a:srgbClr val="C0C0C0"/>
      </a:lt2>
      <a:accent1>
        <a:srgbClr val="1B9AD9"/>
      </a:accent1>
      <a:accent2>
        <a:srgbClr val="E4A04E"/>
      </a:accent2>
      <a:accent3>
        <a:srgbClr val="FFFFFF"/>
      </a:accent3>
      <a:accent4>
        <a:srgbClr val="174578"/>
      </a:accent4>
      <a:accent5>
        <a:srgbClr val="ABCAE9"/>
      </a:accent5>
      <a:accent6>
        <a:srgbClr val="CF9146"/>
      </a:accent6>
      <a:hlink>
        <a:srgbClr val="66CCFF"/>
      </a:hlink>
      <a:folHlink>
        <a:srgbClr val="969696"/>
      </a:folHlink>
    </a:clrScheme>
    <a:fontScheme name="20_sample">
      <a:majorFont>
        <a:latin typeface="宋体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华文中宋" pitchFamily="2" charset="-122"/>
          </a:defRPr>
        </a:defPPr>
      </a:lstStyle>
    </a:lnDef>
  </a:objectDefaults>
  <a:extraClrSchemeLst>
    <a:extraClrScheme>
      <a:clrScheme name="20_sample 1">
        <a:dk1>
          <a:srgbClr val="003366"/>
        </a:dk1>
        <a:lt1>
          <a:srgbClr val="FFFFFF"/>
        </a:lt1>
        <a:dk2>
          <a:srgbClr val="000000"/>
        </a:dk2>
        <a:lt2>
          <a:srgbClr val="C0C0C0"/>
        </a:lt2>
        <a:accent1>
          <a:srgbClr val="3556A7"/>
        </a:accent1>
        <a:accent2>
          <a:srgbClr val="C78DD7"/>
        </a:accent2>
        <a:accent3>
          <a:srgbClr val="FFFFFF"/>
        </a:accent3>
        <a:accent4>
          <a:srgbClr val="002A56"/>
        </a:accent4>
        <a:accent5>
          <a:srgbClr val="AEB4D0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_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399D72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ECCBC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_sample 3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1B9AD9"/>
        </a:accent1>
        <a:accent2>
          <a:srgbClr val="E4A04E"/>
        </a:accent2>
        <a:accent3>
          <a:srgbClr val="FFFFFF"/>
        </a:accent3>
        <a:accent4>
          <a:srgbClr val="174578"/>
        </a:accent4>
        <a:accent5>
          <a:srgbClr val="ABCAE9"/>
        </a:accent5>
        <a:accent6>
          <a:srgbClr val="CF9146"/>
        </a:accent6>
        <a:hlink>
          <a:srgbClr val="66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1_sample">
  <a:themeElements>
    <a:clrScheme name="20_sample 3">
      <a:dk1>
        <a:srgbClr val="1D528D"/>
      </a:dk1>
      <a:lt1>
        <a:srgbClr val="FFFFFF"/>
      </a:lt1>
      <a:dk2>
        <a:srgbClr val="000000"/>
      </a:dk2>
      <a:lt2>
        <a:srgbClr val="C0C0C0"/>
      </a:lt2>
      <a:accent1>
        <a:srgbClr val="1B9AD9"/>
      </a:accent1>
      <a:accent2>
        <a:srgbClr val="E4A04E"/>
      </a:accent2>
      <a:accent3>
        <a:srgbClr val="FFFFFF"/>
      </a:accent3>
      <a:accent4>
        <a:srgbClr val="174578"/>
      </a:accent4>
      <a:accent5>
        <a:srgbClr val="ABCAE9"/>
      </a:accent5>
      <a:accent6>
        <a:srgbClr val="CF9146"/>
      </a:accent6>
      <a:hlink>
        <a:srgbClr val="66CCFF"/>
      </a:hlink>
      <a:folHlink>
        <a:srgbClr val="969696"/>
      </a:folHlink>
    </a:clrScheme>
    <a:fontScheme name="20_sample">
      <a:majorFont>
        <a:latin typeface="宋体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华文中宋" pitchFamily="2" charset="-122"/>
          </a:defRPr>
        </a:defPPr>
      </a:lstStyle>
    </a:lnDef>
  </a:objectDefaults>
  <a:extraClrSchemeLst>
    <a:extraClrScheme>
      <a:clrScheme name="20_sample 1">
        <a:dk1>
          <a:srgbClr val="003366"/>
        </a:dk1>
        <a:lt1>
          <a:srgbClr val="FFFFFF"/>
        </a:lt1>
        <a:dk2>
          <a:srgbClr val="000000"/>
        </a:dk2>
        <a:lt2>
          <a:srgbClr val="C0C0C0"/>
        </a:lt2>
        <a:accent1>
          <a:srgbClr val="3556A7"/>
        </a:accent1>
        <a:accent2>
          <a:srgbClr val="C78DD7"/>
        </a:accent2>
        <a:accent3>
          <a:srgbClr val="FFFFFF"/>
        </a:accent3>
        <a:accent4>
          <a:srgbClr val="002A56"/>
        </a:accent4>
        <a:accent5>
          <a:srgbClr val="AEB4D0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_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399D72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ECCBC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_sample 3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1B9AD9"/>
        </a:accent1>
        <a:accent2>
          <a:srgbClr val="E4A04E"/>
        </a:accent2>
        <a:accent3>
          <a:srgbClr val="FFFFFF"/>
        </a:accent3>
        <a:accent4>
          <a:srgbClr val="174578"/>
        </a:accent4>
        <a:accent5>
          <a:srgbClr val="ABCAE9"/>
        </a:accent5>
        <a:accent6>
          <a:srgbClr val="CF9146"/>
        </a:accent6>
        <a:hlink>
          <a:srgbClr val="66CC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990000"/>
      </a:hlink>
      <a:folHlink>
        <a:srgbClr val="CC3300"/>
      </a:folHlink>
    </a:clrScheme>
    <a:fontScheme name="1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11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990000"/>
      </a:hlink>
      <a:folHlink>
        <a:srgbClr val="CC3300"/>
      </a:folHlink>
    </a:clrScheme>
    <a:fontScheme name="1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</TotalTime>
  <Words>4317</Words>
  <Application>Microsoft Office PowerPoint</Application>
  <PresentationFormat>全屏显示(4:3)</PresentationFormat>
  <Paragraphs>499</Paragraphs>
  <Slides>54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54</vt:i4>
      </vt:variant>
    </vt:vector>
  </HeadingPairs>
  <TitlesOfParts>
    <vt:vector size="75" baseType="lpstr">
      <vt:lpstr>仿宋</vt:lpstr>
      <vt:lpstr>黑体</vt:lpstr>
      <vt:lpstr>宋体</vt:lpstr>
      <vt:lpstr>微软雅黑</vt:lpstr>
      <vt:lpstr>幼圆</vt:lpstr>
      <vt:lpstr>Arial</vt:lpstr>
      <vt:lpstr>Calibri</vt:lpstr>
      <vt:lpstr>Symbol</vt:lpstr>
      <vt:lpstr>Times New Roman</vt:lpstr>
      <vt:lpstr>Verdana</vt:lpstr>
      <vt:lpstr>Wingdings</vt:lpstr>
      <vt:lpstr>自定义设计方案</vt:lpstr>
      <vt:lpstr>20_sample</vt:lpstr>
      <vt:lpstr>1_自定义设计方案</vt:lpstr>
      <vt:lpstr>21_sample</vt:lpstr>
      <vt:lpstr>11</vt:lpstr>
      <vt:lpstr>1_11</vt:lpstr>
      <vt:lpstr>Equation.3</vt:lpstr>
      <vt:lpstr>Microsoft Word 97 - 2003 Document</vt:lpstr>
      <vt:lpstr>PBrush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典型组合逻辑电路芯片</vt:lpstr>
      <vt:lpstr>典型组合逻辑电路芯片</vt:lpstr>
      <vt:lpstr>典型组合逻辑电路芯片</vt:lpstr>
      <vt:lpstr>典型组合逻辑电路芯片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</dc:creator>
  <cp:lastModifiedBy>JJ He</cp:lastModifiedBy>
  <cp:revision>1500</cp:revision>
  <dcterms:created xsi:type="dcterms:W3CDTF">2021-06-22T03:43:00Z</dcterms:created>
  <dcterms:modified xsi:type="dcterms:W3CDTF">2025-06-25T11:06:11Z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D654AB1198D648B6B6398AFEC6077BFF_12</vt:lpwstr>
  </property>
</Properties>
</file>