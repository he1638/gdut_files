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1041" r:id="rId2"/>
    <p:sldId id="1112" r:id="rId3"/>
    <p:sldId id="978" r:id="rId4"/>
    <p:sldId id="1113" r:id="rId5"/>
    <p:sldId id="1114" r:id="rId6"/>
    <p:sldId id="1115" r:id="rId7"/>
    <p:sldId id="1116" r:id="rId8"/>
    <p:sldId id="1117" r:id="rId9"/>
    <p:sldId id="1136" r:id="rId10"/>
    <p:sldId id="1130" r:id="rId11"/>
    <p:sldId id="976" r:id="rId12"/>
    <p:sldId id="792" r:id="rId13"/>
    <p:sldId id="1037" r:id="rId14"/>
    <p:sldId id="794" r:id="rId15"/>
    <p:sldId id="1035" r:id="rId16"/>
    <p:sldId id="1036" r:id="rId17"/>
    <p:sldId id="761" r:id="rId18"/>
    <p:sldId id="1218" r:id="rId19"/>
    <p:sldId id="1040" r:id="rId20"/>
    <p:sldId id="797" r:id="rId21"/>
    <p:sldId id="1042" r:id="rId22"/>
    <p:sldId id="998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2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e0240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65C"/>
    <a:srgbClr val="F2F2F2"/>
    <a:srgbClr val="27689A"/>
    <a:srgbClr val="31749E"/>
    <a:srgbClr val="145292"/>
    <a:srgbClr val="4B93A9"/>
    <a:srgbClr val="2B6D95"/>
    <a:srgbClr val="4890A8"/>
    <a:srgbClr val="215E83"/>
    <a:srgbClr val="327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47" autoAdjust="0"/>
    <p:restoredTop sz="95386" autoAdjust="0"/>
  </p:normalViewPr>
  <p:slideViewPr>
    <p:cSldViewPr>
      <p:cViewPr varScale="1">
        <p:scale>
          <a:sx n="85" d="100"/>
          <a:sy n="85" d="100"/>
        </p:scale>
        <p:origin x="207" y="48"/>
      </p:cViewPr>
      <p:guideLst>
        <p:guide orient="horz" pos="223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2972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0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116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020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9226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4000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015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726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4070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4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65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C0F3E8C-8BCD-4A8F-98D8-F8D96B87BD28}" type="datetimeFigureOut">
              <a:rPr lang="zh-CN" altLang="en-US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mtClean="0"/>
            </a:lvl1pPr>
          </a:lstStyle>
          <a:p>
            <a:pPr>
              <a:defRPr/>
            </a:pPr>
            <a:fld id="{4AAA05D2-2F82-4D1D-9A69-4CC173608B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21D-12A3-824C-80FA-D34F01E9177B}" type="datetimeFigureOut">
              <a:rPr kumimoji="1" lang="zh-CN" altLang="en-US" smtClean="0"/>
              <a:t>2025/6/24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CFEDB-804C-9249-87AB-F8162CDD6F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03445" y="356659"/>
            <a:ext cx="1692754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875"/>
            <a:r>
              <a: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+mn-lt"/>
              </a:rPr>
              <a:t>年度工作概述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356659"/>
            <a:ext cx="1007435" cy="384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03445" y="356659"/>
            <a:ext cx="1692754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875"/>
            <a:r>
              <a: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+mn-lt"/>
              </a:rPr>
              <a:t>工作完成情况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356659"/>
            <a:ext cx="1007435" cy="384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03445" y="356659"/>
            <a:ext cx="1692754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875"/>
            <a:r>
              <a: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+mn-lt"/>
              </a:rPr>
              <a:t>明年工作计划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356659"/>
            <a:ext cx="1007435" cy="384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03445" y="356659"/>
            <a:ext cx="1692754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875"/>
            <a:r>
              <a:rPr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+mn-lt"/>
              </a:rPr>
              <a:t>明年工作计划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356659"/>
            <a:ext cx="1007435" cy="384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îṩḻïḓé"/>
          <p:cNvSpPr/>
          <p:nvPr userDrawn="1"/>
        </p:nvSpPr>
        <p:spPr bwMode="auto">
          <a:xfrm>
            <a:off x="9476838" y="2108990"/>
            <a:ext cx="3383474" cy="3443965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87B8CC">
              <a:alpha val="22000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8" name="PA-矩形 18"/>
          <p:cNvSpPr/>
          <p:nvPr userDrawn="1">
            <p:custDataLst>
              <p:tags r:id="rId1"/>
            </p:custDataLst>
          </p:nvPr>
        </p:nvSpPr>
        <p:spPr>
          <a:xfrm>
            <a:off x="228298" y="1305045"/>
            <a:ext cx="1294050" cy="4455675"/>
          </a:xfrm>
          <a:prstGeom prst="rect">
            <a:avLst/>
          </a:prstGeom>
          <a:solidFill>
            <a:srgbClr val="29547B"/>
          </a:solidFill>
          <a:ln>
            <a:noFill/>
          </a:ln>
          <a:effectLst>
            <a:outerShdw blurRad="2667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023938" y="1036638"/>
            <a:ext cx="4070350" cy="48307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8174E-06 3.7037E-06 L 0.05380958 3.7037E-06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5D58E9F-40E7-45D6-A621-A0566FA10B68}" type="datetime10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22:27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charset="-122"/>
                <a:ea typeface="黑体" panose="02010609060101010101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1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1267">
            <a:extLst>
              <a:ext uri="{FF2B5EF4-FFF2-40B4-BE49-F238E27FC236}">
                <a16:creationId xmlns:a16="http://schemas.microsoft.com/office/drawing/2014/main" id="{DE217B4B-479E-53A8-95A2-5EB259C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1268">
            <a:extLst>
              <a:ext uri="{FF2B5EF4-FFF2-40B4-BE49-F238E27FC236}">
                <a16:creationId xmlns:a16="http://schemas.microsoft.com/office/drawing/2014/main" id="{F4727EB5-9CF1-B919-0100-6DDAA2C8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1269">
            <a:extLst>
              <a:ext uri="{FF2B5EF4-FFF2-40B4-BE49-F238E27FC236}">
                <a16:creationId xmlns:a16="http://schemas.microsoft.com/office/drawing/2014/main" id="{3301E52A-CA5B-0949-BD13-C9EEC993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CDCCD8-5A9F-4F67-965A-F112C4FE0B5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58989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1" r:id="rId11"/>
  </p:sldLayoutIdLst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2.wmf"/><Relationship Id="rId2" Type="http://schemas.openxmlformats.org/officeDocument/2006/relationships/image" Target="../media/image7.jpeg"/><Relationship Id="rId16" Type="http://schemas.openxmlformats.org/officeDocument/2006/relationships/image" Target="../media/image14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18.bin"/><Relationship Id="rId2" Type="http://schemas.openxmlformats.org/officeDocument/2006/relationships/image" Target="../media/image18.png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33.w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53.png"/><Relationship Id="rId4" Type="http://schemas.openxmlformats.org/officeDocument/2006/relationships/image" Target="../media/image3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360044" y="3101430"/>
            <a:ext cx="8636541" cy="101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600" b="1" cap="all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工作总结</a:t>
            </a:r>
            <a:endParaRPr lang="zh-CN" altLang="en-US" sz="4800" cap="all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3"/>
          <p:cNvSpPr txBox="1"/>
          <p:nvPr/>
        </p:nvSpPr>
        <p:spPr>
          <a:xfrm>
            <a:off x="3360044" y="4437329"/>
            <a:ext cx="4491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      汇报时间：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2022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月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-24130" y="1841645"/>
            <a:ext cx="12247245" cy="3155805"/>
            <a:chOff x="-70" y="2881"/>
            <a:chExt cx="19287" cy="4166"/>
          </a:xfrm>
        </p:grpSpPr>
        <p:pic>
          <p:nvPicPr>
            <p:cNvPr id="17" name="图片 16" descr="0 (4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5" y="2886"/>
              <a:ext cx="6191" cy="4161"/>
            </a:xfrm>
            <a:prstGeom prst="rect">
              <a:avLst/>
            </a:prstGeom>
          </p:spPr>
        </p:pic>
        <p:pic>
          <p:nvPicPr>
            <p:cNvPr id="16" name="图片 15" descr="0 (3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16" y="2881"/>
              <a:ext cx="6201" cy="4166"/>
            </a:xfrm>
            <a:prstGeom prst="rect">
              <a:avLst/>
            </a:prstGeom>
          </p:spPr>
        </p:pic>
        <p:pic>
          <p:nvPicPr>
            <p:cNvPr id="15" name="图片 14" descr="0 (2)"/>
            <p:cNvPicPr>
              <a:picLocks noChangeAspect="1"/>
            </p:cNvPicPr>
            <p:nvPr/>
          </p:nvPicPr>
          <p:blipFill>
            <a:blip r:embed="rId5"/>
            <a:srcRect t="24009" b="35845"/>
            <a:stretch>
              <a:fillRect/>
            </a:stretch>
          </p:blipFill>
          <p:spPr>
            <a:xfrm>
              <a:off x="-70" y="2885"/>
              <a:ext cx="6896" cy="4162"/>
            </a:xfrm>
            <a:prstGeom prst="rect">
              <a:avLst/>
            </a:prstGeom>
          </p:spPr>
        </p:pic>
      </p:grp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125095" y="1847850"/>
            <a:ext cx="12348210" cy="3162300"/>
          </a:xfrm>
          <a:prstGeom prst="rect">
            <a:avLst/>
          </a:prstGeom>
          <a:gradFill>
            <a:gsLst>
              <a:gs pos="0">
                <a:srgbClr val="0E4A90"/>
              </a:gs>
              <a:gs pos="100000">
                <a:srgbClr val="4B93A9">
                  <a:alpha val="54000"/>
                </a:srgbClr>
              </a:gs>
            </a:gsLst>
            <a:lin ang="2700000" scaled="0"/>
          </a:gradFill>
          <a:ln>
            <a:solidFill>
              <a:srgbClr val="000000">
                <a:alpha val="0"/>
              </a:srgbClr>
            </a:solidFill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buNone/>
            </a:pPr>
            <a:endParaRPr lang="zh-CN" altLang="en-US" cap="all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矩形 259"/>
          <p:cNvSpPr>
            <a:spLocks noChangeArrowheads="1"/>
          </p:cNvSpPr>
          <p:nvPr/>
        </p:nvSpPr>
        <p:spPr bwMode="auto">
          <a:xfrm>
            <a:off x="1415415" y="2708910"/>
            <a:ext cx="98031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algn="ctr" defTabSz="1219200" rtl="0" fontAlgn="auto" latinLnBrk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Calibri" panose="020F0502020204030204"/>
              </a:rPr>
              <a:t>第八章 模数与数模的转换</a:t>
            </a:r>
            <a:endParaRPr lang="zh-CN" altLang="en-US" sz="5400" b="1" spc="3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中文正文" charset="0"/>
              <a:ea typeface="+mn-ea"/>
              <a:cs typeface="+mn-ea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3"/>
          <p:cNvPicPr>
            <a:picLocks noChangeAspect="1"/>
          </p:cNvPicPr>
          <p:nvPr/>
        </p:nvPicPr>
        <p:blipFill>
          <a:blip r:embed="rId2"/>
          <a:srcRect t="44551" b="21479"/>
          <a:stretch>
            <a:fillRect/>
          </a:stretch>
        </p:blipFill>
        <p:spPr>
          <a:xfrm>
            <a:off x="-635" y="4923155"/>
            <a:ext cx="12192635" cy="1953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3091" y="4192339"/>
            <a:ext cx="12195091" cy="2693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模数转换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即是将模拟电量转换为数字量，</a:t>
            </a: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用数字码的形式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来表示输入的模拟电量。</a:t>
            </a:r>
            <a:endParaRPr lang="en-US" altLang="zh-CN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数模转换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是将数字量转换为模拟电量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电压或电流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。</a:t>
            </a:r>
            <a:endParaRPr lang="en-US" altLang="zh-CN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它们是一对互逆的变换关系。</a:t>
            </a:r>
            <a:endParaRPr lang="en-US" altLang="zh-CN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实现模数和数模转换的电路分别称为：</a:t>
            </a:r>
            <a:endParaRPr lang="en-US" altLang="zh-CN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808038" indent="-269875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模数转换器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nalog to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igital 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onverter,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ADC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或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A/D)</a:t>
            </a:r>
          </a:p>
          <a:p>
            <a:pPr marL="808038" indent="-269875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数模转换器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igital  to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nalog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onverter, 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cs typeface="+mn-ea"/>
                <a:sym typeface="+mn-lt"/>
              </a:rPr>
              <a:t>DAC</a:t>
            </a:r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或</a:t>
            </a:r>
            <a:r>
              <a:rPr lang="en-US" altLang="zh-CN" b="1" dirty="0">
                <a:solidFill>
                  <a:schemeClr val="tx1"/>
                </a:solidFill>
                <a:cs typeface="+mn-ea"/>
                <a:sym typeface="+mn-lt"/>
              </a:rPr>
              <a:t>D/A)</a:t>
            </a:r>
            <a:endParaRPr lang="zh-CN" altLang="en-US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b="1" dirty="0"/>
              <a:t>基本概念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A110DF-C24F-D37F-EEA2-524B2E699958}"/>
              </a:ext>
            </a:extLst>
          </p:cNvPr>
          <p:cNvSpPr txBox="1"/>
          <p:nvPr/>
        </p:nvSpPr>
        <p:spPr>
          <a:xfrm>
            <a:off x="-21878" y="1354066"/>
            <a:ext cx="12213878" cy="2169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indent="-4572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b="1">
                <a:solidFill>
                  <a:srgbClr val="C00000"/>
                </a:solidFill>
                <a:cs typeface="+mn-ea"/>
              </a:defRPr>
            </a:lvl1pPr>
          </a:lstStyle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</a:rPr>
              <a:t>在信息化时代，基本上所有的信息都要使用计算机去处理。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</a:rPr>
              <a:t>但计算机处理的都是数字信号，而大部分原始信号都是模拟信号。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</a:rPr>
              <a:t>因此，需要把</a:t>
            </a:r>
            <a:r>
              <a:rPr lang="zh-CN" altLang="en-US" dirty="0"/>
              <a:t>从传感器得到的模拟信号变成数字信号</a:t>
            </a:r>
            <a:r>
              <a:rPr lang="zh-CN" altLang="en-US" dirty="0">
                <a:solidFill>
                  <a:schemeClr val="tx1"/>
                </a:solidFill>
              </a:rPr>
              <a:t>，才能送给计算机处理。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</a:rPr>
              <a:t>同样的逆过程就是: 经过计算机处理的</a:t>
            </a:r>
            <a:r>
              <a:rPr lang="zh-CN" altLang="en-US" dirty="0"/>
              <a:t>数字信号需要转换成模拟信号</a:t>
            </a:r>
            <a:r>
              <a:rPr lang="zh-CN" altLang="en-US" dirty="0">
                <a:solidFill>
                  <a:schemeClr val="tx1"/>
                </a:solidFill>
              </a:rPr>
              <a:t>，送到执行器或者驱动电路去控制被控的对象。</a:t>
            </a:r>
          </a:p>
        </p:txBody>
      </p:sp>
    </p:spTree>
    <p:extLst>
      <p:ext uri="{BB962C8B-B14F-4D97-AF65-F5344CB8AC3E}">
        <p14:creationId xmlns:p14="http://schemas.microsoft.com/office/powerpoint/2010/main" val="345311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5159896" y="2603501"/>
            <a:ext cx="5999947" cy="4254499"/>
            <a:chOff x="2290762" y="0"/>
            <a:chExt cx="4552950" cy="5139929"/>
          </a:xfrm>
          <a:solidFill>
            <a:srgbClr val="4B93A9"/>
          </a:solidFill>
        </p:grpSpPr>
        <p:grpSp>
          <p:nvGrpSpPr>
            <p:cNvPr id="4" name="Group 2"/>
            <p:cNvGrpSpPr/>
            <p:nvPr/>
          </p:nvGrpSpPr>
          <p:grpSpPr>
            <a:xfrm>
              <a:off x="2290762" y="0"/>
              <a:ext cx="4552950" cy="5139929"/>
              <a:chOff x="3054350" y="3195638"/>
              <a:chExt cx="6070600" cy="3657600"/>
            </a:xfrm>
            <a:grpFill/>
          </p:grpSpPr>
          <p:sp>
            <p:nvSpPr>
              <p:cNvPr id="43" name="Freeform: Shape 41"/>
              <p:cNvSpPr/>
              <p:nvPr/>
            </p:nvSpPr>
            <p:spPr bwMode="auto">
              <a:xfrm>
                <a:off x="3054350" y="3195638"/>
                <a:ext cx="2782888" cy="3657600"/>
              </a:xfrm>
              <a:custGeom>
                <a:avLst/>
                <a:gdLst>
                  <a:gd name="T0" fmla="*/ 665 w 665"/>
                  <a:gd name="T1" fmla="*/ 0 h 873"/>
                  <a:gd name="T2" fmla="*/ 661 w 665"/>
                  <a:gd name="T3" fmla="*/ 0 h 873"/>
                  <a:gd name="T4" fmla="*/ 0 w 665"/>
                  <a:gd name="T5" fmla="*/ 873 h 873"/>
                  <a:gd name="T6" fmla="*/ 46 w 665"/>
                  <a:gd name="T7" fmla="*/ 873 h 873"/>
                  <a:gd name="T8" fmla="*/ 665 w 665"/>
                  <a:gd name="T9" fmla="*/ 0 h 8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5" h="873">
                    <a:moveTo>
                      <a:pt x="665" y="0"/>
                    </a:moveTo>
                    <a:cubicBezTo>
                      <a:pt x="664" y="0"/>
                      <a:pt x="662" y="0"/>
                      <a:pt x="661" y="0"/>
                    </a:cubicBezTo>
                    <a:cubicBezTo>
                      <a:pt x="558" y="291"/>
                      <a:pt x="338" y="582"/>
                      <a:pt x="0" y="873"/>
                    </a:cubicBezTo>
                    <a:cubicBezTo>
                      <a:pt x="15" y="873"/>
                      <a:pt x="31" y="873"/>
                      <a:pt x="46" y="873"/>
                    </a:cubicBezTo>
                    <a:cubicBezTo>
                      <a:pt x="363" y="582"/>
                      <a:pt x="569" y="291"/>
                      <a:pt x="6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Freeform: Shape 42"/>
              <p:cNvSpPr/>
              <p:nvPr/>
            </p:nvSpPr>
            <p:spPr bwMode="auto">
              <a:xfrm>
                <a:off x="3359150" y="3195638"/>
                <a:ext cx="5464175" cy="3657600"/>
              </a:xfrm>
              <a:custGeom>
                <a:avLst/>
                <a:gdLst>
                  <a:gd name="T0" fmla="*/ 711 w 1306"/>
                  <a:gd name="T1" fmla="*/ 0 h 873"/>
                  <a:gd name="T2" fmla="*/ 655 w 1306"/>
                  <a:gd name="T3" fmla="*/ 0 h 873"/>
                  <a:gd name="T4" fmla="*/ 656 w 1306"/>
                  <a:gd name="T5" fmla="*/ 21 h 873"/>
                  <a:gd name="T6" fmla="*/ 650 w 1306"/>
                  <a:gd name="T7" fmla="*/ 21 h 873"/>
                  <a:gd name="T8" fmla="*/ 650 w 1306"/>
                  <a:gd name="T9" fmla="*/ 0 h 873"/>
                  <a:gd name="T10" fmla="*/ 594 w 1306"/>
                  <a:gd name="T11" fmla="*/ 0 h 873"/>
                  <a:gd name="T12" fmla="*/ 0 w 1306"/>
                  <a:gd name="T13" fmla="*/ 873 h 873"/>
                  <a:gd name="T14" fmla="*/ 623 w 1306"/>
                  <a:gd name="T15" fmla="*/ 873 h 873"/>
                  <a:gd name="T16" fmla="*/ 624 w 1306"/>
                  <a:gd name="T17" fmla="*/ 849 h 873"/>
                  <a:gd name="T18" fmla="*/ 681 w 1306"/>
                  <a:gd name="T19" fmla="*/ 849 h 873"/>
                  <a:gd name="T20" fmla="*/ 682 w 1306"/>
                  <a:gd name="T21" fmla="*/ 873 h 873"/>
                  <a:gd name="T22" fmla="*/ 1306 w 1306"/>
                  <a:gd name="T23" fmla="*/ 873 h 873"/>
                  <a:gd name="T24" fmla="*/ 711 w 1306"/>
                  <a:gd name="T25" fmla="*/ 0 h 873"/>
                  <a:gd name="T26" fmla="*/ 649 w 1306"/>
                  <a:gd name="T27" fmla="*/ 70 h 873"/>
                  <a:gd name="T28" fmla="*/ 656 w 1306"/>
                  <a:gd name="T29" fmla="*/ 70 h 873"/>
                  <a:gd name="T30" fmla="*/ 657 w 1306"/>
                  <a:gd name="T31" fmla="*/ 119 h 873"/>
                  <a:gd name="T32" fmla="*/ 648 w 1306"/>
                  <a:gd name="T33" fmla="*/ 119 h 873"/>
                  <a:gd name="T34" fmla="*/ 649 w 1306"/>
                  <a:gd name="T35" fmla="*/ 70 h 873"/>
                  <a:gd name="T36" fmla="*/ 647 w 1306"/>
                  <a:gd name="T37" fmla="*/ 167 h 873"/>
                  <a:gd name="T38" fmla="*/ 658 w 1306"/>
                  <a:gd name="T39" fmla="*/ 167 h 873"/>
                  <a:gd name="T40" fmla="*/ 659 w 1306"/>
                  <a:gd name="T41" fmla="*/ 216 h 873"/>
                  <a:gd name="T42" fmla="*/ 646 w 1306"/>
                  <a:gd name="T43" fmla="*/ 216 h 873"/>
                  <a:gd name="T44" fmla="*/ 647 w 1306"/>
                  <a:gd name="T45" fmla="*/ 167 h 873"/>
                  <a:gd name="T46" fmla="*/ 645 w 1306"/>
                  <a:gd name="T47" fmla="*/ 265 h 873"/>
                  <a:gd name="T48" fmla="*/ 660 w 1306"/>
                  <a:gd name="T49" fmla="*/ 265 h 873"/>
                  <a:gd name="T50" fmla="*/ 662 w 1306"/>
                  <a:gd name="T51" fmla="*/ 313 h 873"/>
                  <a:gd name="T52" fmla="*/ 644 w 1306"/>
                  <a:gd name="T53" fmla="*/ 313 h 873"/>
                  <a:gd name="T54" fmla="*/ 645 w 1306"/>
                  <a:gd name="T55" fmla="*/ 265 h 873"/>
                  <a:gd name="T56" fmla="*/ 642 w 1306"/>
                  <a:gd name="T57" fmla="*/ 362 h 873"/>
                  <a:gd name="T58" fmla="*/ 663 w 1306"/>
                  <a:gd name="T59" fmla="*/ 362 h 873"/>
                  <a:gd name="T60" fmla="*/ 664 w 1306"/>
                  <a:gd name="T61" fmla="*/ 411 h 873"/>
                  <a:gd name="T62" fmla="*/ 641 w 1306"/>
                  <a:gd name="T63" fmla="*/ 411 h 873"/>
                  <a:gd name="T64" fmla="*/ 642 w 1306"/>
                  <a:gd name="T65" fmla="*/ 362 h 873"/>
                  <a:gd name="T66" fmla="*/ 639 w 1306"/>
                  <a:gd name="T67" fmla="*/ 460 h 873"/>
                  <a:gd name="T68" fmla="*/ 666 w 1306"/>
                  <a:gd name="T69" fmla="*/ 460 h 873"/>
                  <a:gd name="T70" fmla="*/ 668 w 1306"/>
                  <a:gd name="T71" fmla="*/ 508 h 873"/>
                  <a:gd name="T72" fmla="*/ 638 w 1306"/>
                  <a:gd name="T73" fmla="*/ 508 h 873"/>
                  <a:gd name="T74" fmla="*/ 639 w 1306"/>
                  <a:gd name="T75" fmla="*/ 460 h 873"/>
                  <a:gd name="T76" fmla="*/ 636 w 1306"/>
                  <a:gd name="T77" fmla="*/ 557 h 873"/>
                  <a:gd name="T78" fmla="*/ 669 w 1306"/>
                  <a:gd name="T79" fmla="*/ 557 h 873"/>
                  <a:gd name="T80" fmla="*/ 671 w 1306"/>
                  <a:gd name="T81" fmla="*/ 606 h 873"/>
                  <a:gd name="T82" fmla="*/ 634 w 1306"/>
                  <a:gd name="T83" fmla="*/ 606 h 873"/>
                  <a:gd name="T84" fmla="*/ 636 w 1306"/>
                  <a:gd name="T85" fmla="*/ 557 h 873"/>
                  <a:gd name="T86" fmla="*/ 632 w 1306"/>
                  <a:gd name="T87" fmla="*/ 654 h 873"/>
                  <a:gd name="T88" fmla="*/ 673 w 1306"/>
                  <a:gd name="T89" fmla="*/ 654 h 873"/>
                  <a:gd name="T90" fmla="*/ 675 w 1306"/>
                  <a:gd name="T91" fmla="*/ 703 h 873"/>
                  <a:gd name="T92" fmla="*/ 630 w 1306"/>
                  <a:gd name="T93" fmla="*/ 703 h 873"/>
                  <a:gd name="T94" fmla="*/ 632 w 1306"/>
                  <a:gd name="T95" fmla="*/ 654 h 873"/>
                  <a:gd name="T96" fmla="*/ 626 w 1306"/>
                  <a:gd name="T97" fmla="*/ 800 h 873"/>
                  <a:gd name="T98" fmla="*/ 628 w 1306"/>
                  <a:gd name="T99" fmla="*/ 752 h 873"/>
                  <a:gd name="T100" fmla="*/ 677 w 1306"/>
                  <a:gd name="T101" fmla="*/ 752 h 873"/>
                  <a:gd name="T102" fmla="*/ 679 w 1306"/>
                  <a:gd name="T103" fmla="*/ 800 h 873"/>
                  <a:gd name="T104" fmla="*/ 626 w 1306"/>
                  <a:gd name="T105" fmla="*/ 800 h 8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06" h="873">
                    <a:moveTo>
                      <a:pt x="711" y="0"/>
                    </a:moveTo>
                    <a:cubicBezTo>
                      <a:pt x="692" y="0"/>
                      <a:pt x="674" y="0"/>
                      <a:pt x="655" y="0"/>
                    </a:cubicBezTo>
                    <a:cubicBezTo>
                      <a:pt x="655" y="7"/>
                      <a:pt x="656" y="14"/>
                      <a:pt x="656" y="21"/>
                    </a:cubicBezTo>
                    <a:cubicBezTo>
                      <a:pt x="654" y="21"/>
                      <a:pt x="652" y="21"/>
                      <a:pt x="650" y="21"/>
                    </a:cubicBezTo>
                    <a:cubicBezTo>
                      <a:pt x="650" y="14"/>
                      <a:pt x="650" y="7"/>
                      <a:pt x="650" y="0"/>
                    </a:cubicBezTo>
                    <a:cubicBezTo>
                      <a:pt x="631" y="0"/>
                      <a:pt x="613" y="0"/>
                      <a:pt x="594" y="0"/>
                    </a:cubicBezTo>
                    <a:cubicBezTo>
                      <a:pt x="502" y="291"/>
                      <a:pt x="304" y="582"/>
                      <a:pt x="0" y="873"/>
                    </a:cubicBezTo>
                    <a:cubicBezTo>
                      <a:pt x="207" y="873"/>
                      <a:pt x="415" y="873"/>
                      <a:pt x="623" y="873"/>
                    </a:cubicBezTo>
                    <a:cubicBezTo>
                      <a:pt x="623" y="865"/>
                      <a:pt x="624" y="857"/>
                      <a:pt x="624" y="849"/>
                    </a:cubicBezTo>
                    <a:cubicBezTo>
                      <a:pt x="643" y="849"/>
                      <a:pt x="662" y="849"/>
                      <a:pt x="681" y="849"/>
                    </a:cubicBezTo>
                    <a:cubicBezTo>
                      <a:pt x="682" y="857"/>
                      <a:pt x="682" y="865"/>
                      <a:pt x="682" y="873"/>
                    </a:cubicBezTo>
                    <a:cubicBezTo>
                      <a:pt x="890" y="873"/>
                      <a:pt x="1098" y="873"/>
                      <a:pt x="1306" y="873"/>
                    </a:cubicBezTo>
                    <a:cubicBezTo>
                      <a:pt x="1002" y="582"/>
                      <a:pt x="803" y="291"/>
                      <a:pt x="711" y="0"/>
                    </a:cubicBezTo>
                    <a:close/>
                    <a:moveTo>
                      <a:pt x="649" y="70"/>
                    </a:moveTo>
                    <a:cubicBezTo>
                      <a:pt x="651" y="70"/>
                      <a:pt x="654" y="70"/>
                      <a:pt x="656" y="70"/>
                    </a:cubicBezTo>
                    <a:cubicBezTo>
                      <a:pt x="657" y="86"/>
                      <a:pt x="657" y="103"/>
                      <a:pt x="657" y="119"/>
                    </a:cubicBezTo>
                    <a:cubicBezTo>
                      <a:pt x="654" y="119"/>
                      <a:pt x="651" y="119"/>
                      <a:pt x="648" y="119"/>
                    </a:cubicBezTo>
                    <a:cubicBezTo>
                      <a:pt x="648" y="103"/>
                      <a:pt x="649" y="86"/>
                      <a:pt x="649" y="70"/>
                    </a:cubicBezTo>
                    <a:close/>
                    <a:moveTo>
                      <a:pt x="647" y="167"/>
                    </a:moveTo>
                    <a:cubicBezTo>
                      <a:pt x="651" y="167"/>
                      <a:pt x="655" y="167"/>
                      <a:pt x="658" y="167"/>
                    </a:cubicBezTo>
                    <a:cubicBezTo>
                      <a:pt x="659" y="184"/>
                      <a:pt x="659" y="200"/>
                      <a:pt x="659" y="216"/>
                    </a:cubicBezTo>
                    <a:cubicBezTo>
                      <a:pt x="655" y="216"/>
                      <a:pt x="650" y="216"/>
                      <a:pt x="646" y="216"/>
                    </a:cubicBezTo>
                    <a:cubicBezTo>
                      <a:pt x="646" y="200"/>
                      <a:pt x="647" y="184"/>
                      <a:pt x="647" y="167"/>
                    </a:cubicBezTo>
                    <a:close/>
                    <a:moveTo>
                      <a:pt x="645" y="265"/>
                    </a:moveTo>
                    <a:cubicBezTo>
                      <a:pt x="650" y="265"/>
                      <a:pt x="655" y="265"/>
                      <a:pt x="660" y="265"/>
                    </a:cubicBezTo>
                    <a:cubicBezTo>
                      <a:pt x="661" y="281"/>
                      <a:pt x="661" y="297"/>
                      <a:pt x="662" y="313"/>
                    </a:cubicBezTo>
                    <a:cubicBezTo>
                      <a:pt x="656" y="313"/>
                      <a:pt x="650" y="313"/>
                      <a:pt x="644" y="313"/>
                    </a:cubicBezTo>
                    <a:cubicBezTo>
                      <a:pt x="644" y="297"/>
                      <a:pt x="644" y="281"/>
                      <a:pt x="645" y="265"/>
                    </a:cubicBezTo>
                    <a:close/>
                    <a:moveTo>
                      <a:pt x="642" y="362"/>
                    </a:moveTo>
                    <a:cubicBezTo>
                      <a:pt x="649" y="362"/>
                      <a:pt x="656" y="362"/>
                      <a:pt x="663" y="362"/>
                    </a:cubicBezTo>
                    <a:cubicBezTo>
                      <a:pt x="664" y="378"/>
                      <a:pt x="664" y="395"/>
                      <a:pt x="664" y="411"/>
                    </a:cubicBezTo>
                    <a:cubicBezTo>
                      <a:pt x="657" y="411"/>
                      <a:pt x="649" y="411"/>
                      <a:pt x="641" y="411"/>
                    </a:cubicBezTo>
                    <a:cubicBezTo>
                      <a:pt x="641" y="395"/>
                      <a:pt x="642" y="378"/>
                      <a:pt x="642" y="362"/>
                    </a:cubicBezTo>
                    <a:close/>
                    <a:moveTo>
                      <a:pt x="639" y="460"/>
                    </a:moveTo>
                    <a:cubicBezTo>
                      <a:pt x="648" y="460"/>
                      <a:pt x="657" y="460"/>
                      <a:pt x="666" y="460"/>
                    </a:cubicBezTo>
                    <a:cubicBezTo>
                      <a:pt x="667" y="476"/>
                      <a:pt x="667" y="492"/>
                      <a:pt x="668" y="508"/>
                    </a:cubicBezTo>
                    <a:cubicBezTo>
                      <a:pt x="658" y="508"/>
                      <a:pt x="648" y="508"/>
                      <a:pt x="638" y="508"/>
                    </a:cubicBezTo>
                    <a:cubicBezTo>
                      <a:pt x="638" y="492"/>
                      <a:pt x="639" y="476"/>
                      <a:pt x="639" y="460"/>
                    </a:cubicBezTo>
                    <a:close/>
                    <a:moveTo>
                      <a:pt x="636" y="557"/>
                    </a:moveTo>
                    <a:cubicBezTo>
                      <a:pt x="647" y="557"/>
                      <a:pt x="658" y="557"/>
                      <a:pt x="669" y="557"/>
                    </a:cubicBezTo>
                    <a:cubicBezTo>
                      <a:pt x="670" y="573"/>
                      <a:pt x="670" y="589"/>
                      <a:pt x="671" y="606"/>
                    </a:cubicBezTo>
                    <a:cubicBezTo>
                      <a:pt x="659" y="606"/>
                      <a:pt x="646" y="606"/>
                      <a:pt x="634" y="606"/>
                    </a:cubicBezTo>
                    <a:cubicBezTo>
                      <a:pt x="635" y="589"/>
                      <a:pt x="635" y="573"/>
                      <a:pt x="636" y="557"/>
                    </a:cubicBezTo>
                    <a:close/>
                    <a:moveTo>
                      <a:pt x="632" y="654"/>
                    </a:moveTo>
                    <a:cubicBezTo>
                      <a:pt x="646" y="654"/>
                      <a:pt x="659" y="654"/>
                      <a:pt x="673" y="654"/>
                    </a:cubicBezTo>
                    <a:cubicBezTo>
                      <a:pt x="674" y="670"/>
                      <a:pt x="674" y="687"/>
                      <a:pt x="675" y="703"/>
                    </a:cubicBezTo>
                    <a:cubicBezTo>
                      <a:pt x="660" y="703"/>
                      <a:pt x="645" y="703"/>
                      <a:pt x="630" y="703"/>
                    </a:cubicBezTo>
                    <a:cubicBezTo>
                      <a:pt x="631" y="687"/>
                      <a:pt x="632" y="670"/>
                      <a:pt x="632" y="654"/>
                    </a:cubicBezTo>
                    <a:close/>
                    <a:moveTo>
                      <a:pt x="626" y="800"/>
                    </a:moveTo>
                    <a:cubicBezTo>
                      <a:pt x="627" y="784"/>
                      <a:pt x="628" y="768"/>
                      <a:pt x="628" y="752"/>
                    </a:cubicBezTo>
                    <a:cubicBezTo>
                      <a:pt x="645" y="752"/>
                      <a:pt x="661" y="752"/>
                      <a:pt x="677" y="752"/>
                    </a:cubicBezTo>
                    <a:cubicBezTo>
                      <a:pt x="678" y="768"/>
                      <a:pt x="678" y="784"/>
                      <a:pt x="679" y="800"/>
                    </a:cubicBezTo>
                    <a:cubicBezTo>
                      <a:pt x="661" y="800"/>
                      <a:pt x="644" y="800"/>
                      <a:pt x="626" y="8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Freeform: Shape 43"/>
              <p:cNvSpPr/>
              <p:nvPr/>
            </p:nvSpPr>
            <p:spPr bwMode="auto">
              <a:xfrm>
                <a:off x="6343650" y="3195638"/>
                <a:ext cx="2781300" cy="3657600"/>
              </a:xfrm>
              <a:custGeom>
                <a:avLst/>
                <a:gdLst>
                  <a:gd name="T0" fmla="*/ 4 w 665"/>
                  <a:gd name="T1" fmla="*/ 0 h 873"/>
                  <a:gd name="T2" fmla="*/ 0 w 665"/>
                  <a:gd name="T3" fmla="*/ 0 h 873"/>
                  <a:gd name="T4" fmla="*/ 619 w 665"/>
                  <a:gd name="T5" fmla="*/ 873 h 873"/>
                  <a:gd name="T6" fmla="*/ 665 w 665"/>
                  <a:gd name="T7" fmla="*/ 873 h 873"/>
                  <a:gd name="T8" fmla="*/ 4 w 665"/>
                  <a:gd name="T9" fmla="*/ 0 h 8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5" h="873">
                    <a:moveTo>
                      <a:pt x="4" y="0"/>
                    </a:moveTo>
                    <a:cubicBezTo>
                      <a:pt x="3" y="0"/>
                      <a:pt x="2" y="0"/>
                      <a:pt x="0" y="0"/>
                    </a:cubicBezTo>
                    <a:cubicBezTo>
                      <a:pt x="97" y="291"/>
                      <a:pt x="303" y="582"/>
                      <a:pt x="619" y="873"/>
                    </a:cubicBezTo>
                    <a:cubicBezTo>
                      <a:pt x="635" y="873"/>
                      <a:pt x="650" y="873"/>
                      <a:pt x="665" y="873"/>
                    </a:cubicBezTo>
                    <a:cubicBezTo>
                      <a:pt x="328" y="582"/>
                      <a:pt x="107" y="29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" name="Freeform: Shape 3"/>
            <p:cNvSpPr/>
            <p:nvPr/>
          </p:nvSpPr>
          <p:spPr bwMode="auto">
            <a:xfrm>
              <a:off x="3475893" y="2282091"/>
              <a:ext cx="815144" cy="1968575"/>
            </a:xfrm>
            <a:custGeom>
              <a:avLst/>
              <a:gdLst>
                <a:gd name="T0" fmla="*/ 76 w 76"/>
                <a:gd name="T1" fmla="*/ 80 h 183"/>
                <a:gd name="T2" fmla="*/ 64 w 76"/>
                <a:gd name="T3" fmla="*/ 0 h 183"/>
                <a:gd name="T4" fmla="*/ 17 w 76"/>
                <a:gd name="T5" fmla="*/ 80 h 183"/>
                <a:gd name="T6" fmla="*/ 33 w 76"/>
                <a:gd name="T7" fmla="*/ 80 h 183"/>
                <a:gd name="T8" fmla="*/ 0 w 76"/>
                <a:gd name="T9" fmla="*/ 183 h 183"/>
                <a:gd name="T10" fmla="*/ 38 w 76"/>
                <a:gd name="T11" fmla="*/ 183 h 183"/>
                <a:gd name="T12" fmla="*/ 60 w 76"/>
                <a:gd name="T13" fmla="*/ 80 h 183"/>
                <a:gd name="T14" fmla="*/ 76 w 76"/>
                <a:gd name="T15" fmla="*/ 8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183">
                  <a:moveTo>
                    <a:pt x="76" y="80"/>
                  </a:moveTo>
                  <a:cubicBezTo>
                    <a:pt x="70" y="53"/>
                    <a:pt x="66" y="26"/>
                    <a:pt x="64" y="0"/>
                  </a:cubicBezTo>
                  <a:cubicBezTo>
                    <a:pt x="52" y="26"/>
                    <a:pt x="36" y="53"/>
                    <a:pt x="17" y="80"/>
                  </a:cubicBezTo>
                  <a:cubicBezTo>
                    <a:pt x="22" y="80"/>
                    <a:pt x="27" y="80"/>
                    <a:pt x="33" y="80"/>
                  </a:cubicBezTo>
                  <a:cubicBezTo>
                    <a:pt x="22" y="114"/>
                    <a:pt x="12" y="149"/>
                    <a:pt x="0" y="183"/>
                  </a:cubicBezTo>
                  <a:cubicBezTo>
                    <a:pt x="13" y="183"/>
                    <a:pt x="25" y="183"/>
                    <a:pt x="38" y="183"/>
                  </a:cubicBezTo>
                  <a:cubicBezTo>
                    <a:pt x="46" y="149"/>
                    <a:pt x="53" y="114"/>
                    <a:pt x="60" y="80"/>
                  </a:cubicBezTo>
                  <a:cubicBezTo>
                    <a:pt x="65" y="80"/>
                    <a:pt x="71" y="80"/>
                    <a:pt x="76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sz="2135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: Shape 4"/>
            <p:cNvSpPr/>
            <p:nvPr/>
          </p:nvSpPr>
          <p:spPr bwMode="auto">
            <a:xfrm>
              <a:off x="4894322" y="2385608"/>
              <a:ext cx="721474" cy="1914682"/>
            </a:xfrm>
            <a:custGeom>
              <a:avLst/>
              <a:gdLst>
                <a:gd name="T0" fmla="*/ 5 w 69"/>
                <a:gd name="T1" fmla="*/ 103 h 183"/>
                <a:gd name="T2" fmla="*/ 61 w 69"/>
                <a:gd name="T3" fmla="*/ 183 h 183"/>
                <a:gd name="T4" fmla="*/ 69 w 69"/>
                <a:gd name="T5" fmla="*/ 103 h 183"/>
                <a:gd name="T6" fmla="*/ 52 w 69"/>
                <a:gd name="T7" fmla="*/ 103 h 183"/>
                <a:gd name="T8" fmla="*/ 20 w 69"/>
                <a:gd name="T9" fmla="*/ 0 h 183"/>
                <a:gd name="T10" fmla="*/ 0 w 69"/>
                <a:gd name="T11" fmla="*/ 0 h 183"/>
                <a:gd name="T12" fmla="*/ 22 w 69"/>
                <a:gd name="T13" fmla="*/ 103 h 183"/>
                <a:gd name="T14" fmla="*/ 5 w 69"/>
                <a:gd name="T15" fmla="*/ 10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183">
                  <a:moveTo>
                    <a:pt x="5" y="103"/>
                  </a:moveTo>
                  <a:cubicBezTo>
                    <a:pt x="20" y="130"/>
                    <a:pt x="39" y="156"/>
                    <a:pt x="61" y="183"/>
                  </a:cubicBezTo>
                  <a:cubicBezTo>
                    <a:pt x="66" y="156"/>
                    <a:pt x="69" y="130"/>
                    <a:pt x="69" y="103"/>
                  </a:cubicBezTo>
                  <a:cubicBezTo>
                    <a:pt x="63" y="103"/>
                    <a:pt x="58" y="103"/>
                    <a:pt x="52" y="103"/>
                  </a:cubicBezTo>
                  <a:cubicBezTo>
                    <a:pt x="40" y="69"/>
                    <a:pt x="30" y="34"/>
                    <a:pt x="20" y="0"/>
                  </a:cubicBezTo>
                  <a:cubicBezTo>
                    <a:pt x="13" y="0"/>
                    <a:pt x="7" y="0"/>
                    <a:pt x="0" y="0"/>
                  </a:cubicBezTo>
                  <a:cubicBezTo>
                    <a:pt x="7" y="34"/>
                    <a:pt x="14" y="69"/>
                    <a:pt x="22" y="103"/>
                  </a:cubicBezTo>
                  <a:cubicBezTo>
                    <a:pt x="16" y="103"/>
                    <a:pt x="10" y="103"/>
                    <a:pt x="5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sz="2135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329888" y="3751677"/>
            <a:ext cx="763588" cy="2003425"/>
            <a:chOff x="2415778" y="2802732"/>
            <a:chExt cx="572691" cy="1502569"/>
          </a:xfrm>
        </p:grpSpPr>
        <p:grpSp>
          <p:nvGrpSpPr>
            <p:cNvPr id="7" name="Group 5"/>
            <p:cNvGrpSpPr/>
            <p:nvPr/>
          </p:nvGrpSpPr>
          <p:grpSpPr>
            <a:xfrm>
              <a:off x="2415778" y="2802732"/>
              <a:ext cx="572691" cy="1502569"/>
              <a:chOff x="3246438" y="3736976"/>
              <a:chExt cx="763588" cy="2003425"/>
            </a:xfr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grpSpPr>
          <p:sp>
            <p:nvSpPr>
              <p:cNvPr id="41" name="Rectangle 39"/>
              <p:cNvSpPr/>
              <p:nvPr/>
            </p:nvSpPr>
            <p:spPr bwMode="auto">
              <a:xfrm>
                <a:off x="3586957" y="4432301"/>
                <a:ext cx="82550" cy="1308100"/>
              </a:xfrm>
              <a:prstGeom prst="rect">
                <a:avLst/>
              </a:prstGeom>
              <a:solidFill>
                <a:srgbClr val="E6A65C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Oval 40"/>
              <p:cNvSpPr/>
              <p:nvPr/>
            </p:nvSpPr>
            <p:spPr bwMode="auto">
              <a:xfrm>
                <a:off x="3246438" y="3736976"/>
                <a:ext cx="763588" cy="760413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1">
                    <a:lumMod val="75000"/>
                  </a:schemeClr>
                </a:solidFill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Group 17"/>
            <p:cNvGrpSpPr/>
            <p:nvPr/>
          </p:nvGrpSpPr>
          <p:grpSpPr>
            <a:xfrm>
              <a:off x="2581454" y="2922999"/>
              <a:ext cx="332015" cy="299669"/>
              <a:chOff x="3355975" y="954088"/>
              <a:chExt cx="733426" cy="661987"/>
            </a:xfrm>
            <a:solidFill>
              <a:schemeClr val="bg1"/>
            </a:solidFill>
          </p:grpSpPr>
          <p:sp>
            <p:nvSpPr>
              <p:cNvPr id="29" name="Rectangle 27"/>
              <p:cNvSpPr/>
              <p:nvPr/>
            </p:nvSpPr>
            <p:spPr bwMode="auto">
              <a:xfrm>
                <a:off x="3476625" y="1155700"/>
                <a:ext cx="293688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Rectangle 28"/>
              <p:cNvSpPr/>
              <p:nvPr/>
            </p:nvSpPr>
            <p:spPr bwMode="auto">
              <a:xfrm>
                <a:off x="3476625" y="1238250"/>
                <a:ext cx="236538" cy="206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Rectangle 29"/>
              <p:cNvSpPr/>
              <p:nvPr/>
            </p:nvSpPr>
            <p:spPr bwMode="auto">
              <a:xfrm>
                <a:off x="3476625" y="1325563"/>
                <a:ext cx="173038" cy="206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2" name="Group 30"/>
              <p:cNvGrpSpPr/>
              <p:nvPr/>
            </p:nvGrpSpPr>
            <p:grpSpPr>
              <a:xfrm>
                <a:off x="3355975" y="954088"/>
                <a:ext cx="733426" cy="661987"/>
                <a:chOff x="3355975" y="954088"/>
                <a:chExt cx="733426" cy="661987"/>
              </a:xfrm>
              <a:grpFill/>
            </p:grpSpPr>
            <p:sp>
              <p:nvSpPr>
                <p:cNvPr id="33" name="Freeform: Shape 31"/>
                <p:cNvSpPr/>
                <p:nvPr/>
              </p:nvSpPr>
              <p:spPr bwMode="auto">
                <a:xfrm>
                  <a:off x="3355975" y="954088"/>
                  <a:ext cx="534988" cy="661987"/>
                </a:xfrm>
                <a:custGeom>
                  <a:avLst/>
                  <a:gdLst>
                    <a:gd name="T0" fmla="*/ 312 w 337"/>
                    <a:gd name="T1" fmla="*/ 392 h 417"/>
                    <a:gd name="T2" fmla="*/ 25 w 337"/>
                    <a:gd name="T3" fmla="*/ 392 h 417"/>
                    <a:gd name="T4" fmla="*/ 25 w 337"/>
                    <a:gd name="T5" fmla="*/ 101 h 417"/>
                    <a:gd name="T6" fmla="*/ 100 w 337"/>
                    <a:gd name="T7" fmla="*/ 101 h 417"/>
                    <a:gd name="T8" fmla="*/ 100 w 337"/>
                    <a:gd name="T9" fmla="*/ 26 h 417"/>
                    <a:gd name="T10" fmla="*/ 312 w 337"/>
                    <a:gd name="T11" fmla="*/ 26 h 417"/>
                    <a:gd name="T12" fmla="*/ 312 w 337"/>
                    <a:gd name="T13" fmla="*/ 134 h 417"/>
                    <a:gd name="T14" fmla="*/ 337 w 337"/>
                    <a:gd name="T15" fmla="*/ 108 h 417"/>
                    <a:gd name="T16" fmla="*/ 337 w 337"/>
                    <a:gd name="T17" fmla="*/ 0 h 417"/>
                    <a:gd name="T18" fmla="*/ 89 w 337"/>
                    <a:gd name="T19" fmla="*/ 0 h 417"/>
                    <a:gd name="T20" fmla="*/ 0 w 337"/>
                    <a:gd name="T21" fmla="*/ 89 h 417"/>
                    <a:gd name="T22" fmla="*/ 0 w 337"/>
                    <a:gd name="T23" fmla="*/ 417 h 417"/>
                    <a:gd name="T24" fmla="*/ 337 w 337"/>
                    <a:gd name="T25" fmla="*/ 417 h 417"/>
                    <a:gd name="T26" fmla="*/ 337 w 337"/>
                    <a:gd name="T27" fmla="*/ 286 h 417"/>
                    <a:gd name="T28" fmla="*/ 312 w 337"/>
                    <a:gd name="T29" fmla="*/ 312 h 417"/>
                    <a:gd name="T30" fmla="*/ 312 w 337"/>
                    <a:gd name="T31" fmla="*/ 392 h 417"/>
                    <a:gd name="T32" fmla="*/ 37 w 337"/>
                    <a:gd name="T33" fmla="*/ 88 h 417"/>
                    <a:gd name="T34" fmla="*/ 88 w 337"/>
                    <a:gd name="T35" fmla="*/ 37 h 417"/>
                    <a:gd name="T36" fmla="*/ 88 w 337"/>
                    <a:gd name="T37" fmla="*/ 88 h 417"/>
                    <a:gd name="T38" fmla="*/ 37 w 337"/>
                    <a:gd name="T39" fmla="*/ 88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37" h="417">
                      <a:moveTo>
                        <a:pt x="312" y="392"/>
                      </a:moveTo>
                      <a:lnTo>
                        <a:pt x="25" y="392"/>
                      </a:lnTo>
                      <a:lnTo>
                        <a:pt x="25" y="101"/>
                      </a:lnTo>
                      <a:lnTo>
                        <a:pt x="100" y="101"/>
                      </a:lnTo>
                      <a:lnTo>
                        <a:pt x="100" y="26"/>
                      </a:lnTo>
                      <a:lnTo>
                        <a:pt x="312" y="26"/>
                      </a:lnTo>
                      <a:lnTo>
                        <a:pt x="312" y="134"/>
                      </a:lnTo>
                      <a:lnTo>
                        <a:pt x="337" y="108"/>
                      </a:lnTo>
                      <a:lnTo>
                        <a:pt x="337" y="0"/>
                      </a:lnTo>
                      <a:lnTo>
                        <a:pt x="89" y="0"/>
                      </a:lnTo>
                      <a:lnTo>
                        <a:pt x="0" y="89"/>
                      </a:lnTo>
                      <a:lnTo>
                        <a:pt x="0" y="417"/>
                      </a:lnTo>
                      <a:lnTo>
                        <a:pt x="337" y="417"/>
                      </a:lnTo>
                      <a:lnTo>
                        <a:pt x="337" y="286"/>
                      </a:lnTo>
                      <a:lnTo>
                        <a:pt x="312" y="312"/>
                      </a:lnTo>
                      <a:lnTo>
                        <a:pt x="312" y="392"/>
                      </a:lnTo>
                      <a:close/>
                      <a:moveTo>
                        <a:pt x="37" y="88"/>
                      </a:moveTo>
                      <a:lnTo>
                        <a:pt x="88" y="37"/>
                      </a:lnTo>
                      <a:lnTo>
                        <a:pt x="88" y="88"/>
                      </a:lnTo>
                      <a:lnTo>
                        <a:pt x="37" y="8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: Shape 32"/>
                <p:cNvSpPr/>
                <p:nvPr/>
              </p:nvSpPr>
              <p:spPr bwMode="auto">
                <a:xfrm>
                  <a:off x="3659188" y="1069975"/>
                  <a:ext cx="430213" cy="430212"/>
                </a:xfrm>
                <a:custGeom>
                  <a:avLst/>
                  <a:gdLst>
                    <a:gd name="T0" fmla="*/ 146 w 271"/>
                    <a:gd name="T1" fmla="*/ 35 h 271"/>
                    <a:gd name="T2" fmla="*/ 121 w 271"/>
                    <a:gd name="T3" fmla="*/ 61 h 271"/>
                    <a:gd name="T4" fmla="*/ 26 w 271"/>
                    <a:gd name="T5" fmla="*/ 156 h 271"/>
                    <a:gd name="T6" fmla="*/ 0 w 271"/>
                    <a:gd name="T7" fmla="*/ 271 h 271"/>
                    <a:gd name="T8" fmla="*/ 115 w 271"/>
                    <a:gd name="T9" fmla="*/ 245 h 271"/>
                    <a:gd name="T10" fmla="*/ 121 w 271"/>
                    <a:gd name="T11" fmla="*/ 239 h 271"/>
                    <a:gd name="T12" fmla="*/ 146 w 271"/>
                    <a:gd name="T13" fmla="*/ 213 h 271"/>
                    <a:gd name="T14" fmla="*/ 271 w 271"/>
                    <a:gd name="T15" fmla="*/ 89 h 271"/>
                    <a:gd name="T16" fmla="*/ 182 w 271"/>
                    <a:gd name="T17" fmla="*/ 0 h 271"/>
                    <a:gd name="T18" fmla="*/ 146 w 271"/>
                    <a:gd name="T19" fmla="*/ 35 h 271"/>
                    <a:gd name="T20" fmla="*/ 226 w 271"/>
                    <a:gd name="T21" fmla="*/ 68 h 271"/>
                    <a:gd name="T22" fmla="*/ 87 w 271"/>
                    <a:gd name="T23" fmla="*/ 207 h 271"/>
                    <a:gd name="T24" fmla="*/ 67 w 271"/>
                    <a:gd name="T25" fmla="*/ 187 h 271"/>
                    <a:gd name="T26" fmla="*/ 206 w 271"/>
                    <a:gd name="T27" fmla="*/ 48 h 271"/>
                    <a:gd name="T28" fmla="*/ 226 w 271"/>
                    <a:gd name="T29" fmla="*/ 68 h 271"/>
                    <a:gd name="T30" fmla="*/ 61 w 271"/>
                    <a:gd name="T31" fmla="*/ 181 h 271"/>
                    <a:gd name="T32" fmla="*/ 43 w 271"/>
                    <a:gd name="T33" fmla="*/ 163 h 271"/>
                    <a:gd name="T34" fmla="*/ 182 w 271"/>
                    <a:gd name="T35" fmla="*/ 24 h 271"/>
                    <a:gd name="T36" fmla="*/ 199 w 271"/>
                    <a:gd name="T37" fmla="*/ 42 h 271"/>
                    <a:gd name="T38" fmla="*/ 61 w 271"/>
                    <a:gd name="T39" fmla="*/ 181 h 271"/>
                    <a:gd name="T40" fmla="*/ 55 w 271"/>
                    <a:gd name="T41" fmla="*/ 187 h 271"/>
                    <a:gd name="T42" fmla="*/ 55 w 271"/>
                    <a:gd name="T43" fmla="*/ 187 h 271"/>
                    <a:gd name="T44" fmla="*/ 87 w 271"/>
                    <a:gd name="T45" fmla="*/ 219 h 271"/>
                    <a:gd name="T46" fmla="*/ 87 w 271"/>
                    <a:gd name="T47" fmla="*/ 219 h 271"/>
                    <a:gd name="T48" fmla="*/ 98 w 271"/>
                    <a:gd name="T49" fmla="*/ 230 h 271"/>
                    <a:gd name="T50" fmla="*/ 56 w 271"/>
                    <a:gd name="T51" fmla="*/ 240 h 271"/>
                    <a:gd name="T52" fmla="*/ 30 w 271"/>
                    <a:gd name="T53" fmla="*/ 215 h 271"/>
                    <a:gd name="T54" fmla="*/ 40 w 271"/>
                    <a:gd name="T55" fmla="*/ 172 h 271"/>
                    <a:gd name="T56" fmla="*/ 55 w 271"/>
                    <a:gd name="T57" fmla="*/ 187 h 271"/>
                    <a:gd name="T58" fmla="*/ 107 w 271"/>
                    <a:gd name="T59" fmla="*/ 227 h 271"/>
                    <a:gd name="T60" fmla="*/ 93 w 271"/>
                    <a:gd name="T61" fmla="*/ 213 h 271"/>
                    <a:gd name="T62" fmla="*/ 232 w 271"/>
                    <a:gd name="T63" fmla="*/ 75 h 271"/>
                    <a:gd name="T64" fmla="*/ 246 w 271"/>
                    <a:gd name="T65" fmla="*/ 89 h 271"/>
                    <a:gd name="T66" fmla="*/ 107 w 271"/>
                    <a:gd name="T67" fmla="*/ 227 h 2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71" h="271">
                      <a:moveTo>
                        <a:pt x="146" y="35"/>
                      </a:moveTo>
                      <a:lnTo>
                        <a:pt x="121" y="61"/>
                      </a:lnTo>
                      <a:lnTo>
                        <a:pt x="26" y="156"/>
                      </a:lnTo>
                      <a:lnTo>
                        <a:pt x="0" y="271"/>
                      </a:lnTo>
                      <a:lnTo>
                        <a:pt x="115" y="245"/>
                      </a:lnTo>
                      <a:lnTo>
                        <a:pt x="121" y="239"/>
                      </a:lnTo>
                      <a:lnTo>
                        <a:pt x="146" y="213"/>
                      </a:lnTo>
                      <a:lnTo>
                        <a:pt x="271" y="89"/>
                      </a:lnTo>
                      <a:lnTo>
                        <a:pt x="182" y="0"/>
                      </a:lnTo>
                      <a:lnTo>
                        <a:pt x="146" y="35"/>
                      </a:lnTo>
                      <a:close/>
                      <a:moveTo>
                        <a:pt x="226" y="68"/>
                      </a:moveTo>
                      <a:lnTo>
                        <a:pt x="87" y="207"/>
                      </a:lnTo>
                      <a:lnTo>
                        <a:pt x="67" y="187"/>
                      </a:lnTo>
                      <a:lnTo>
                        <a:pt x="206" y="48"/>
                      </a:lnTo>
                      <a:lnTo>
                        <a:pt x="226" y="68"/>
                      </a:lnTo>
                      <a:close/>
                      <a:moveTo>
                        <a:pt x="61" y="181"/>
                      </a:moveTo>
                      <a:lnTo>
                        <a:pt x="43" y="163"/>
                      </a:lnTo>
                      <a:lnTo>
                        <a:pt x="182" y="24"/>
                      </a:lnTo>
                      <a:lnTo>
                        <a:pt x="199" y="42"/>
                      </a:lnTo>
                      <a:lnTo>
                        <a:pt x="61" y="181"/>
                      </a:lnTo>
                      <a:close/>
                      <a:moveTo>
                        <a:pt x="55" y="187"/>
                      </a:moveTo>
                      <a:lnTo>
                        <a:pt x="55" y="187"/>
                      </a:lnTo>
                      <a:lnTo>
                        <a:pt x="87" y="219"/>
                      </a:lnTo>
                      <a:lnTo>
                        <a:pt x="87" y="219"/>
                      </a:lnTo>
                      <a:lnTo>
                        <a:pt x="98" y="230"/>
                      </a:lnTo>
                      <a:lnTo>
                        <a:pt x="56" y="240"/>
                      </a:lnTo>
                      <a:lnTo>
                        <a:pt x="30" y="215"/>
                      </a:lnTo>
                      <a:lnTo>
                        <a:pt x="40" y="172"/>
                      </a:lnTo>
                      <a:lnTo>
                        <a:pt x="55" y="187"/>
                      </a:lnTo>
                      <a:close/>
                      <a:moveTo>
                        <a:pt x="107" y="227"/>
                      </a:moveTo>
                      <a:lnTo>
                        <a:pt x="93" y="213"/>
                      </a:lnTo>
                      <a:lnTo>
                        <a:pt x="232" y="75"/>
                      </a:lnTo>
                      <a:lnTo>
                        <a:pt x="246" y="89"/>
                      </a:lnTo>
                      <a:lnTo>
                        <a:pt x="107" y="22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48" name="组合 47"/>
          <p:cNvGrpSpPr/>
          <p:nvPr/>
        </p:nvGrpSpPr>
        <p:grpSpPr>
          <a:xfrm>
            <a:off x="6830866" y="1982640"/>
            <a:ext cx="631823" cy="1657721"/>
            <a:chOff x="3276587" y="1223685"/>
            <a:chExt cx="473867" cy="1243291"/>
          </a:xfrm>
        </p:grpSpPr>
        <p:grpSp>
          <p:nvGrpSpPr>
            <p:cNvPr id="8" name="Group 6"/>
            <p:cNvGrpSpPr/>
            <p:nvPr/>
          </p:nvGrpSpPr>
          <p:grpSpPr>
            <a:xfrm>
              <a:off x="3276587" y="1223685"/>
              <a:ext cx="473867" cy="1243291"/>
              <a:chOff x="3246438" y="3736976"/>
              <a:chExt cx="763588" cy="2003425"/>
            </a:xfr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grpSpPr>
          <p:sp>
            <p:nvSpPr>
              <p:cNvPr id="39" name="Rectangle 37"/>
              <p:cNvSpPr/>
              <p:nvPr/>
            </p:nvSpPr>
            <p:spPr bwMode="auto">
              <a:xfrm>
                <a:off x="3586957" y="4432301"/>
                <a:ext cx="82550" cy="1308100"/>
              </a:xfrm>
              <a:prstGeom prst="rect">
                <a:avLst/>
              </a:prstGeom>
              <a:solidFill>
                <a:srgbClr val="2B6D9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Oval 38"/>
              <p:cNvSpPr/>
              <p:nvPr/>
            </p:nvSpPr>
            <p:spPr bwMode="auto">
              <a:xfrm>
                <a:off x="3246438" y="3736976"/>
                <a:ext cx="763588" cy="760413"/>
              </a:xfrm>
              <a:prstGeom prst="ellipse">
                <a:avLst/>
              </a:prstGeom>
              <a:solidFill>
                <a:srgbClr val="E6A65C"/>
              </a:solidFill>
              <a:ln w="38100">
                <a:solidFill>
                  <a:srgbClr val="4B93A9"/>
                </a:solidFill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Group 18"/>
            <p:cNvGrpSpPr/>
            <p:nvPr/>
          </p:nvGrpSpPr>
          <p:grpSpPr>
            <a:xfrm>
              <a:off x="3369547" y="1311511"/>
              <a:ext cx="296297" cy="279907"/>
              <a:chOff x="10121900" y="790575"/>
              <a:chExt cx="746125" cy="704851"/>
            </a:xfrm>
            <a:solidFill>
              <a:schemeClr val="bg1"/>
            </a:solidFill>
          </p:grpSpPr>
          <p:sp>
            <p:nvSpPr>
              <p:cNvPr id="27" name="Freeform: Shape 25"/>
              <p:cNvSpPr/>
              <p:nvPr/>
            </p:nvSpPr>
            <p:spPr bwMode="auto">
              <a:xfrm>
                <a:off x="10121900" y="947738"/>
                <a:ext cx="746125" cy="547688"/>
              </a:xfrm>
              <a:custGeom>
                <a:avLst/>
                <a:gdLst>
                  <a:gd name="T0" fmla="*/ 167 w 196"/>
                  <a:gd name="T1" fmla="*/ 35 h 144"/>
                  <a:gd name="T2" fmla="*/ 153 w 196"/>
                  <a:gd name="T3" fmla="*/ 34 h 144"/>
                  <a:gd name="T4" fmla="*/ 136 w 196"/>
                  <a:gd name="T5" fmla="*/ 28 h 144"/>
                  <a:gd name="T6" fmla="*/ 172 w 196"/>
                  <a:gd name="T7" fmla="*/ 28 h 144"/>
                  <a:gd name="T8" fmla="*/ 167 w 196"/>
                  <a:gd name="T9" fmla="*/ 18 h 144"/>
                  <a:gd name="T10" fmla="*/ 167 w 196"/>
                  <a:gd name="T11" fmla="*/ 11 h 144"/>
                  <a:gd name="T12" fmla="*/ 151 w 196"/>
                  <a:gd name="T13" fmla="*/ 8 h 144"/>
                  <a:gd name="T14" fmla="*/ 136 w 196"/>
                  <a:gd name="T15" fmla="*/ 6 h 144"/>
                  <a:gd name="T16" fmla="*/ 122 w 196"/>
                  <a:gd name="T17" fmla="*/ 7 h 144"/>
                  <a:gd name="T18" fmla="*/ 113 w 196"/>
                  <a:gd name="T19" fmla="*/ 10 h 144"/>
                  <a:gd name="T20" fmla="*/ 105 w 196"/>
                  <a:gd name="T21" fmla="*/ 6 h 144"/>
                  <a:gd name="T22" fmla="*/ 105 w 196"/>
                  <a:gd name="T23" fmla="*/ 0 h 144"/>
                  <a:gd name="T24" fmla="*/ 43 w 196"/>
                  <a:gd name="T25" fmla="*/ 0 h 144"/>
                  <a:gd name="T26" fmla="*/ 0 w 196"/>
                  <a:gd name="T27" fmla="*/ 71 h 144"/>
                  <a:gd name="T28" fmla="*/ 108 w 196"/>
                  <a:gd name="T29" fmla="*/ 132 h 144"/>
                  <a:gd name="T30" fmla="*/ 170 w 196"/>
                  <a:gd name="T31" fmla="*/ 126 h 144"/>
                  <a:gd name="T32" fmla="*/ 167 w 196"/>
                  <a:gd name="T33" fmla="*/ 37 h 144"/>
                  <a:gd name="T34" fmla="*/ 76 w 196"/>
                  <a:gd name="T35" fmla="*/ 109 h 144"/>
                  <a:gd name="T36" fmla="*/ 64 w 196"/>
                  <a:gd name="T37" fmla="*/ 110 h 144"/>
                  <a:gd name="T38" fmla="*/ 37 w 196"/>
                  <a:gd name="T39" fmla="*/ 79 h 144"/>
                  <a:gd name="T40" fmla="*/ 53 w 196"/>
                  <a:gd name="T41" fmla="*/ 76 h 144"/>
                  <a:gd name="T42" fmla="*/ 67 w 196"/>
                  <a:gd name="T43" fmla="*/ 84 h 144"/>
                  <a:gd name="T44" fmla="*/ 54 w 196"/>
                  <a:gd name="T45" fmla="*/ 67 h 144"/>
                  <a:gd name="T46" fmla="*/ 59 w 196"/>
                  <a:gd name="T47" fmla="*/ 30 h 144"/>
                  <a:gd name="T48" fmla="*/ 60 w 196"/>
                  <a:gd name="T49" fmla="*/ 22 h 144"/>
                  <a:gd name="T50" fmla="*/ 73 w 196"/>
                  <a:gd name="T51" fmla="*/ 29 h 144"/>
                  <a:gd name="T52" fmla="*/ 95 w 196"/>
                  <a:gd name="T53" fmla="*/ 52 h 144"/>
                  <a:gd name="T54" fmla="*/ 70 w 196"/>
                  <a:gd name="T55" fmla="*/ 48 h 144"/>
                  <a:gd name="T56" fmla="*/ 82 w 196"/>
                  <a:gd name="T57" fmla="*/ 62 h 144"/>
                  <a:gd name="T58" fmla="*/ 76 w 196"/>
                  <a:gd name="T59" fmla="*/ 102 h 144"/>
                  <a:gd name="T60" fmla="*/ 145 w 196"/>
                  <a:gd name="T61" fmla="*/ 108 h 144"/>
                  <a:gd name="T62" fmla="*/ 137 w 196"/>
                  <a:gd name="T63" fmla="*/ 110 h 144"/>
                  <a:gd name="T64" fmla="*/ 118 w 196"/>
                  <a:gd name="T65" fmla="*/ 87 h 144"/>
                  <a:gd name="T66" fmla="*/ 129 w 196"/>
                  <a:gd name="T67" fmla="*/ 85 h 144"/>
                  <a:gd name="T68" fmla="*/ 139 w 196"/>
                  <a:gd name="T69" fmla="*/ 91 h 144"/>
                  <a:gd name="T70" fmla="*/ 129 w 196"/>
                  <a:gd name="T71" fmla="*/ 79 h 144"/>
                  <a:gd name="T72" fmla="*/ 133 w 196"/>
                  <a:gd name="T73" fmla="*/ 53 h 144"/>
                  <a:gd name="T74" fmla="*/ 134 w 196"/>
                  <a:gd name="T75" fmla="*/ 47 h 144"/>
                  <a:gd name="T76" fmla="*/ 143 w 196"/>
                  <a:gd name="T77" fmla="*/ 52 h 144"/>
                  <a:gd name="T78" fmla="*/ 158 w 196"/>
                  <a:gd name="T79" fmla="*/ 68 h 144"/>
                  <a:gd name="T80" fmla="*/ 141 w 196"/>
                  <a:gd name="T81" fmla="*/ 65 h 144"/>
                  <a:gd name="T82" fmla="*/ 150 w 196"/>
                  <a:gd name="T83" fmla="*/ 75 h 144"/>
                  <a:gd name="T84" fmla="*/ 145 w 196"/>
                  <a:gd name="T85" fmla="*/ 10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96" h="144">
                    <a:moveTo>
                      <a:pt x="167" y="37"/>
                    </a:moveTo>
                    <a:cubicBezTo>
                      <a:pt x="168" y="36"/>
                      <a:pt x="168" y="35"/>
                      <a:pt x="167" y="35"/>
                    </a:cubicBezTo>
                    <a:cubicBezTo>
                      <a:pt x="167" y="34"/>
                      <a:pt x="167" y="33"/>
                      <a:pt x="167" y="33"/>
                    </a:cubicBezTo>
                    <a:cubicBezTo>
                      <a:pt x="163" y="33"/>
                      <a:pt x="158" y="34"/>
                      <a:pt x="153" y="34"/>
                    </a:cubicBezTo>
                    <a:cubicBezTo>
                      <a:pt x="133" y="34"/>
                      <a:pt x="117" y="26"/>
                      <a:pt x="115" y="17"/>
                    </a:cubicBezTo>
                    <a:cubicBezTo>
                      <a:pt x="122" y="22"/>
                      <a:pt x="132" y="27"/>
                      <a:pt x="136" y="28"/>
                    </a:cubicBezTo>
                    <a:cubicBezTo>
                      <a:pt x="136" y="28"/>
                      <a:pt x="137" y="28"/>
                      <a:pt x="137" y="28"/>
                    </a:cubicBezTo>
                    <a:cubicBezTo>
                      <a:pt x="149" y="33"/>
                      <a:pt x="172" y="28"/>
                      <a:pt x="172" y="28"/>
                    </a:cubicBezTo>
                    <a:cubicBezTo>
                      <a:pt x="172" y="28"/>
                      <a:pt x="173" y="27"/>
                      <a:pt x="171" y="25"/>
                    </a:cubicBezTo>
                    <a:cubicBezTo>
                      <a:pt x="168" y="22"/>
                      <a:pt x="165" y="21"/>
                      <a:pt x="167" y="18"/>
                    </a:cubicBezTo>
                    <a:cubicBezTo>
                      <a:pt x="168" y="16"/>
                      <a:pt x="170" y="14"/>
                      <a:pt x="169" y="12"/>
                    </a:cubicBezTo>
                    <a:cubicBezTo>
                      <a:pt x="169" y="12"/>
                      <a:pt x="168" y="11"/>
                      <a:pt x="167" y="11"/>
                    </a:cubicBezTo>
                    <a:cubicBezTo>
                      <a:pt x="163" y="11"/>
                      <a:pt x="157" y="12"/>
                      <a:pt x="157" y="12"/>
                    </a:cubicBezTo>
                    <a:cubicBezTo>
                      <a:pt x="157" y="12"/>
                      <a:pt x="156" y="9"/>
                      <a:pt x="151" y="8"/>
                    </a:cubicBezTo>
                    <a:cubicBezTo>
                      <a:pt x="147" y="7"/>
                      <a:pt x="140" y="5"/>
                      <a:pt x="136" y="5"/>
                    </a:cubicBezTo>
                    <a:cubicBezTo>
                      <a:pt x="136" y="5"/>
                      <a:pt x="136" y="6"/>
                      <a:pt x="136" y="6"/>
                    </a:cubicBezTo>
                    <a:cubicBezTo>
                      <a:pt x="133" y="7"/>
                      <a:pt x="129" y="10"/>
                      <a:pt x="125" y="9"/>
                    </a:cubicBezTo>
                    <a:cubicBezTo>
                      <a:pt x="123" y="8"/>
                      <a:pt x="122" y="8"/>
                      <a:pt x="122" y="7"/>
                    </a:cubicBezTo>
                    <a:cubicBezTo>
                      <a:pt x="120" y="7"/>
                      <a:pt x="119" y="6"/>
                      <a:pt x="117" y="7"/>
                    </a:cubicBezTo>
                    <a:cubicBezTo>
                      <a:pt x="113" y="7"/>
                      <a:pt x="113" y="10"/>
                      <a:pt x="113" y="10"/>
                    </a:cubicBezTo>
                    <a:cubicBezTo>
                      <a:pt x="113" y="10"/>
                      <a:pt x="112" y="10"/>
                      <a:pt x="112" y="10"/>
                    </a:cubicBezTo>
                    <a:cubicBezTo>
                      <a:pt x="110" y="8"/>
                      <a:pt x="107" y="7"/>
                      <a:pt x="105" y="6"/>
                    </a:cubicBezTo>
                    <a:cubicBezTo>
                      <a:pt x="106" y="5"/>
                      <a:pt x="106" y="4"/>
                      <a:pt x="104" y="3"/>
                    </a:cubicBezTo>
                    <a:cubicBezTo>
                      <a:pt x="105" y="2"/>
                      <a:pt x="105" y="1"/>
                      <a:pt x="105" y="0"/>
                    </a:cubicBezTo>
                    <a:cubicBezTo>
                      <a:pt x="96" y="2"/>
                      <a:pt x="85" y="3"/>
                      <a:pt x="73" y="3"/>
                    </a:cubicBezTo>
                    <a:cubicBezTo>
                      <a:pt x="62" y="3"/>
                      <a:pt x="51" y="2"/>
                      <a:pt x="43" y="0"/>
                    </a:cubicBezTo>
                    <a:cubicBezTo>
                      <a:pt x="42" y="2"/>
                      <a:pt x="41" y="4"/>
                      <a:pt x="41" y="5"/>
                    </a:cubicBezTo>
                    <a:cubicBezTo>
                      <a:pt x="17" y="17"/>
                      <a:pt x="0" y="42"/>
                      <a:pt x="0" y="71"/>
                    </a:cubicBezTo>
                    <a:cubicBezTo>
                      <a:pt x="0" y="93"/>
                      <a:pt x="10" y="113"/>
                      <a:pt x="26" y="127"/>
                    </a:cubicBezTo>
                    <a:cubicBezTo>
                      <a:pt x="43" y="142"/>
                      <a:pt x="89" y="144"/>
                      <a:pt x="108" y="132"/>
                    </a:cubicBezTo>
                    <a:cubicBezTo>
                      <a:pt x="111" y="131"/>
                      <a:pt x="114" y="128"/>
                      <a:pt x="117" y="126"/>
                    </a:cubicBezTo>
                    <a:cubicBezTo>
                      <a:pt x="132" y="133"/>
                      <a:pt x="158" y="133"/>
                      <a:pt x="170" y="126"/>
                    </a:cubicBezTo>
                    <a:cubicBezTo>
                      <a:pt x="184" y="118"/>
                      <a:pt x="196" y="100"/>
                      <a:pt x="196" y="83"/>
                    </a:cubicBezTo>
                    <a:cubicBezTo>
                      <a:pt x="196" y="62"/>
                      <a:pt x="184" y="45"/>
                      <a:pt x="167" y="37"/>
                    </a:cubicBezTo>
                    <a:close/>
                    <a:moveTo>
                      <a:pt x="76" y="102"/>
                    </a:moveTo>
                    <a:cubicBezTo>
                      <a:pt x="76" y="109"/>
                      <a:pt x="76" y="109"/>
                      <a:pt x="76" y="109"/>
                    </a:cubicBezTo>
                    <a:cubicBezTo>
                      <a:pt x="76" y="109"/>
                      <a:pt x="76" y="110"/>
                      <a:pt x="75" y="110"/>
                    </a:cubicBezTo>
                    <a:cubicBezTo>
                      <a:pt x="64" y="110"/>
                      <a:pt x="64" y="110"/>
                      <a:pt x="64" y="110"/>
                    </a:cubicBezTo>
                    <a:cubicBezTo>
                      <a:pt x="63" y="110"/>
                      <a:pt x="63" y="109"/>
                      <a:pt x="63" y="102"/>
                    </a:cubicBezTo>
                    <a:cubicBezTo>
                      <a:pt x="47" y="101"/>
                      <a:pt x="38" y="93"/>
                      <a:pt x="37" y="79"/>
                    </a:cubicBezTo>
                    <a:cubicBezTo>
                      <a:pt x="37" y="78"/>
                      <a:pt x="38" y="78"/>
                      <a:pt x="38" y="78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54" y="76"/>
                      <a:pt x="54" y="76"/>
                      <a:pt x="55" y="77"/>
                    </a:cubicBezTo>
                    <a:cubicBezTo>
                      <a:pt x="56" y="84"/>
                      <a:pt x="63" y="84"/>
                      <a:pt x="67" y="84"/>
                    </a:cubicBezTo>
                    <a:cubicBezTo>
                      <a:pt x="69" y="83"/>
                      <a:pt x="70" y="82"/>
                      <a:pt x="70" y="81"/>
                    </a:cubicBezTo>
                    <a:cubicBezTo>
                      <a:pt x="71" y="77"/>
                      <a:pt x="68" y="73"/>
                      <a:pt x="54" y="67"/>
                    </a:cubicBezTo>
                    <a:cubicBezTo>
                      <a:pt x="44" y="62"/>
                      <a:pt x="39" y="60"/>
                      <a:pt x="39" y="52"/>
                    </a:cubicBezTo>
                    <a:cubicBezTo>
                      <a:pt x="38" y="43"/>
                      <a:pt x="45" y="33"/>
                      <a:pt x="59" y="30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3"/>
                      <a:pt x="60" y="22"/>
                      <a:pt x="60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2" y="22"/>
                      <a:pt x="72" y="22"/>
                      <a:pt x="73" y="29"/>
                    </a:cubicBezTo>
                    <a:cubicBezTo>
                      <a:pt x="87" y="31"/>
                      <a:pt x="96" y="40"/>
                      <a:pt x="96" y="50"/>
                    </a:cubicBezTo>
                    <a:cubicBezTo>
                      <a:pt x="96" y="51"/>
                      <a:pt x="96" y="51"/>
                      <a:pt x="95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8" y="47"/>
                      <a:pt x="70" y="48"/>
                    </a:cubicBezTo>
                    <a:cubicBezTo>
                      <a:pt x="67" y="48"/>
                      <a:pt x="67" y="50"/>
                      <a:pt x="67" y="51"/>
                    </a:cubicBezTo>
                    <a:cubicBezTo>
                      <a:pt x="67" y="55"/>
                      <a:pt x="72" y="57"/>
                      <a:pt x="82" y="62"/>
                    </a:cubicBezTo>
                    <a:cubicBezTo>
                      <a:pt x="92" y="67"/>
                      <a:pt x="97" y="71"/>
                      <a:pt x="98" y="79"/>
                    </a:cubicBezTo>
                    <a:cubicBezTo>
                      <a:pt x="98" y="90"/>
                      <a:pt x="90" y="99"/>
                      <a:pt x="76" y="102"/>
                    </a:cubicBezTo>
                    <a:close/>
                    <a:moveTo>
                      <a:pt x="145" y="104"/>
                    </a:moveTo>
                    <a:cubicBezTo>
                      <a:pt x="145" y="108"/>
                      <a:pt x="145" y="108"/>
                      <a:pt x="145" y="108"/>
                    </a:cubicBezTo>
                    <a:cubicBezTo>
                      <a:pt x="145" y="109"/>
                      <a:pt x="145" y="109"/>
                      <a:pt x="145" y="109"/>
                    </a:cubicBezTo>
                    <a:cubicBezTo>
                      <a:pt x="137" y="110"/>
                      <a:pt x="137" y="110"/>
                      <a:pt x="137" y="110"/>
                    </a:cubicBezTo>
                    <a:cubicBezTo>
                      <a:pt x="136" y="110"/>
                      <a:pt x="136" y="109"/>
                      <a:pt x="136" y="104"/>
                    </a:cubicBezTo>
                    <a:cubicBezTo>
                      <a:pt x="124" y="103"/>
                      <a:pt x="118" y="97"/>
                      <a:pt x="118" y="87"/>
                    </a:cubicBezTo>
                    <a:cubicBezTo>
                      <a:pt x="118" y="87"/>
                      <a:pt x="118" y="87"/>
                      <a:pt x="119" y="87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30" y="85"/>
                      <a:pt x="130" y="86"/>
                      <a:pt x="130" y="86"/>
                    </a:cubicBezTo>
                    <a:cubicBezTo>
                      <a:pt x="131" y="91"/>
                      <a:pt x="136" y="91"/>
                      <a:pt x="139" y="91"/>
                    </a:cubicBezTo>
                    <a:cubicBezTo>
                      <a:pt x="140" y="90"/>
                      <a:pt x="141" y="90"/>
                      <a:pt x="141" y="89"/>
                    </a:cubicBezTo>
                    <a:cubicBezTo>
                      <a:pt x="142" y="86"/>
                      <a:pt x="140" y="83"/>
                      <a:pt x="129" y="79"/>
                    </a:cubicBezTo>
                    <a:cubicBezTo>
                      <a:pt x="123" y="76"/>
                      <a:pt x="119" y="74"/>
                      <a:pt x="119" y="68"/>
                    </a:cubicBezTo>
                    <a:cubicBezTo>
                      <a:pt x="118" y="62"/>
                      <a:pt x="124" y="55"/>
                      <a:pt x="133" y="53"/>
                    </a:cubicBezTo>
                    <a:cubicBezTo>
                      <a:pt x="133" y="48"/>
                      <a:pt x="133" y="48"/>
                      <a:pt x="133" y="48"/>
                    </a:cubicBezTo>
                    <a:cubicBezTo>
                      <a:pt x="133" y="48"/>
                      <a:pt x="134" y="47"/>
                      <a:pt x="134" y="47"/>
                    </a:cubicBezTo>
                    <a:cubicBezTo>
                      <a:pt x="142" y="47"/>
                      <a:pt x="142" y="47"/>
                      <a:pt x="142" y="47"/>
                    </a:cubicBezTo>
                    <a:cubicBezTo>
                      <a:pt x="143" y="47"/>
                      <a:pt x="143" y="47"/>
                      <a:pt x="143" y="52"/>
                    </a:cubicBezTo>
                    <a:cubicBezTo>
                      <a:pt x="153" y="53"/>
                      <a:pt x="159" y="60"/>
                      <a:pt x="160" y="67"/>
                    </a:cubicBezTo>
                    <a:cubicBezTo>
                      <a:pt x="160" y="68"/>
                      <a:pt x="159" y="68"/>
                      <a:pt x="158" y="68"/>
                    </a:cubicBezTo>
                    <a:cubicBezTo>
                      <a:pt x="147" y="69"/>
                      <a:pt x="147" y="69"/>
                      <a:pt x="147" y="69"/>
                    </a:cubicBezTo>
                    <a:cubicBezTo>
                      <a:pt x="147" y="69"/>
                      <a:pt x="147" y="65"/>
                      <a:pt x="141" y="65"/>
                    </a:cubicBezTo>
                    <a:cubicBezTo>
                      <a:pt x="139" y="66"/>
                      <a:pt x="139" y="67"/>
                      <a:pt x="139" y="68"/>
                    </a:cubicBezTo>
                    <a:cubicBezTo>
                      <a:pt x="139" y="70"/>
                      <a:pt x="142" y="72"/>
                      <a:pt x="150" y="75"/>
                    </a:cubicBezTo>
                    <a:cubicBezTo>
                      <a:pt x="157" y="79"/>
                      <a:pt x="160" y="82"/>
                      <a:pt x="161" y="87"/>
                    </a:cubicBezTo>
                    <a:cubicBezTo>
                      <a:pt x="161" y="96"/>
                      <a:pt x="155" y="102"/>
                      <a:pt x="145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: Shape 26"/>
              <p:cNvSpPr/>
              <p:nvPr/>
            </p:nvSpPr>
            <p:spPr bwMode="auto">
              <a:xfrm>
                <a:off x="10198100" y="790575"/>
                <a:ext cx="406400" cy="152400"/>
              </a:xfrm>
              <a:custGeom>
                <a:avLst/>
                <a:gdLst>
                  <a:gd name="T0" fmla="*/ 26 w 107"/>
                  <a:gd name="T1" fmla="*/ 38 h 40"/>
                  <a:gd name="T2" fmla="*/ 50 w 107"/>
                  <a:gd name="T3" fmla="*/ 40 h 40"/>
                  <a:gd name="T4" fmla="*/ 84 w 107"/>
                  <a:gd name="T5" fmla="*/ 37 h 40"/>
                  <a:gd name="T6" fmla="*/ 107 w 107"/>
                  <a:gd name="T7" fmla="*/ 25 h 40"/>
                  <a:gd name="T8" fmla="*/ 102 w 107"/>
                  <a:gd name="T9" fmla="*/ 20 h 40"/>
                  <a:gd name="T10" fmla="*/ 93 w 107"/>
                  <a:gd name="T11" fmla="*/ 12 h 40"/>
                  <a:gd name="T12" fmla="*/ 95 w 107"/>
                  <a:gd name="T13" fmla="*/ 1 h 40"/>
                  <a:gd name="T14" fmla="*/ 91 w 107"/>
                  <a:gd name="T15" fmla="*/ 1 h 40"/>
                  <a:gd name="T16" fmla="*/ 75 w 107"/>
                  <a:gd name="T17" fmla="*/ 7 h 40"/>
                  <a:gd name="T18" fmla="*/ 64 w 107"/>
                  <a:gd name="T19" fmla="*/ 3 h 40"/>
                  <a:gd name="T20" fmla="*/ 40 w 107"/>
                  <a:gd name="T21" fmla="*/ 5 h 40"/>
                  <a:gd name="T22" fmla="*/ 39 w 107"/>
                  <a:gd name="T23" fmla="*/ 6 h 40"/>
                  <a:gd name="T24" fmla="*/ 23 w 107"/>
                  <a:gd name="T25" fmla="*/ 16 h 40"/>
                  <a:gd name="T26" fmla="*/ 17 w 107"/>
                  <a:gd name="T27" fmla="*/ 15 h 40"/>
                  <a:gd name="T28" fmla="*/ 10 w 107"/>
                  <a:gd name="T29" fmla="*/ 16 h 40"/>
                  <a:gd name="T30" fmla="*/ 5 w 107"/>
                  <a:gd name="T31" fmla="*/ 23 h 40"/>
                  <a:gd name="T32" fmla="*/ 0 w 107"/>
                  <a:gd name="T33" fmla="*/ 28 h 40"/>
                  <a:gd name="T34" fmla="*/ 27 w 107"/>
                  <a:gd name="T35" fmla="*/ 38 h 40"/>
                  <a:gd name="T36" fmla="*/ 26 w 107"/>
                  <a:gd name="T37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" h="40">
                    <a:moveTo>
                      <a:pt x="26" y="38"/>
                    </a:moveTo>
                    <a:cubicBezTo>
                      <a:pt x="33" y="40"/>
                      <a:pt x="42" y="40"/>
                      <a:pt x="50" y="40"/>
                    </a:cubicBezTo>
                    <a:cubicBezTo>
                      <a:pt x="63" y="40"/>
                      <a:pt x="74" y="39"/>
                      <a:pt x="84" y="37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2"/>
                      <a:pt x="102" y="20"/>
                    </a:cubicBezTo>
                    <a:cubicBezTo>
                      <a:pt x="98" y="17"/>
                      <a:pt x="92" y="16"/>
                      <a:pt x="93" y="12"/>
                    </a:cubicBezTo>
                    <a:cubicBezTo>
                      <a:pt x="94" y="8"/>
                      <a:pt x="96" y="3"/>
                      <a:pt x="95" y="1"/>
                    </a:cubicBezTo>
                    <a:cubicBezTo>
                      <a:pt x="94" y="0"/>
                      <a:pt x="93" y="0"/>
                      <a:pt x="91" y="1"/>
                    </a:cubicBezTo>
                    <a:cubicBezTo>
                      <a:pt x="84" y="2"/>
                      <a:pt x="75" y="7"/>
                      <a:pt x="75" y="7"/>
                    </a:cubicBezTo>
                    <a:cubicBezTo>
                      <a:pt x="75" y="7"/>
                      <a:pt x="73" y="3"/>
                      <a:pt x="64" y="3"/>
                    </a:cubicBezTo>
                    <a:cubicBezTo>
                      <a:pt x="57" y="3"/>
                      <a:pt x="45" y="3"/>
                      <a:pt x="40" y="5"/>
                    </a:cubicBezTo>
                    <a:cubicBezTo>
                      <a:pt x="39" y="5"/>
                      <a:pt x="39" y="6"/>
                      <a:pt x="39" y="6"/>
                    </a:cubicBezTo>
                    <a:cubicBezTo>
                      <a:pt x="36" y="8"/>
                      <a:pt x="30" y="16"/>
                      <a:pt x="23" y="16"/>
                    </a:cubicBezTo>
                    <a:cubicBezTo>
                      <a:pt x="21" y="16"/>
                      <a:pt x="19" y="15"/>
                      <a:pt x="17" y="15"/>
                    </a:cubicBezTo>
                    <a:cubicBezTo>
                      <a:pt x="15" y="14"/>
                      <a:pt x="14" y="14"/>
                      <a:pt x="10" y="16"/>
                    </a:cubicBezTo>
                    <a:cubicBezTo>
                      <a:pt x="5" y="19"/>
                      <a:pt x="5" y="23"/>
                      <a:pt x="5" y="23"/>
                    </a:cubicBezTo>
                    <a:cubicBezTo>
                      <a:pt x="5" y="23"/>
                      <a:pt x="0" y="22"/>
                      <a:pt x="0" y="28"/>
                    </a:cubicBezTo>
                    <a:cubicBezTo>
                      <a:pt x="15" y="35"/>
                      <a:pt x="27" y="38"/>
                      <a:pt x="27" y="38"/>
                    </a:cubicBezTo>
                    <a:cubicBezTo>
                      <a:pt x="27" y="38"/>
                      <a:pt x="26" y="38"/>
                      <a:pt x="2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10397188" y="3751677"/>
            <a:ext cx="763588" cy="2003425"/>
            <a:chOff x="6216253" y="2802732"/>
            <a:chExt cx="572691" cy="1502569"/>
          </a:xfrm>
        </p:grpSpPr>
        <p:grpSp>
          <p:nvGrpSpPr>
            <p:cNvPr id="9" name="Group 7"/>
            <p:cNvGrpSpPr/>
            <p:nvPr/>
          </p:nvGrpSpPr>
          <p:grpSpPr>
            <a:xfrm>
              <a:off x="6216253" y="2802732"/>
              <a:ext cx="572691" cy="1502569"/>
              <a:chOff x="3246438" y="3736976"/>
              <a:chExt cx="763588" cy="200342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37" name="Rectangle 35"/>
              <p:cNvSpPr/>
              <p:nvPr/>
            </p:nvSpPr>
            <p:spPr bwMode="auto">
              <a:xfrm>
                <a:off x="3586957" y="4432301"/>
                <a:ext cx="82550" cy="1308100"/>
              </a:xfrm>
              <a:prstGeom prst="rect">
                <a:avLst/>
              </a:prstGeom>
              <a:solidFill>
                <a:srgbClr val="2B6D9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Oval 36"/>
              <p:cNvSpPr/>
              <p:nvPr/>
            </p:nvSpPr>
            <p:spPr bwMode="auto">
              <a:xfrm>
                <a:off x="3246438" y="3736976"/>
                <a:ext cx="763588" cy="760413"/>
              </a:xfrm>
              <a:prstGeom prst="ellipse">
                <a:avLst/>
              </a:prstGeom>
              <a:solidFill>
                <a:srgbClr val="E6A65C"/>
              </a:solidFill>
              <a:ln w="38100">
                <a:solidFill>
                  <a:srgbClr val="2B6D95"/>
                </a:solidFill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Group 19"/>
            <p:cNvGrpSpPr/>
            <p:nvPr/>
          </p:nvGrpSpPr>
          <p:grpSpPr>
            <a:xfrm>
              <a:off x="6371320" y="2960580"/>
              <a:ext cx="300018" cy="243579"/>
              <a:chOff x="4037394" y="5979440"/>
              <a:chExt cx="400024" cy="324772"/>
            </a:xfrm>
            <a:solidFill>
              <a:schemeClr val="bg1"/>
            </a:solidFill>
          </p:grpSpPr>
          <p:sp>
            <p:nvSpPr>
              <p:cNvPr id="25" name="Freeform: Shape 23"/>
              <p:cNvSpPr/>
              <p:nvPr/>
            </p:nvSpPr>
            <p:spPr bwMode="auto">
              <a:xfrm>
                <a:off x="4311998" y="6078455"/>
                <a:ext cx="75252" cy="100336"/>
              </a:xfrm>
              <a:custGeom>
                <a:avLst/>
                <a:gdLst>
                  <a:gd name="T0" fmla="*/ 11 w 24"/>
                  <a:gd name="T1" fmla="*/ 2 h 32"/>
                  <a:gd name="T2" fmla="*/ 8 w 24"/>
                  <a:gd name="T3" fmla="*/ 0 h 32"/>
                  <a:gd name="T4" fmla="*/ 4 w 24"/>
                  <a:gd name="T5" fmla="*/ 0 h 32"/>
                  <a:gd name="T6" fmla="*/ 0 w 24"/>
                  <a:gd name="T7" fmla="*/ 4 h 32"/>
                  <a:gd name="T8" fmla="*/ 0 w 24"/>
                  <a:gd name="T9" fmla="*/ 28 h 32"/>
                  <a:gd name="T10" fmla="*/ 4 w 24"/>
                  <a:gd name="T11" fmla="*/ 32 h 32"/>
                  <a:gd name="T12" fmla="*/ 20 w 24"/>
                  <a:gd name="T13" fmla="*/ 32 h 32"/>
                  <a:gd name="T14" fmla="*/ 24 w 24"/>
                  <a:gd name="T15" fmla="*/ 28 h 32"/>
                  <a:gd name="T16" fmla="*/ 24 w 24"/>
                  <a:gd name="T17" fmla="*/ 22 h 32"/>
                  <a:gd name="T18" fmla="*/ 23 w 24"/>
                  <a:gd name="T19" fmla="*/ 20 h 32"/>
                  <a:gd name="T20" fmla="*/ 11 w 24"/>
                  <a:gd name="T21" fmla="*/ 2 h 32"/>
                  <a:gd name="T22" fmla="*/ 20 w 24"/>
                  <a:gd name="T23" fmla="*/ 28 h 32"/>
                  <a:gd name="T24" fmla="*/ 4 w 24"/>
                  <a:gd name="T25" fmla="*/ 28 h 32"/>
                  <a:gd name="T26" fmla="*/ 4 w 24"/>
                  <a:gd name="T27" fmla="*/ 4 h 32"/>
                  <a:gd name="T28" fmla="*/ 8 w 24"/>
                  <a:gd name="T29" fmla="*/ 4 h 32"/>
                  <a:gd name="T30" fmla="*/ 20 w 24"/>
                  <a:gd name="T31" fmla="*/ 22 h 32"/>
                  <a:gd name="T32" fmla="*/ 20 w 24"/>
                  <a:gd name="T33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32">
                    <a:moveTo>
                      <a:pt x="11" y="2"/>
                    </a:moveTo>
                    <a:cubicBezTo>
                      <a:pt x="11" y="1"/>
                      <a:pt x="9" y="0"/>
                      <a:pt x="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22" y="32"/>
                      <a:pt x="24" y="30"/>
                      <a:pt x="24" y="28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1"/>
                      <a:pt x="24" y="20"/>
                      <a:pt x="23" y="20"/>
                    </a:cubicBezTo>
                    <a:lnTo>
                      <a:pt x="11" y="2"/>
                    </a:lnTo>
                    <a:close/>
                    <a:moveTo>
                      <a:pt x="20" y="28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20" y="22"/>
                      <a:pt x="20" y="22"/>
                      <a:pt x="20" y="22"/>
                    </a:cubicBezTo>
                    <a:lnTo>
                      <a:pt x="2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: Shape 24"/>
              <p:cNvSpPr/>
              <p:nvPr/>
            </p:nvSpPr>
            <p:spPr bwMode="auto">
              <a:xfrm>
                <a:off x="4037394" y="5979440"/>
                <a:ext cx="400024" cy="324772"/>
              </a:xfrm>
              <a:custGeom>
                <a:avLst/>
                <a:gdLst>
                  <a:gd name="T0" fmla="*/ 126 w 128"/>
                  <a:gd name="T1" fmla="*/ 49 h 104"/>
                  <a:gd name="T2" fmla="*/ 110 w 128"/>
                  <a:gd name="T3" fmla="*/ 25 h 104"/>
                  <a:gd name="T4" fmla="*/ 100 w 128"/>
                  <a:gd name="T5" fmla="*/ 20 h 104"/>
                  <a:gd name="T6" fmla="*/ 84 w 128"/>
                  <a:gd name="T7" fmla="*/ 20 h 104"/>
                  <a:gd name="T8" fmla="*/ 84 w 128"/>
                  <a:gd name="T9" fmla="*/ 12 h 104"/>
                  <a:gd name="T10" fmla="*/ 72 w 128"/>
                  <a:gd name="T11" fmla="*/ 0 h 104"/>
                  <a:gd name="T12" fmla="*/ 12 w 128"/>
                  <a:gd name="T13" fmla="*/ 0 h 104"/>
                  <a:gd name="T14" fmla="*/ 0 w 128"/>
                  <a:gd name="T15" fmla="*/ 12 h 104"/>
                  <a:gd name="T16" fmla="*/ 0 w 128"/>
                  <a:gd name="T17" fmla="*/ 56 h 104"/>
                  <a:gd name="T18" fmla="*/ 12 w 128"/>
                  <a:gd name="T19" fmla="*/ 68 h 104"/>
                  <a:gd name="T20" fmla="*/ 12 w 128"/>
                  <a:gd name="T21" fmla="*/ 68 h 104"/>
                  <a:gd name="T22" fmla="*/ 12 w 128"/>
                  <a:gd name="T23" fmla="*/ 80 h 104"/>
                  <a:gd name="T24" fmla="*/ 24 w 128"/>
                  <a:gd name="T25" fmla="*/ 92 h 104"/>
                  <a:gd name="T26" fmla="*/ 29 w 128"/>
                  <a:gd name="T27" fmla="*/ 92 h 104"/>
                  <a:gd name="T28" fmla="*/ 44 w 128"/>
                  <a:gd name="T29" fmla="*/ 104 h 104"/>
                  <a:gd name="T30" fmla="*/ 59 w 128"/>
                  <a:gd name="T31" fmla="*/ 92 h 104"/>
                  <a:gd name="T32" fmla="*/ 81 w 128"/>
                  <a:gd name="T33" fmla="*/ 92 h 104"/>
                  <a:gd name="T34" fmla="*/ 96 w 128"/>
                  <a:gd name="T35" fmla="*/ 104 h 104"/>
                  <a:gd name="T36" fmla="*/ 111 w 128"/>
                  <a:gd name="T37" fmla="*/ 92 h 104"/>
                  <a:gd name="T38" fmla="*/ 116 w 128"/>
                  <a:gd name="T39" fmla="*/ 92 h 104"/>
                  <a:gd name="T40" fmla="*/ 128 w 128"/>
                  <a:gd name="T41" fmla="*/ 80 h 104"/>
                  <a:gd name="T42" fmla="*/ 128 w 128"/>
                  <a:gd name="T43" fmla="*/ 56 h 104"/>
                  <a:gd name="T44" fmla="*/ 126 w 128"/>
                  <a:gd name="T45" fmla="*/ 49 h 104"/>
                  <a:gd name="T46" fmla="*/ 12 w 128"/>
                  <a:gd name="T47" fmla="*/ 60 h 104"/>
                  <a:gd name="T48" fmla="*/ 8 w 128"/>
                  <a:gd name="T49" fmla="*/ 56 h 104"/>
                  <a:gd name="T50" fmla="*/ 8 w 128"/>
                  <a:gd name="T51" fmla="*/ 12 h 104"/>
                  <a:gd name="T52" fmla="*/ 12 w 128"/>
                  <a:gd name="T53" fmla="*/ 8 h 104"/>
                  <a:gd name="T54" fmla="*/ 72 w 128"/>
                  <a:gd name="T55" fmla="*/ 8 h 104"/>
                  <a:gd name="T56" fmla="*/ 76 w 128"/>
                  <a:gd name="T57" fmla="*/ 12 h 104"/>
                  <a:gd name="T58" fmla="*/ 76 w 128"/>
                  <a:gd name="T59" fmla="*/ 20 h 104"/>
                  <a:gd name="T60" fmla="*/ 76 w 128"/>
                  <a:gd name="T61" fmla="*/ 28 h 104"/>
                  <a:gd name="T62" fmla="*/ 76 w 128"/>
                  <a:gd name="T63" fmla="*/ 56 h 104"/>
                  <a:gd name="T64" fmla="*/ 72 w 128"/>
                  <a:gd name="T65" fmla="*/ 60 h 104"/>
                  <a:gd name="T66" fmla="*/ 12 w 128"/>
                  <a:gd name="T67" fmla="*/ 60 h 104"/>
                  <a:gd name="T68" fmla="*/ 44 w 128"/>
                  <a:gd name="T69" fmla="*/ 96 h 104"/>
                  <a:gd name="T70" fmla="*/ 36 w 128"/>
                  <a:gd name="T71" fmla="*/ 88 h 104"/>
                  <a:gd name="T72" fmla="*/ 44 w 128"/>
                  <a:gd name="T73" fmla="*/ 80 h 104"/>
                  <a:gd name="T74" fmla="*/ 52 w 128"/>
                  <a:gd name="T75" fmla="*/ 88 h 104"/>
                  <a:gd name="T76" fmla="*/ 44 w 128"/>
                  <a:gd name="T77" fmla="*/ 96 h 104"/>
                  <a:gd name="T78" fmla="*/ 96 w 128"/>
                  <a:gd name="T79" fmla="*/ 96 h 104"/>
                  <a:gd name="T80" fmla="*/ 88 w 128"/>
                  <a:gd name="T81" fmla="*/ 88 h 104"/>
                  <a:gd name="T82" fmla="*/ 96 w 128"/>
                  <a:gd name="T83" fmla="*/ 80 h 104"/>
                  <a:gd name="T84" fmla="*/ 104 w 128"/>
                  <a:gd name="T85" fmla="*/ 88 h 104"/>
                  <a:gd name="T86" fmla="*/ 96 w 128"/>
                  <a:gd name="T87" fmla="*/ 96 h 104"/>
                  <a:gd name="T88" fmla="*/ 120 w 128"/>
                  <a:gd name="T89" fmla="*/ 80 h 104"/>
                  <a:gd name="T90" fmla="*/ 116 w 128"/>
                  <a:gd name="T91" fmla="*/ 84 h 104"/>
                  <a:gd name="T92" fmla="*/ 111 w 128"/>
                  <a:gd name="T93" fmla="*/ 84 h 104"/>
                  <a:gd name="T94" fmla="*/ 96 w 128"/>
                  <a:gd name="T95" fmla="*/ 72 h 104"/>
                  <a:gd name="T96" fmla="*/ 81 w 128"/>
                  <a:gd name="T97" fmla="*/ 84 h 104"/>
                  <a:gd name="T98" fmla="*/ 59 w 128"/>
                  <a:gd name="T99" fmla="*/ 84 h 104"/>
                  <a:gd name="T100" fmla="*/ 44 w 128"/>
                  <a:gd name="T101" fmla="*/ 72 h 104"/>
                  <a:gd name="T102" fmla="*/ 29 w 128"/>
                  <a:gd name="T103" fmla="*/ 84 h 104"/>
                  <a:gd name="T104" fmla="*/ 24 w 128"/>
                  <a:gd name="T105" fmla="*/ 84 h 104"/>
                  <a:gd name="T106" fmla="*/ 20 w 128"/>
                  <a:gd name="T107" fmla="*/ 80 h 104"/>
                  <a:gd name="T108" fmla="*/ 20 w 128"/>
                  <a:gd name="T109" fmla="*/ 68 h 104"/>
                  <a:gd name="T110" fmla="*/ 72 w 128"/>
                  <a:gd name="T111" fmla="*/ 68 h 104"/>
                  <a:gd name="T112" fmla="*/ 84 w 128"/>
                  <a:gd name="T113" fmla="*/ 56 h 104"/>
                  <a:gd name="T114" fmla="*/ 84 w 128"/>
                  <a:gd name="T115" fmla="*/ 28 h 104"/>
                  <a:gd name="T116" fmla="*/ 100 w 128"/>
                  <a:gd name="T117" fmla="*/ 28 h 104"/>
                  <a:gd name="T118" fmla="*/ 103 w 128"/>
                  <a:gd name="T119" fmla="*/ 30 h 104"/>
                  <a:gd name="T120" fmla="*/ 119 w 128"/>
                  <a:gd name="T121" fmla="*/ 54 h 104"/>
                  <a:gd name="T122" fmla="*/ 120 w 128"/>
                  <a:gd name="T123" fmla="*/ 56 h 104"/>
                  <a:gd name="T124" fmla="*/ 120 w 128"/>
                  <a:gd name="T125" fmla="*/ 8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8" h="104">
                    <a:moveTo>
                      <a:pt x="126" y="49"/>
                    </a:moveTo>
                    <a:cubicBezTo>
                      <a:pt x="110" y="25"/>
                      <a:pt x="110" y="25"/>
                      <a:pt x="110" y="25"/>
                    </a:cubicBezTo>
                    <a:cubicBezTo>
                      <a:pt x="108" y="22"/>
                      <a:pt x="104" y="20"/>
                      <a:pt x="100" y="20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5"/>
                      <a:pt x="79" y="0"/>
                      <a:pt x="7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3"/>
                      <a:pt x="5" y="68"/>
                      <a:pt x="12" y="68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2" y="87"/>
                      <a:pt x="17" y="92"/>
                      <a:pt x="24" y="92"/>
                    </a:cubicBezTo>
                    <a:cubicBezTo>
                      <a:pt x="29" y="92"/>
                      <a:pt x="29" y="92"/>
                      <a:pt x="29" y="92"/>
                    </a:cubicBezTo>
                    <a:cubicBezTo>
                      <a:pt x="30" y="99"/>
                      <a:pt x="37" y="104"/>
                      <a:pt x="44" y="104"/>
                    </a:cubicBezTo>
                    <a:cubicBezTo>
                      <a:pt x="51" y="104"/>
                      <a:pt x="58" y="99"/>
                      <a:pt x="59" y="92"/>
                    </a:cubicBezTo>
                    <a:cubicBezTo>
                      <a:pt x="81" y="92"/>
                      <a:pt x="81" y="92"/>
                      <a:pt x="81" y="92"/>
                    </a:cubicBezTo>
                    <a:cubicBezTo>
                      <a:pt x="82" y="99"/>
                      <a:pt x="89" y="104"/>
                      <a:pt x="96" y="104"/>
                    </a:cubicBezTo>
                    <a:cubicBezTo>
                      <a:pt x="103" y="104"/>
                      <a:pt x="110" y="99"/>
                      <a:pt x="111" y="92"/>
                    </a:cubicBezTo>
                    <a:cubicBezTo>
                      <a:pt x="116" y="92"/>
                      <a:pt x="116" y="92"/>
                      <a:pt x="116" y="92"/>
                    </a:cubicBezTo>
                    <a:cubicBezTo>
                      <a:pt x="123" y="92"/>
                      <a:pt x="128" y="87"/>
                      <a:pt x="128" y="80"/>
                    </a:cubicBezTo>
                    <a:cubicBezTo>
                      <a:pt x="128" y="56"/>
                      <a:pt x="128" y="56"/>
                      <a:pt x="128" y="56"/>
                    </a:cubicBezTo>
                    <a:cubicBezTo>
                      <a:pt x="128" y="54"/>
                      <a:pt x="127" y="51"/>
                      <a:pt x="126" y="49"/>
                    </a:cubicBezTo>
                    <a:close/>
                    <a:moveTo>
                      <a:pt x="12" y="60"/>
                    </a:moveTo>
                    <a:cubicBezTo>
                      <a:pt x="10" y="60"/>
                      <a:pt x="8" y="58"/>
                      <a:pt x="8" y="5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4" y="8"/>
                      <a:pt x="76" y="10"/>
                      <a:pt x="76" y="12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8"/>
                      <a:pt x="76" y="28"/>
                      <a:pt x="76" y="28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76" y="58"/>
                      <a:pt x="74" y="60"/>
                      <a:pt x="72" y="60"/>
                    </a:cubicBezTo>
                    <a:lnTo>
                      <a:pt x="12" y="60"/>
                    </a:lnTo>
                    <a:close/>
                    <a:moveTo>
                      <a:pt x="44" y="96"/>
                    </a:moveTo>
                    <a:cubicBezTo>
                      <a:pt x="40" y="96"/>
                      <a:pt x="36" y="92"/>
                      <a:pt x="36" y="88"/>
                    </a:cubicBezTo>
                    <a:cubicBezTo>
                      <a:pt x="36" y="84"/>
                      <a:pt x="40" y="80"/>
                      <a:pt x="44" y="80"/>
                    </a:cubicBezTo>
                    <a:cubicBezTo>
                      <a:pt x="48" y="80"/>
                      <a:pt x="52" y="84"/>
                      <a:pt x="52" y="88"/>
                    </a:cubicBezTo>
                    <a:cubicBezTo>
                      <a:pt x="52" y="92"/>
                      <a:pt x="48" y="96"/>
                      <a:pt x="44" y="96"/>
                    </a:cubicBezTo>
                    <a:close/>
                    <a:moveTo>
                      <a:pt x="96" y="96"/>
                    </a:moveTo>
                    <a:cubicBezTo>
                      <a:pt x="92" y="96"/>
                      <a:pt x="88" y="92"/>
                      <a:pt x="88" y="88"/>
                    </a:cubicBezTo>
                    <a:cubicBezTo>
                      <a:pt x="88" y="84"/>
                      <a:pt x="92" y="80"/>
                      <a:pt x="96" y="80"/>
                    </a:cubicBezTo>
                    <a:cubicBezTo>
                      <a:pt x="100" y="80"/>
                      <a:pt x="104" y="84"/>
                      <a:pt x="104" y="88"/>
                    </a:cubicBezTo>
                    <a:cubicBezTo>
                      <a:pt x="104" y="92"/>
                      <a:pt x="100" y="96"/>
                      <a:pt x="96" y="96"/>
                    </a:cubicBezTo>
                    <a:close/>
                    <a:moveTo>
                      <a:pt x="120" y="80"/>
                    </a:moveTo>
                    <a:cubicBezTo>
                      <a:pt x="120" y="82"/>
                      <a:pt x="118" y="84"/>
                      <a:pt x="116" y="84"/>
                    </a:cubicBezTo>
                    <a:cubicBezTo>
                      <a:pt x="111" y="84"/>
                      <a:pt x="111" y="84"/>
                      <a:pt x="111" y="84"/>
                    </a:cubicBezTo>
                    <a:cubicBezTo>
                      <a:pt x="110" y="77"/>
                      <a:pt x="103" y="72"/>
                      <a:pt x="96" y="72"/>
                    </a:cubicBezTo>
                    <a:cubicBezTo>
                      <a:pt x="89" y="72"/>
                      <a:pt x="82" y="77"/>
                      <a:pt x="81" y="84"/>
                    </a:cubicBezTo>
                    <a:cubicBezTo>
                      <a:pt x="59" y="84"/>
                      <a:pt x="59" y="84"/>
                      <a:pt x="59" y="84"/>
                    </a:cubicBezTo>
                    <a:cubicBezTo>
                      <a:pt x="58" y="77"/>
                      <a:pt x="51" y="72"/>
                      <a:pt x="44" y="72"/>
                    </a:cubicBezTo>
                    <a:cubicBezTo>
                      <a:pt x="37" y="72"/>
                      <a:pt x="30" y="77"/>
                      <a:pt x="29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2" y="84"/>
                      <a:pt x="20" y="82"/>
                      <a:pt x="20" y="80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9" y="68"/>
                      <a:pt x="84" y="63"/>
                      <a:pt x="84" y="56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1" y="28"/>
                      <a:pt x="103" y="29"/>
                      <a:pt x="103" y="30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20" y="54"/>
                      <a:pt x="120" y="55"/>
                      <a:pt x="120" y="56"/>
                    </a:cubicBezTo>
                    <a:lnTo>
                      <a:pt x="120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8881534" y="2011429"/>
            <a:ext cx="631823" cy="1657721"/>
            <a:chOff x="5457812" y="1223685"/>
            <a:chExt cx="473867" cy="1243291"/>
          </a:xfrm>
        </p:grpSpPr>
        <p:grpSp>
          <p:nvGrpSpPr>
            <p:cNvPr id="10" name="Group 8"/>
            <p:cNvGrpSpPr/>
            <p:nvPr/>
          </p:nvGrpSpPr>
          <p:grpSpPr>
            <a:xfrm>
              <a:off x="5457812" y="1223685"/>
              <a:ext cx="473867" cy="1243291"/>
              <a:chOff x="3246438" y="3736976"/>
              <a:chExt cx="763588" cy="200342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35" name="Rectangle 33"/>
              <p:cNvSpPr/>
              <p:nvPr/>
            </p:nvSpPr>
            <p:spPr bwMode="auto">
              <a:xfrm>
                <a:off x="3586957" y="4432301"/>
                <a:ext cx="82550" cy="1308100"/>
              </a:xfrm>
              <a:prstGeom prst="rect">
                <a:avLst/>
              </a:prstGeom>
              <a:solidFill>
                <a:srgbClr val="E6A65C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Oval 34"/>
              <p:cNvSpPr/>
              <p:nvPr/>
            </p:nvSpPr>
            <p:spPr bwMode="auto">
              <a:xfrm>
                <a:off x="3246438" y="3736976"/>
                <a:ext cx="763588" cy="760413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accent3">
                    <a:lumMod val="75000"/>
                  </a:schemeClr>
                </a:solidFill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Group 20"/>
            <p:cNvGrpSpPr/>
            <p:nvPr/>
          </p:nvGrpSpPr>
          <p:grpSpPr>
            <a:xfrm>
              <a:off x="5552210" y="1314516"/>
              <a:ext cx="300018" cy="262392"/>
              <a:chOff x="3237347" y="2768688"/>
              <a:chExt cx="400024" cy="349856"/>
            </a:xfrm>
            <a:solidFill>
              <a:schemeClr val="bg1"/>
            </a:solidFill>
          </p:grpSpPr>
          <p:sp>
            <p:nvSpPr>
              <p:cNvPr id="23" name="Freeform: Shape 21"/>
              <p:cNvSpPr/>
              <p:nvPr/>
            </p:nvSpPr>
            <p:spPr bwMode="auto">
              <a:xfrm>
                <a:off x="3237347" y="2768688"/>
                <a:ext cx="400024" cy="349856"/>
              </a:xfrm>
              <a:custGeom>
                <a:avLst/>
                <a:gdLst>
                  <a:gd name="T0" fmla="*/ 128 w 128"/>
                  <a:gd name="T1" fmla="*/ 66 h 112"/>
                  <a:gd name="T2" fmla="*/ 112 w 128"/>
                  <a:gd name="T3" fmla="*/ 6 h 112"/>
                  <a:gd name="T4" fmla="*/ 104 w 128"/>
                  <a:gd name="T5" fmla="*/ 0 h 112"/>
                  <a:gd name="T6" fmla="*/ 64 w 128"/>
                  <a:gd name="T7" fmla="*/ 0 h 112"/>
                  <a:gd name="T8" fmla="*/ 24 w 128"/>
                  <a:gd name="T9" fmla="*/ 0 h 112"/>
                  <a:gd name="T10" fmla="*/ 16 w 128"/>
                  <a:gd name="T11" fmla="*/ 6 h 112"/>
                  <a:gd name="T12" fmla="*/ 0 w 128"/>
                  <a:gd name="T13" fmla="*/ 66 h 112"/>
                  <a:gd name="T14" fmla="*/ 0 w 128"/>
                  <a:gd name="T15" fmla="*/ 68 h 112"/>
                  <a:gd name="T16" fmla="*/ 0 w 128"/>
                  <a:gd name="T17" fmla="*/ 96 h 112"/>
                  <a:gd name="T18" fmla="*/ 16 w 128"/>
                  <a:gd name="T19" fmla="*/ 112 h 112"/>
                  <a:gd name="T20" fmla="*/ 112 w 128"/>
                  <a:gd name="T21" fmla="*/ 112 h 112"/>
                  <a:gd name="T22" fmla="*/ 128 w 128"/>
                  <a:gd name="T23" fmla="*/ 96 h 112"/>
                  <a:gd name="T24" fmla="*/ 128 w 128"/>
                  <a:gd name="T25" fmla="*/ 68 h 112"/>
                  <a:gd name="T26" fmla="*/ 128 w 128"/>
                  <a:gd name="T27" fmla="*/ 66 h 112"/>
                  <a:gd name="T28" fmla="*/ 120 w 128"/>
                  <a:gd name="T29" fmla="*/ 96 h 112"/>
                  <a:gd name="T30" fmla="*/ 112 w 128"/>
                  <a:gd name="T31" fmla="*/ 104 h 112"/>
                  <a:gd name="T32" fmla="*/ 16 w 128"/>
                  <a:gd name="T33" fmla="*/ 104 h 112"/>
                  <a:gd name="T34" fmla="*/ 8 w 128"/>
                  <a:gd name="T35" fmla="*/ 96 h 112"/>
                  <a:gd name="T36" fmla="*/ 8 w 128"/>
                  <a:gd name="T37" fmla="*/ 68 h 112"/>
                  <a:gd name="T38" fmla="*/ 24 w 128"/>
                  <a:gd name="T39" fmla="*/ 8 h 112"/>
                  <a:gd name="T40" fmla="*/ 104 w 128"/>
                  <a:gd name="T41" fmla="*/ 8 h 112"/>
                  <a:gd name="T42" fmla="*/ 120 w 128"/>
                  <a:gd name="T43" fmla="*/ 68 h 112"/>
                  <a:gd name="T44" fmla="*/ 120 w 128"/>
                  <a:gd name="T4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" h="112">
                    <a:moveTo>
                      <a:pt x="128" y="66"/>
                    </a:moveTo>
                    <a:cubicBezTo>
                      <a:pt x="112" y="6"/>
                      <a:pt x="112" y="6"/>
                      <a:pt x="112" y="6"/>
                    </a:cubicBezTo>
                    <a:cubicBezTo>
                      <a:pt x="111" y="2"/>
                      <a:pt x="108" y="0"/>
                      <a:pt x="10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7" y="2"/>
                      <a:pt x="16" y="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7"/>
                      <a:pt x="0" y="67"/>
                      <a:pt x="0" y="6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5"/>
                      <a:pt x="7" y="112"/>
                      <a:pt x="16" y="112"/>
                    </a:cubicBezTo>
                    <a:cubicBezTo>
                      <a:pt x="112" y="112"/>
                      <a:pt x="112" y="112"/>
                      <a:pt x="112" y="112"/>
                    </a:cubicBezTo>
                    <a:cubicBezTo>
                      <a:pt x="121" y="112"/>
                      <a:pt x="128" y="105"/>
                      <a:pt x="128" y="96"/>
                    </a:cubicBezTo>
                    <a:cubicBezTo>
                      <a:pt x="128" y="68"/>
                      <a:pt x="128" y="68"/>
                      <a:pt x="128" y="68"/>
                    </a:cubicBezTo>
                    <a:cubicBezTo>
                      <a:pt x="128" y="67"/>
                      <a:pt x="128" y="67"/>
                      <a:pt x="128" y="66"/>
                    </a:cubicBezTo>
                    <a:close/>
                    <a:moveTo>
                      <a:pt x="120" y="96"/>
                    </a:moveTo>
                    <a:cubicBezTo>
                      <a:pt x="120" y="100"/>
                      <a:pt x="116" y="104"/>
                      <a:pt x="112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2" y="104"/>
                      <a:pt x="8" y="100"/>
                      <a:pt x="8" y="9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20" y="68"/>
                      <a:pt x="120" y="68"/>
                      <a:pt x="120" y="68"/>
                    </a:cubicBezTo>
                    <a:lnTo>
                      <a:pt x="120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: Shape 22"/>
              <p:cNvSpPr/>
              <p:nvPr/>
            </p:nvSpPr>
            <p:spPr bwMode="auto">
              <a:xfrm>
                <a:off x="3283555" y="2818856"/>
                <a:ext cx="306289" cy="224436"/>
              </a:xfrm>
              <a:custGeom>
                <a:avLst/>
                <a:gdLst>
                  <a:gd name="T0" fmla="*/ 80 w 98"/>
                  <a:gd name="T1" fmla="*/ 0 h 72"/>
                  <a:gd name="T2" fmla="*/ 18 w 98"/>
                  <a:gd name="T3" fmla="*/ 0 h 72"/>
                  <a:gd name="T4" fmla="*/ 14 w 98"/>
                  <a:gd name="T5" fmla="*/ 3 h 72"/>
                  <a:gd name="T6" fmla="*/ 0 w 98"/>
                  <a:gd name="T7" fmla="*/ 51 h 72"/>
                  <a:gd name="T8" fmla="*/ 1 w 98"/>
                  <a:gd name="T9" fmla="*/ 54 h 72"/>
                  <a:gd name="T10" fmla="*/ 4 w 98"/>
                  <a:gd name="T11" fmla="*/ 56 h 72"/>
                  <a:gd name="T12" fmla="*/ 16 w 98"/>
                  <a:gd name="T13" fmla="*/ 56 h 72"/>
                  <a:gd name="T14" fmla="*/ 20 w 98"/>
                  <a:gd name="T15" fmla="*/ 56 h 72"/>
                  <a:gd name="T16" fmla="*/ 23 w 98"/>
                  <a:gd name="T17" fmla="*/ 56 h 72"/>
                  <a:gd name="T18" fmla="*/ 28 w 98"/>
                  <a:gd name="T19" fmla="*/ 68 h 72"/>
                  <a:gd name="T20" fmla="*/ 35 w 98"/>
                  <a:gd name="T21" fmla="*/ 72 h 72"/>
                  <a:gd name="T22" fmla="*/ 63 w 98"/>
                  <a:gd name="T23" fmla="*/ 72 h 72"/>
                  <a:gd name="T24" fmla="*/ 70 w 98"/>
                  <a:gd name="T25" fmla="*/ 68 h 72"/>
                  <a:gd name="T26" fmla="*/ 75 w 98"/>
                  <a:gd name="T27" fmla="*/ 56 h 72"/>
                  <a:gd name="T28" fmla="*/ 78 w 98"/>
                  <a:gd name="T29" fmla="*/ 56 h 72"/>
                  <a:gd name="T30" fmla="*/ 82 w 98"/>
                  <a:gd name="T31" fmla="*/ 56 h 72"/>
                  <a:gd name="T32" fmla="*/ 94 w 98"/>
                  <a:gd name="T33" fmla="*/ 56 h 72"/>
                  <a:gd name="T34" fmla="*/ 97 w 98"/>
                  <a:gd name="T35" fmla="*/ 54 h 72"/>
                  <a:gd name="T36" fmla="*/ 98 w 98"/>
                  <a:gd name="T37" fmla="*/ 51 h 72"/>
                  <a:gd name="T38" fmla="*/ 84 w 98"/>
                  <a:gd name="T39" fmla="*/ 3 h 72"/>
                  <a:gd name="T40" fmla="*/ 80 w 98"/>
                  <a:gd name="T41" fmla="*/ 0 h 72"/>
                  <a:gd name="T42" fmla="*/ 82 w 98"/>
                  <a:gd name="T43" fmla="*/ 48 h 72"/>
                  <a:gd name="T44" fmla="*/ 75 w 98"/>
                  <a:gd name="T45" fmla="*/ 48 h 72"/>
                  <a:gd name="T46" fmla="*/ 68 w 98"/>
                  <a:gd name="T47" fmla="*/ 52 h 72"/>
                  <a:gd name="T48" fmla="*/ 63 w 98"/>
                  <a:gd name="T49" fmla="*/ 64 h 72"/>
                  <a:gd name="T50" fmla="*/ 35 w 98"/>
                  <a:gd name="T51" fmla="*/ 64 h 72"/>
                  <a:gd name="T52" fmla="*/ 30 w 98"/>
                  <a:gd name="T53" fmla="*/ 52 h 72"/>
                  <a:gd name="T54" fmla="*/ 23 w 98"/>
                  <a:gd name="T55" fmla="*/ 48 h 72"/>
                  <a:gd name="T56" fmla="*/ 16 w 98"/>
                  <a:gd name="T57" fmla="*/ 48 h 72"/>
                  <a:gd name="T58" fmla="*/ 6 w 98"/>
                  <a:gd name="T59" fmla="*/ 48 h 72"/>
                  <a:gd name="T60" fmla="*/ 18 w 98"/>
                  <a:gd name="T61" fmla="*/ 4 h 72"/>
                  <a:gd name="T62" fmla="*/ 80 w 98"/>
                  <a:gd name="T63" fmla="*/ 4 h 72"/>
                  <a:gd name="T64" fmla="*/ 92 w 98"/>
                  <a:gd name="T65" fmla="*/ 48 h 72"/>
                  <a:gd name="T66" fmla="*/ 82 w 98"/>
                  <a:gd name="T67" fmla="*/ 4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8" h="72">
                    <a:moveTo>
                      <a:pt x="8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0" y="53"/>
                      <a:pt x="1" y="54"/>
                    </a:cubicBezTo>
                    <a:cubicBezTo>
                      <a:pt x="2" y="55"/>
                      <a:pt x="3" y="56"/>
                      <a:pt x="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70"/>
                      <a:pt x="32" y="72"/>
                      <a:pt x="35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66" y="72"/>
                      <a:pt x="68" y="70"/>
                      <a:pt x="70" y="68"/>
                    </a:cubicBezTo>
                    <a:cubicBezTo>
                      <a:pt x="75" y="56"/>
                      <a:pt x="75" y="56"/>
                      <a:pt x="75" y="5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5" y="56"/>
                      <a:pt x="96" y="55"/>
                      <a:pt x="97" y="54"/>
                    </a:cubicBezTo>
                    <a:cubicBezTo>
                      <a:pt x="98" y="53"/>
                      <a:pt x="98" y="52"/>
                      <a:pt x="98" y="51"/>
                    </a:cubicBezTo>
                    <a:cubicBezTo>
                      <a:pt x="84" y="3"/>
                      <a:pt x="84" y="3"/>
                      <a:pt x="84" y="3"/>
                    </a:cubicBezTo>
                    <a:cubicBezTo>
                      <a:pt x="83" y="1"/>
                      <a:pt x="82" y="0"/>
                      <a:pt x="80" y="0"/>
                    </a:cubicBezTo>
                    <a:close/>
                    <a:moveTo>
                      <a:pt x="82" y="48"/>
                    </a:moveTo>
                    <a:cubicBezTo>
                      <a:pt x="75" y="48"/>
                      <a:pt x="75" y="48"/>
                      <a:pt x="75" y="48"/>
                    </a:cubicBezTo>
                    <a:cubicBezTo>
                      <a:pt x="72" y="48"/>
                      <a:pt x="70" y="50"/>
                      <a:pt x="68" y="52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28" y="50"/>
                      <a:pt x="26" y="48"/>
                      <a:pt x="23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2" y="48"/>
                      <a:pt x="92" y="48"/>
                      <a:pt x="92" y="48"/>
                    </a:cubicBezTo>
                    <a:lnTo>
                      <a:pt x="8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6" name="文本框 55"/>
          <p:cNvSpPr txBox="1"/>
          <p:nvPr/>
        </p:nvSpPr>
        <p:spPr>
          <a:xfrm>
            <a:off x="2494482" y="4827095"/>
            <a:ext cx="3005666" cy="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采样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10992990" y="4736376"/>
            <a:ext cx="3005666" cy="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保持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375715" y="2799132"/>
            <a:ext cx="3005666" cy="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编码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938358" y="2809135"/>
            <a:ext cx="3005666" cy="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量化</a:t>
            </a:r>
          </a:p>
        </p:txBody>
      </p:sp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341388" y="1002840"/>
            <a:ext cx="387664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模数转换的一般原理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341147" y="2294923"/>
            <a:ext cx="4040517" cy="4061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A/D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转换的一般步骤包括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取样（也称采样）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保持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量化</a:t>
            </a:r>
            <a:endParaRPr lang="en-US" altLang="zh-CN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编码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32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个过程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4295800" y="1449830"/>
            <a:ext cx="3005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采样与保持</a:t>
            </a:r>
          </a:p>
        </p:txBody>
      </p:sp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341388" y="1002840"/>
            <a:ext cx="387664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模数转换的一般原理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367757" y="1872556"/>
            <a:ext cx="11515493" cy="11302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采样是将时间上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连续变化的信号，转换为时间上离散的信号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，即将时间上连续变化的模拟量转换为一系列等间隔的脉冲，脉冲的幅度取决于输入模拟量的大小。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FA43F8F-3861-0DF2-E62C-B32DCD4E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3817853"/>
            <a:ext cx="6744072" cy="279223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AC76516-FA0E-7312-7AB5-B558C3CE76A7}"/>
              </a:ext>
            </a:extLst>
          </p:cNvPr>
          <p:cNvSpPr txBox="1"/>
          <p:nvPr/>
        </p:nvSpPr>
        <p:spPr>
          <a:xfrm>
            <a:off x="388444" y="4042850"/>
            <a:ext cx="4902144" cy="23422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图中左边输入的是原始的模拟信号</a:t>
            </a:r>
            <a:r>
              <a:rPr lang="en-US" altLang="zh-CN" sz="20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，一个脉冲过来使取样开关导通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右边就有输出</a:t>
            </a:r>
            <a:r>
              <a:rPr lang="en-US" altLang="zh-CN" sz="20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脉冲为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取样开关就断开，信号输出为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其中，</a:t>
            </a:r>
            <a:r>
              <a:rPr lang="en-US" altLang="zh-CN" sz="20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是采样周期。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9782A9-BB23-3FB1-BAFD-7EF719F850E1}"/>
              </a:ext>
            </a:extLst>
          </p:cNvPr>
          <p:cNvSpPr txBox="1"/>
          <p:nvPr/>
        </p:nvSpPr>
        <p:spPr>
          <a:xfrm>
            <a:off x="367757" y="3126223"/>
            <a:ext cx="11515493" cy="5762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采样过程如图</a:t>
            </a:r>
            <a:r>
              <a:rPr lang="en-US" altLang="zh-CN" dirty="0"/>
              <a:t>8.1.1</a:t>
            </a:r>
            <a:r>
              <a:rPr lang="zh-CN" altLang="en-US" dirty="0"/>
              <a:t>：采样是用一个</a:t>
            </a:r>
            <a:r>
              <a:rPr lang="zh-CN" altLang="en-US" dirty="0">
                <a:solidFill>
                  <a:srgbClr val="C00000"/>
                </a:solidFill>
              </a:rPr>
              <a:t>采样脉冲序列</a:t>
            </a:r>
            <a:r>
              <a:rPr lang="en-US" altLang="zh-CN" dirty="0">
                <a:solidFill>
                  <a:srgbClr val="C00000"/>
                </a:solidFill>
              </a:rPr>
              <a:t>S(t)</a:t>
            </a:r>
            <a:r>
              <a:rPr lang="zh-CN" altLang="en-US" dirty="0"/>
              <a:t>控制一个开关电路。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200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338250" y="1950265"/>
            <a:ext cx="3005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、采样与保持</a:t>
            </a:r>
          </a:p>
        </p:txBody>
      </p:sp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341388" y="1002840"/>
            <a:ext cx="387664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模数转换的一般原理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338250" y="2670887"/>
            <a:ext cx="11515493" cy="14189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图中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基本反映了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的波形变化。</a:t>
            </a:r>
            <a:endParaRPr lang="en-US" altLang="zh-CN" sz="2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增大，采样信号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是否会丢失原信号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的信息呢？</a:t>
            </a:r>
            <a:endParaRPr lang="en-US" altLang="zh-CN" sz="2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很明显当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增大到一定的时候，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会丢失原信号</a:t>
            </a:r>
            <a:r>
              <a:rPr lang="en-US" altLang="zh-CN" sz="20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的信息。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香农采样定理对</a:t>
            </a:r>
            <a:r>
              <a:rPr lang="en-US" altLang="zh-CN" sz="2000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kern="100" baseline="-25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给出了约束条件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C76516-FA0E-7312-7AB5-B558C3CE76A7}"/>
              </a:ext>
            </a:extLst>
          </p:cNvPr>
          <p:cNvSpPr txBox="1"/>
          <p:nvPr/>
        </p:nvSpPr>
        <p:spPr>
          <a:xfrm>
            <a:off x="338252" y="4221555"/>
            <a:ext cx="11515491" cy="14189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采样定理：对于频带受限的模拟信号，当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采样频率</a:t>
            </a:r>
            <a:r>
              <a:rPr lang="en-US" altLang="zh-CN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不小于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输入模拟信号频谱中最高频率</a:t>
            </a:r>
            <a:r>
              <a:rPr lang="en-US" altLang="zh-CN" sz="20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Fmax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的两倍时，采样信号可以不失真地恢复原模拟信号。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公式表示为： 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 ≥ 2 Fmax                                    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8.1.1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D7179E-9C4C-8810-0171-3176502E6C40}"/>
              </a:ext>
            </a:extLst>
          </p:cNvPr>
          <p:cNvSpPr txBox="1"/>
          <p:nvPr/>
        </p:nvSpPr>
        <p:spPr>
          <a:xfrm>
            <a:off x="338253" y="5784118"/>
            <a:ext cx="11515491" cy="9572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这里有一个条件，就是频带受限的模拟信号，即是它的频带要求在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fmax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以内。</a:t>
            </a:r>
            <a:endParaRPr lang="en-US" altLang="zh-CN" sz="2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但并不是所有的模拟信号都适应的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频带不受限的模拟信号需要处理之后才适用。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8F3AD3-13FB-E8E9-76E9-80A3D048A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4174"/>
            <a:ext cx="5856858" cy="24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6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4511824" y="1090807"/>
            <a:ext cx="3005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采样与保持</a:t>
            </a:r>
          </a:p>
        </p:txBody>
      </p:sp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341388" y="1002840"/>
            <a:ext cx="387664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模数转换的一般原理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443230" y="1880596"/>
            <a:ext cx="11515493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模拟信号经采样后，得到一系列的样值脉冲。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采样脉冲宽度</a:t>
            </a:r>
            <a:r>
              <a:rPr lang="en-US" altLang="zh-CN" sz="2400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τ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一般是很短暂的，在下一个采样脉冲到来之前，应暂时保持样值脉冲的幅度。因此，在取样电路之后须加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保持电路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（图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8.1.2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C76516-FA0E-7312-7AB5-B558C3CE76A7}"/>
              </a:ext>
            </a:extLst>
          </p:cNvPr>
          <p:cNvSpPr txBox="1"/>
          <p:nvPr/>
        </p:nvSpPr>
        <p:spPr>
          <a:xfrm>
            <a:off x="443230" y="4241177"/>
            <a:ext cx="4648123" cy="2092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algn="just">
              <a:spcBef>
                <a:spcPts val="1200"/>
              </a:spcBef>
              <a:buFont typeface="Wingdings" panose="05000000000000000000" pitchFamily="2" charset="2"/>
              <a:buChar char="ü"/>
              <a:defRPr b="1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图中，场效应管</a:t>
            </a:r>
            <a:r>
              <a:rPr lang="en-US" altLang="zh-CN" dirty="0"/>
              <a:t>VT</a:t>
            </a:r>
            <a:r>
              <a:rPr lang="zh-CN" altLang="en-US" dirty="0"/>
              <a:t>为采样门，电容</a:t>
            </a:r>
            <a:r>
              <a:rPr lang="en-US" altLang="zh-CN" dirty="0"/>
              <a:t>C</a:t>
            </a:r>
            <a:r>
              <a:rPr lang="zh-CN" altLang="en-US" dirty="0"/>
              <a:t>为保持电容，运算放大器为跟随器，起缓冲隔离作用</a:t>
            </a:r>
            <a:endParaRPr lang="en-US" altLang="zh-CN" dirty="0"/>
          </a:p>
          <a:p>
            <a:r>
              <a:rPr lang="en-US" altLang="zh-CN" dirty="0"/>
              <a:t>VT</a:t>
            </a:r>
            <a:r>
              <a:rPr lang="zh-CN" altLang="en-US" dirty="0"/>
              <a:t>导通，</a:t>
            </a:r>
            <a:r>
              <a:rPr lang="en-US" altLang="zh-CN" dirty="0"/>
              <a:t>C</a:t>
            </a:r>
            <a:r>
              <a:rPr lang="zh-CN" altLang="en-US" dirty="0"/>
              <a:t>充电采样；</a:t>
            </a:r>
            <a:r>
              <a:rPr lang="en-US" altLang="zh-CN" dirty="0"/>
              <a:t>VT</a:t>
            </a:r>
            <a:r>
              <a:rPr lang="zh-CN" altLang="en-US" dirty="0"/>
              <a:t>截止，容</a:t>
            </a:r>
            <a:r>
              <a:rPr lang="en-US" altLang="zh-CN" dirty="0"/>
              <a:t>C</a:t>
            </a:r>
            <a:r>
              <a:rPr lang="zh-CN" altLang="en-US" dirty="0"/>
              <a:t>上电压保持不变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4C8A76-A464-F4C0-FA5C-E4AA7373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320" y="4221087"/>
            <a:ext cx="6727403" cy="20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4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4698143" y="1063809"/>
            <a:ext cx="3005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、量化与编码</a:t>
            </a:r>
          </a:p>
        </p:txBody>
      </p:sp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341388" y="1002840"/>
            <a:ext cx="387664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模数转换的一般原理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341388" y="1732395"/>
            <a:ext cx="11515493" cy="15081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将采样后的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样值电平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归化到与之接近的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离散电平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上，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这个过程称为量化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指定的离散电平称为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量化电平</a:t>
            </a:r>
            <a:r>
              <a:rPr lang="en-US" altLang="zh-CN" sz="2400" b="1" i="1" kern="1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400" b="1" kern="100" baseline="-250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用二进制数码来表示各个量化电平的过程称为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AC76516-FA0E-7312-7AB5-B558C3CE76A7}"/>
                  </a:ext>
                </a:extLst>
              </p:cNvPr>
              <p:cNvSpPr txBox="1"/>
              <p:nvPr/>
            </p:nvSpPr>
            <p:spPr>
              <a:xfrm>
                <a:off x="338253" y="4820541"/>
                <a:ext cx="11515492" cy="170027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取样保持后，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未量化的</a:t>
                </a:r>
                <a:r>
                  <a:rPr lang="en-US" altLang="zh-CN" sz="2400" b="1" i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en-US" altLang="zh-CN" sz="2400" b="1" kern="100" baseline="-250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 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量化电平</a:t>
                </a:r>
                <a:r>
                  <a:rPr lang="en-US" altLang="zh-CN" sz="2400" b="1" i="1" kern="100" dirty="0" err="1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Uq</a:t>
                </a:r>
                <a:r>
                  <a:rPr lang="en-US" altLang="zh-CN" sz="2400" b="1" i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通常是不相等的，</a:t>
                </a:r>
                <a:endParaRPr lang="en-US" altLang="zh-CN" sz="2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b="1" kern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其差值称为量化误差：</a:t>
                </a:r>
                <a:r>
                  <a:rPr lang="en-US" altLang="zh-CN" b="1" kern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zh-CN" altLang="en-US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𝐎</m:t>
                        </m:r>
                      </m:sub>
                    </m:sSub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</a:t>
                </a:r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(8.1.4)</a:t>
                </a:r>
                <a:endParaRPr lang="zh-CN" altLang="en-US" sz="2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量化误差：                       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≤±</m:t>
                    </m:r>
                    <m:f>
                      <m:fPr>
                        <m:ctrlPr>
                          <a:rPr lang="zh-CN" alt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𝜟</m:t>
                        </m:r>
                      </m:num>
                      <m:den>
                        <m:r>
                          <a:rPr lang="zh-CN" alt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   （</a:t>
                </a:r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8.1.5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AC76516-FA0E-7312-7AB5-B558C3CE7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53" y="4820541"/>
                <a:ext cx="11515492" cy="1700274"/>
              </a:xfrm>
              <a:prstGeom prst="rect">
                <a:avLst/>
              </a:prstGeom>
              <a:blipFill>
                <a:blip r:embed="rId3"/>
                <a:stretch>
                  <a:fillRect l="-688" t="-2867" b="-2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7179E-9C4C-8810-0171-3176502E6C40}"/>
                  </a:ext>
                </a:extLst>
              </p:cNvPr>
              <p:cNvSpPr txBox="1"/>
              <p:nvPr/>
            </p:nvSpPr>
            <p:spPr>
              <a:xfrm>
                <a:off x="338253" y="3511366"/>
                <a:ext cx="11515492" cy="113806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两个量化电平之间的差值称为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量化单位</a:t>
                </a:r>
                <a:r>
                  <a:rPr lang="en-US" altLang="zh-CN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Δ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。位数越多，量化等级越细，</a:t>
                </a:r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Δ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就越小。</a:t>
                </a:r>
                <a:endParaRPr lang="en-US" altLang="zh-CN" sz="2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假设位数是</a:t>
                </a:r>
                <a:r>
                  <a:rPr lang="en-US" altLang="zh-CN" sz="2400" b="1" i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、电压最大值为</a:t>
                </a:r>
                <a:r>
                  <a:rPr lang="en-US" altLang="zh-CN" sz="2400" b="1" i="1" kern="1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2400" b="1" kern="100" baseline="-250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𝜟</m:t>
                    </m:r>
                    <m:r>
                      <a:rPr lang="zh-CN" alt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zh-CN" altLang="en-US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zh-CN" alt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zh-CN" altLang="en-US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(8.1.3)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7179E-9C4C-8810-0171-3176502E6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53" y="3511366"/>
                <a:ext cx="11515492" cy="1138068"/>
              </a:xfrm>
              <a:prstGeom prst="rect">
                <a:avLst/>
              </a:prstGeom>
              <a:blipFill>
                <a:blip r:embed="rId4"/>
                <a:stretch>
                  <a:fillRect l="-688" t="-4278" b="-4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对象 4">
            <a:extLst>
              <a:ext uri="{FF2B5EF4-FFF2-40B4-BE49-F238E27FC236}">
                <a16:creationId xmlns:a16="http://schemas.microsoft.com/office/drawing/2014/main" id="{C3DA6535-2238-8A72-AE8F-3011B7A14F97}"/>
              </a:ext>
            </a:extLst>
          </p:cNvPr>
          <p:cNvSpPr txBox="1"/>
          <p:nvPr/>
        </p:nvSpPr>
        <p:spPr>
          <a:xfrm>
            <a:off x="5625858" y="3426849"/>
            <a:ext cx="1152525" cy="9413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398016D-4EB8-6925-DE37-A69FB1458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710" y="90100"/>
            <a:ext cx="992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68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13" name="42 Rectángulo">
            <a:extLst>
              <a:ext uri="{FF2B5EF4-FFF2-40B4-BE49-F238E27FC236}">
                <a16:creationId xmlns:a16="http://schemas.microsoft.com/office/drawing/2014/main" id="{381023E0-0736-EA29-6C48-9818DCD3CD65}"/>
              </a:ext>
            </a:extLst>
          </p:cNvPr>
          <p:cNvSpPr/>
          <p:nvPr/>
        </p:nvSpPr>
        <p:spPr>
          <a:xfrm>
            <a:off x="140207" y="1002840"/>
            <a:ext cx="5019689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8.1.2 A/D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转换器的主要电路形式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34B9D-98F8-E62F-D70D-C2C975A3BB0A}"/>
              </a:ext>
            </a:extLst>
          </p:cNvPr>
          <p:cNvSpPr txBox="1"/>
          <p:nvPr/>
        </p:nvSpPr>
        <p:spPr>
          <a:xfrm>
            <a:off x="140207" y="1768052"/>
            <a:ext cx="1200446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转换器有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直接转换法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间接转换法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两大类。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C76516-FA0E-7312-7AB5-B558C3CE76A7}"/>
              </a:ext>
            </a:extLst>
          </p:cNvPr>
          <p:cNvSpPr txBox="1"/>
          <p:nvPr/>
        </p:nvSpPr>
        <p:spPr>
          <a:xfrm>
            <a:off x="119337" y="2586878"/>
            <a:ext cx="12004464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直接转换法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通过一套基准电压与取样保持电压进行比较，直接将模拟量转换成数字量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其特点是转换速度高，转换精度容易保证，调准也比较方便。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直接转换法分为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并联比较型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反馈比较型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。反馈比较型分为计数型和逐次渐近型两类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7179E-9C4C-8810-0171-3176502E6C40}"/>
                  </a:ext>
                </a:extLst>
              </p:cNvPr>
              <p:cNvSpPr txBox="1"/>
              <p:nvPr/>
            </p:nvSpPr>
            <p:spPr>
              <a:xfrm>
                <a:off x="119337" y="4262631"/>
                <a:ext cx="12004464" cy="17235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间接转换法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将取样后的模拟信号，先转换成中间变量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</m:oMath>
                </a14:m>
                <a:r>
                  <a:rPr lang="en-US" altLang="zh-CN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然后再将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</m:oMath>
                </a14:m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转换成数字量。</a:t>
                </a:r>
                <a:endParaRPr lang="en-US" altLang="zh-CN" sz="2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其特点是转换速度较低，但转换精度可以较高，且抗干扰性强。</a:t>
                </a:r>
                <a:endParaRPr lang="en-US" altLang="zh-CN" sz="2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间接转换法又分为</a:t>
                </a:r>
                <a:r>
                  <a:rPr lang="en-US" altLang="zh-CN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V-T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变换型（双积分型）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V- F </a:t>
                </a:r>
                <a:r>
                  <a:rPr lang="zh-CN" altLang="en-US" sz="24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变换型</a:t>
                </a:r>
                <a:r>
                  <a:rPr lang="zh-CN" altLang="en-US" sz="2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7179E-9C4C-8810-0171-3176502E6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7" y="4262631"/>
                <a:ext cx="12004464" cy="1723549"/>
              </a:xfrm>
              <a:prstGeom prst="rect">
                <a:avLst/>
              </a:prstGeom>
              <a:blipFill>
                <a:blip r:embed="rId3"/>
                <a:stretch>
                  <a:fillRect l="-711" t="-2827" r="-762" b="-7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439A742-B3DE-5639-C683-526C7784D920}"/>
              </a:ext>
            </a:extLst>
          </p:cNvPr>
          <p:cNvSpPr txBox="1"/>
          <p:nvPr/>
        </p:nvSpPr>
        <p:spPr>
          <a:xfrm>
            <a:off x="119336" y="6283737"/>
            <a:ext cx="12004463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本书只介绍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直接并联比较型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转换器</a:t>
            </a:r>
            <a:endParaRPr lang="zh-CN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5447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58369">
            <a:extLst>
              <a:ext uri="{FF2B5EF4-FFF2-40B4-BE49-F238E27FC236}">
                <a16:creationId xmlns:a16="http://schemas.microsoft.com/office/drawing/2014/main" id="{34AC1624-6FF0-1DA0-96D9-6BD6E7A39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248" y="44451"/>
            <a:ext cx="26273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600">
                <a:solidFill>
                  <a:schemeClr val="bg1"/>
                </a:solidFill>
              </a:rPr>
              <a:t>广东工业大学  自动化学院</a:t>
            </a:r>
          </a:p>
        </p:txBody>
      </p:sp>
      <p:sp>
        <p:nvSpPr>
          <p:cNvPr id="21507" name="矩形 58370">
            <a:extLst>
              <a:ext uri="{FF2B5EF4-FFF2-40B4-BE49-F238E27FC236}">
                <a16:creationId xmlns:a16="http://schemas.microsoft.com/office/drawing/2014/main" id="{52883A2B-78A2-331C-D08C-99D7E1643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9231" y="6103020"/>
            <a:ext cx="529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500" b="1">
                <a:solidFill>
                  <a:srgbClr val="000000"/>
                </a:solidFill>
              </a:rPr>
              <a:t> 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58373" name="矩形 58372">
            <a:extLst>
              <a:ext uri="{FF2B5EF4-FFF2-40B4-BE49-F238E27FC236}">
                <a16:creationId xmlns:a16="http://schemas.microsoft.com/office/drawing/2014/main" id="{1C158BB6-9A04-66E4-431E-D32877944D0D}"/>
              </a:ext>
            </a:extLst>
          </p:cNvPr>
          <p:cNvSpPr/>
          <p:nvPr/>
        </p:nvSpPr>
        <p:spPr>
          <a:xfrm>
            <a:off x="768805" y="1387213"/>
            <a:ext cx="374491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1" charset="-122"/>
                <a:sym typeface="Arial" pitchFamily="34" charset="0"/>
              </a:rPr>
              <a:t>并联比较型ADC</a:t>
            </a:r>
            <a:endParaRPr lang="zh-CN" altLang="en-US" b="1" dirty="0">
              <a:solidFill>
                <a:schemeClr val="tx2"/>
              </a:solidFill>
              <a:latin typeface="Verdana" pitchFamily="34" charset="0"/>
              <a:sym typeface="Arial" pitchFamily="34" charset="0"/>
            </a:endParaRPr>
          </a:p>
        </p:txBody>
      </p:sp>
      <p:pic>
        <p:nvPicPr>
          <p:cNvPr id="58374" name="内容占位符 58373" descr="11-3-7">
            <a:extLst>
              <a:ext uri="{FF2B5EF4-FFF2-40B4-BE49-F238E27FC236}">
                <a16:creationId xmlns:a16="http://schemas.microsoft.com/office/drawing/2014/main" id="{EEA79CE6-DBB8-17F5-A772-77D0ED9F68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8"/>
          <a:stretch>
            <a:fillRect/>
          </a:stretch>
        </p:blipFill>
        <p:spPr>
          <a:xfrm>
            <a:off x="5663356" y="908720"/>
            <a:ext cx="6337300" cy="5567362"/>
          </a:xfrm>
        </p:spPr>
      </p:pic>
      <p:sp>
        <p:nvSpPr>
          <p:cNvPr id="58375" name="矩形 58374">
            <a:extLst>
              <a:ext uri="{FF2B5EF4-FFF2-40B4-BE49-F238E27FC236}">
                <a16:creationId xmlns:a16="http://schemas.microsoft.com/office/drawing/2014/main" id="{06913A30-CD4E-51AC-240B-138721948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056" y="980158"/>
            <a:ext cx="1296988" cy="5184775"/>
          </a:xfrm>
          <a:prstGeom prst="rect">
            <a:avLst/>
          </a:prstGeom>
          <a:noFill/>
          <a:ln w="50800">
            <a:solidFill>
              <a:srgbClr val="00CC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8376" name="矩形标注 58375">
            <a:extLst>
              <a:ext uri="{FF2B5EF4-FFF2-40B4-BE49-F238E27FC236}">
                <a16:creationId xmlns:a16="http://schemas.microsoft.com/office/drawing/2014/main" id="{5C3FE7EE-6AAB-4880-4835-9C6BD03F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135" y="288925"/>
            <a:ext cx="1800225" cy="396875"/>
          </a:xfrm>
          <a:prstGeom prst="wedgeRectCallout">
            <a:avLst>
              <a:gd name="adj1" fmla="val -64935"/>
              <a:gd name="adj2" fmla="val 238788"/>
            </a:avLst>
          </a:prstGeom>
          <a:solidFill>
            <a:srgbClr val="CCFFCC"/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电压比较器 </a:t>
            </a:r>
          </a:p>
        </p:txBody>
      </p:sp>
      <p:sp>
        <p:nvSpPr>
          <p:cNvPr id="58377" name="矩形标注 58376">
            <a:extLst>
              <a:ext uri="{FF2B5EF4-FFF2-40B4-BE49-F238E27FC236}">
                <a16:creationId xmlns:a16="http://schemas.microsoft.com/office/drawing/2014/main" id="{BC2DCBDE-18DE-5DF5-6933-E08848A43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00" y="6344493"/>
            <a:ext cx="2381250" cy="396875"/>
          </a:xfrm>
          <a:prstGeom prst="wedgeRectCallout">
            <a:avLst>
              <a:gd name="adj1" fmla="val -85867"/>
              <a:gd name="adj2" fmla="val -209998"/>
            </a:avLst>
          </a:prstGeom>
          <a:solidFill>
            <a:srgbClr val="CCFFCC"/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电阻构成分压器 </a:t>
            </a:r>
          </a:p>
        </p:txBody>
      </p:sp>
      <p:grpSp>
        <p:nvGrpSpPr>
          <p:cNvPr id="2" name="组合 58377">
            <a:extLst>
              <a:ext uri="{FF2B5EF4-FFF2-40B4-BE49-F238E27FC236}">
                <a16:creationId xmlns:a16="http://schemas.microsoft.com/office/drawing/2014/main" id="{E902269C-D156-F4CB-546C-B1FB3A3F39D4}"/>
              </a:ext>
            </a:extLst>
          </p:cNvPr>
          <p:cNvGrpSpPr>
            <a:grpSpLocks/>
          </p:cNvGrpSpPr>
          <p:nvPr/>
        </p:nvGrpSpPr>
        <p:grpSpPr bwMode="auto">
          <a:xfrm>
            <a:off x="284038" y="2084730"/>
            <a:ext cx="2771775" cy="1311275"/>
            <a:chOff x="0" y="0"/>
            <a:chExt cx="1746" cy="826"/>
          </a:xfrm>
        </p:grpSpPr>
        <p:sp>
          <p:nvSpPr>
            <p:cNvPr id="21546" name="文本框 58378">
              <a:extLst>
                <a:ext uri="{FF2B5EF4-FFF2-40B4-BE49-F238E27FC236}">
                  <a16:creationId xmlns:a16="http://schemas.microsoft.com/office/drawing/2014/main" id="{792571E9-513C-DBD5-1DF3-FD1EA2F3B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746" cy="826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latin typeface="宋体" panose="02010600030101010101" pitchFamily="2" charset="-122"/>
                </a:rPr>
                <a:t>电压比较器</a:t>
              </a:r>
            </a:p>
            <a:p>
              <a:pPr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U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+</a:t>
              </a:r>
              <a:r>
                <a:rPr lang="en-US" altLang="zh-CN" sz="2000" b="1" dirty="0">
                  <a:latin typeface="宋体" panose="02010600030101010101" pitchFamily="2" charset="-122"/>
                </a:rPr>
                <a:t>≥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U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-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时，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C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i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＝1；</a:t>
              </a:r>
            </a:p>
            <a:p>
              <a:pPr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U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+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＜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U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-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时，</a:t>
              </a:r>
              <a:r>
                <a:rPr lang="zh-CN" altLang="en-US" sz="2000" b="1" i="1" dirty="0">
                  <a:latin typeface="宋体" panose="02010600030101010101" pitchFamily="2" charset="-122"/>
                </a:rPr>
                <a:t>C</a:t>
              </a:r>
              <a:r>
                <a:rPr lang="zh-CN" altLang="en-US" sz="2000" b="1" baseline="-25000" dirty="0">
                  <a:latin typeface="宋体" panose="02010600030101010101" pitchFamily="2" charset="-122"/>
                </a:rPr>
                <a:t>i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＝0。</a:t>
              </a:r>
            </a:p>
          </p:txBody>
        </p:sp>
        <p:sp>
          <p:nvSpPr>
            <p:cNvPr id="21547" name="左大括号 58379">
              <a:extLst>
                <a:ext uri="{FF2B5EF4-FFF2-40B4-BE49-F238E27FC236}">
                  <a16:creationId xmlns:a16="http://schemas.microsoft.com/office/drawing/2014/main" id="{FB42A370-1E95-EF03-1441-DC51443B2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" y="392"/>
              <a:ext cx="45" cy="363"/>
            </a:xfrm>
            <a:prstGeom prst="leftBrace">
              <a:avLst>
                <a:gd name="adj1" fmla="val 6714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</a:t>
              </a:r>
            </a:p>
          </p:txBody>
        </p:sp>
      </p:grpSp>
      <p:grpSp>
        <p:nvGrpSpPr>
          <p:cNvPr id="3" name="组合 58380">
            <a:extLst>
              <a:ext uri="{FF2B5EF4-FFF2-40B4-BE49-F238E27FC236}">
                <a16:creationId xmlns:a16="http://schemas.microsoft.com/office/drawing/2014/main" id="{86CBDFA5-C11C-FAE0-951C-0AED28C853EE}"/>
              </a:ext>
            </a:extLst>
          </p:cNvPr>
          <p:cNvGrpSpPr>
            <a:grpSpLocks/>
          </p:cNvGrpSpPr>
          <p:nvPr/>
        </p:nvGrpSpPr>
        <p:grpSpPr bwMode="auto">
          <a:xfrm>
            <a:off x="3182144" y="1950132"/>
            <a:ext cx="1231900" cy="4032250"/>
            <a:chOff x="0" y="0"/>
            <a:chExt cx="776" cy="2689"/>
          </a:xfrm>
        </p:grpSpPr>
        <p:grpSp>
          <p:nvGrpSpPr>
            <p:cNvPr id="21531" name="组合 58381">
              <a:extLst>
                <a:ext uri="{FF2B5EF4-FFF2-40B4-BE49-F238E27FC236}">
                  <a16:creationId xmlns:a16="http://schemas.microsoft.com/office/drawing/2014/main" id="{116729DB-7B95-E8F3-D7C5-D1ABD20312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776" cy="2689"/>
              <a:chOff x="0" y="0"/>
              <a:chExt cx="776" cy="2689"/>
            </a:xfrm>
          </p:grpSpPr>
          <p:graphicFrame>
            <p:nvGraphicFramePr>
              <p:cNvPr id="21539" name="对象 58382">
                <a:extLst>
                  <a:ext uri="{FF2B5EF4-FFF2-40B4-BE49-F238E27FC236}">
                    <a16:creationId xmlns:a16="http://schemas.microsoft.com/office/drawing/2014/main" id="{0C2BDE13-7DAB-E048-133E-F15F32E5A7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2412"/>
              <a:ext cx="77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623799" imgH="331032" progId="Equation.3">
                      <p:embed/>
                    </p:oleObj>
                  </mc:Choice>
                  <mc:Fallback>
                    <p:oleObj r:id="rId3" imgW="623799" imgH="331032" progId="Equation.3">
                      <p:embed/>
                      <p:pic>
                        <p:nvPicPr>
                          <p:cNvPr id="21539" name="对象 58382">
                            <a:extLst>
                              <a:ext uri="{FF2B5EF4-FFF2-40B4-BE49-F238E27FC236}">
                                <a16:creationId xmlns:a16="http://schemas.microsoft.com/office/drawing/2014/main" id="{0C2BDE13-7DAB-E048-133E-F15F32E5A7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412"/>
                            <a:ext cx="776" cy="277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对象 58383">
                <a:extLst>
                  <a:ext uri="{FF2B5EF4-FFF2-40B4-BE49-F238E27FC236}">
                    <a16:creationId xmlns:a16="http://schemas.microsoft.com/office/drawing/2014/main" id="{C01DD707-7BFD-6E1C-E665-CE2F2A37A7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2020"/>
              <a:ext cx="77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623799" imgH="331032" progId="Equation.3">
                      <p:embed/>
                    </p:oleObj>
                  </mc:Choice>
                  <mc:Fallback>
                    <p:oleObj r:id="rId5" imgW="623799" imgH="331032" progId="Equation.3">
                      <p:embed/>
                      <p:pic>
                        <p:nvPicPr>
                          <p:cNvPr id="21540" name="对象 58383">
                            <a:extLst>
                              <a:ext uri="{FF2B5EF4-FFF2-40B4-BE49-F238E27FC236}">
                                <a16:creationId xmlns:a16="http://schemas.microsoft.com/office/drawing/2014/main" id="{C01DD707-7BFD-6E1C-E665-CE2F2A37A70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20"/>
                            <a:ext cx="776" cy="277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1" name="对象 58384">
                <a:extLst>
                  <a:ext uri="{FF2B5EF4-FFF2-40B4-BE49-F238E27FC236}">
                    <a16:creationId xmlns:a16="http://schemas.microsoft.com/office/drawing/2014/main" id="{820D38B8-1ADC-43D4-56B9-E12EFEC0FD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605"/>
              <a:ext cx="77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623799" imgH="331032" progId="Equation.3">
                      <p:embed/>
                    </p:oleObj>
                  </mc:Choice>
                  <mc:Fallback>
                    <p:oleObj r:id="rId7" imgW="623799" imgH="331032" progId="Equation.3">
                      <p:embed/>
                      <p:pic>
                        <p:nvPicPr>
                          <p:cNvPr id="21541" name="对象 58384">
                            <a:extLst>
                              <a:ext uri="{FF2B5EF4-FFF2-40B4-BE49-F238E27FC236}">
                                <a16:creationId xmlns:a16="http://schemas.microsoft.com/office/drawing/2014/main" id="{820D38B8-1ADC-43D4-56B9-E12EFEC0FDC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605"/>
                            <a:ext cx="776" cy="278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2" name="对象 58385">
                <a:extLst>
                  <a:ext uri="{FF2B5EF4-FFF2-40B4-BE49-F238E27FC236}">
                    <a16:creationId xmlns:a16="http://schemas.microsoft.com/office/drawing/2014/main" id="{990EBA27-D1CE-E5B7-C8C1-662D805C40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77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623799" imgH="331032" progId="Equation.3">
                      <p:embed/>
                    </p:oleObj>
                  </mc:Choice>
                  <mc:Fallback>
                    <p:oleObj r:id="rId9" imgW="623799" imgH="331032" progId="Equation.3">
                      <p:embed/>
                      <p:pic>
                        <p:nvPicPr>
                          <p:cNvPr id="21542" name="对象 58385">
                            <a:extLst>
                              <a:ext uri="{FF2B5EF4-FFF2-40B4-BE49-F238E27FC236}">
                                <a16:creationId xmlns:a16="http://schemas.microsoft.com/office/drawing/2014/main" id="{990EBA27-D1CE-E5B7-C8C1-662D805C40A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776" cy="278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3" name="对象 58386">
                <a:extLst>
                  <a:ext uri="{FF2B5EF4-FFF2-40B4-BE49-F238E27FC236}">
                    <a16:creationId xmlns:a16="http://schemas.microsoft.com/office/drawing/2014/main" id="{42E72EA6-0118-D00B-9EF0-1EA48C1BC8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204"/>
              <a:ext cx="77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623799" imgH="331032" progId="Equation.3">
                      <p:embed/>
                    </p:oleObj>
                  </mc:Choice>
                  <mc:Fallback>
                    <p:oleObj r:id="rId11" imgW="623799" imgH="331032" progId="Equation.3">
                      <p:embed/>
                      <p:pic>
                        <p:nvPicPr>
                          <p:cNvPr id="21543" name="对象 58386">
                            <a:extLst>
                              <a:ext uri="{FF2B5EF4-FFF2-40B4-BE49-F238E27FC236}">
                                <a16:creationId xmlns:a16="http://schemas.microsoft.com/office/drawing/2014/main" id="{42E72EA6-0118-D00B-9EF0-1EA48C1BC80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204"/>
                            <a:ext cx="776" cy="277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4" name="对象 58387">
                <a:extLst>
                  <a:ext uri="{FF2B5EF4-FFF2-40B4-BE49-F238E27FC236}">
                    <a16:creationId xmlns:a16="http://schemas.microsoft.com/office/drawing/2014/main" id="{E62C6E0F-739F-9C36-B4A3-6D41ABB1E5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806"/>
              <a:ext cx="77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623799" imgH="331032" progId="Equation.3">
                      <p:embed/>
                    </p:oleObj>
                  </mc:Choice>
                  <mc:Fallback>
                    <p:oleObj r:id="rId13" imgW="623799" imgH="331032" progId="Equation.3">
                      <p:embed/>
                      <p:pic>
                        <p:nvPicPr>
                          <p:cNvPr id="21544" name="对象 58387">
                            <a:extLst>
                              <a:ext uri="{FF2B5EF4-FFF2-40B4-BE49-F238E27FC236}">
                                <a16:creationId xmlns:a16="http://schemas.microsoft.com/office/drawing/2014/main" id="{E62C6E0F-739F-9C36-B4A3-6D41ABB1E5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806"/>
                            <a:ext cx="776" cy="277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5" name="对象 58388">
                <a:extLst>
                  <a:ext uri="{FF2B5EF4-FFF2-40B4-BE49-F238E27FC236}">
                    <a16:creationId xmlns:a16="http://schemas.microsoft.com/office/drawing/2014/main" id="{2FD895E9-063E-C221-323A-AC4C8FA4FC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394"/>
              <a:ext cx="77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623799" imgH="331032" progId="Equation.3">
                      <p:embed/>
                    </p:oleObj>
                  </mc:Choice>
                  <mc:Fallback>
                    <p:oleObj r:id="rId15" imgW="623799" imgH="331032" progId="Equation.3">
                      <p:embed/>
                      <p:pic>
                        <p:nvPicPr>
                          <p:cNvPr id="21545" name="对象 58388">
                            <a:extLst>
                              <a:ext uri="{FF2B5EF4-FFF2-40B4-BE49-F238E27FC236}">
                                <a16:creationId xmlns:a16="http://schemas.microsoft.com/office/drawing/2014/main" id="{2FD895E9-063E-C221-323A-AC4C8FA4FC5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394"/>
                            <a:ext cx="776" cy="278"/>
                          </a:xfrm>
                          <a:prstGeom prst="rect">
                            <a:avLst/>
                          </a:prstGeom>
                          <a:solidFill>
                            <a:srgbClr val="FFFF99">
                              <a:alpha val="50195"/>
                            </a:srgbClr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32" name="椭圆 58389">
              <a:extLst>
                <a:ext uri="{FF2B5EF4-FFF2-40B4-BE49-F238E27FC236}">
                  <a16:creationId xmlns:a16="http://schemas.microsoft.com/office/drawing/2014/main" id="{F3475470-F715-B18A-945F-3B233EFF4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96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3" name="椭圆 58390">
              <a:extLst>
                <a:ext uri="{FF2B5EF4-FFF2-40B4-BE49-F238E27FC236}">
                  <a16:creationId xmlns:a16="http://schemas.microsoft.com/office/drawing/2014/main" id="{FECC0B6C-E361-8A12-C197-BB88C087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516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4" name="椭圆 58391">
              <a:extLst>
                <a:ext uri="{FF2B5EF4-FFF2-40B4-BE49-F238E27FC236}">
                  <a16:creationId xmlns:a16="http://schemas.microsoft.com/office/drawing/2014/main" id="{9E445936-07BA-91B0-6855-41224260B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910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5" name="椭圆 58392">
              <a:extLst>
                <a:ext uri="{FF2B5EF4-FFF2-40B4-BE49-F238E27FC236}">
                  <a16:creationId xmlns:a16="http://schemas.microsoft.com/office/drawing/2014/main" id="{0729DD81-56B5-8BB1-6C97-1EB78FF01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" y="1315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6" name="椭圆 58393">
              <a:extLst>
                <a:ext uri="{FF2B5EF4-FFF2-40B4-BE49-F238E27FC236}">
                  <a16:creationId xmlns:a16="http://schemas.microsoft.com/office/drawing/2014/main" id="{86A1012B-156B-8D05-9725-4520D5BF9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1708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7" name="椭圆 58394">
              <a:extLst>
                <a:ext uri="{FF2B5EF4-FFF2-40B4-BE49-F238E27FC236}">
                  <a16:creationId xmlns:a16="http://schemas.microsoft.com/office/drawing/2014/main" id="{9B8D8204-A28A-CCD8-E0FB-176D6BA21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128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8" name="椭圆 58395">
              <a:extLst>
                <a:ext uri="{FF2B5EF4-FFF2-40B4-BE49-F238E27FC236}">
                  <a16:creationId xmlns:a16="http://schemas.microsoft.com/office/drawing/2014/main" id="{13987180-76FF-3D20-C5E6-669AC09A0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522"/>
              <a:ext cx="72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8397" name="矩形 58396">
            <a:extLst>
              <a:ext uri="{FF2B5EF4-FFF2-40B4-BE49-F238E27FC236}">
                <a16:creationId xmlns:a16="http://schemas.microsoft.com/office/drawing/2014/main" id="{D300100A-109E-317D-B684-F64246496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069" y="1413546"/>
            <a:ext cx="863600" cy="4535487"/>
          </a:xfrm>
          <a:prstGeom prst="rect">
            <a:avLst/>
          </a:prstGeom>
          <a:noFill/>
          <a:ln w="50800">
            <a:solidFill>
              <a:srgbClr val="FF66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8398" name="矩形标注 58397">
            <a:extLst>
              <a:ext uri="{FF2B5EF4-FFF2-40B4-BE49-F238E27FC236}">
                <a16:creationId xmlns:a16="http://schemas.microsoft.com/office/drawing/2014/main" id="{CEE82883-19E9-5C37-7DAD-46927518B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3607" y="308087"/>
            <a:ext cx="1223963" cy="396875"/>
          </a:xfrm>
          <a:prstGeom prst="wedgeRectCallout">
            <a:avLst>
              <a:gd name="adj1" fmla="val -173318"/>
              <a:gd name="adj2" fmla="val 321114"/>
            </a:avLst>
          </a:prstGeom>
          <a:solidFill>
            <a:srgbClr val="CCFFCC"/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寄存器 </a:t>
            </a:r>
          </a:p>
        </p:txBody>
      </p:sp>
      <p:sp>
        <p:nvSpPr>
          <p:cNvPr id="58399" name="矩形 58398">
            <a:extLst>
              <a:ext uri="{FF2B5EF4-FFF2-40B4-BE49-F238E27FC236}">
                <a16:creationId xmlns:a16="http://schemas.microsoft.com/office/drawing/2014/main" id="{4169FA17-30E9-B581-C31E-C9399021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107" y="1486570"/>
            <a:ext cx="2447925" cy="4464050"/>
          </a:xfrm>
          <a:prstGeom prst="rect">
            <a:avLst/>
          </a:prstGeom>
          <a:noFill/>
          <a:ln w="50800">
            <a:solidFill>
              <a:srgbClr val="0000FF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8400" name="矩形标注 58399">
            <a:extLst>
              <a:ext uri="{FF2B5EF4-FFF2-40B4-BE49-F238E27FC236}">
                <a16:creationId xmlns:a16="http://schemas.microsoft.com/office/drawing/2014/main" id="{094FA399-C956-4A61-858A-C5285A4F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7769" y="980158"/>
            <a:ext cx="1223962" cy="396875"/>
          </a:xfrm>
          <a:prstGeom prst="wedgeRectCallout">
            <a:avLst>
              <a:gd name="adj1" fmla="val -75782"/>
              <a:gd name="adj2" fmla="val 95514"/>
            </a:avLst>
          </a:prstGeom>
          <a:solidFill>
            <a:srgbClr val="CCFFCC"/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编码器 </a:t>
            </a:r>
          </a:p>
        </p:txBody>
      </p:sp>
      <p:sp>
        <p:nvSpPr>
          <p:cNvPr id="58401" name="文本框 58400">
            <a:extLst>
              <a:ext uri="{FF2B5EF4-FFF2-40B4-BE49-F238E27FC236}">
                <a16:creationId xmlns:a16="http://schemas.microsoft.com/office/drawing/2014/main" id="{21A23F46-24F8-97BE-AF9C-0D8D058E4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" y="3524591"/>
            <a:ext cx="2771775" cy="2431435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量化电平依据有舍有入划分为7个电平。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量化单位为：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Δ=(2/15)</a:t>
            </a:r>
            <a:r>
              <a:rPr lang="zh-CN" altLang="en-US" sz="2000" b="1" i="1" dirty="0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zh-CN" altLang="en-US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REF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量化误差为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|</a:t>
            </a:r>
            <a:r>
              <a:rPr lang="el-GR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ε</a:t>
            </a:r>
            <a:r>
              <a:rPr lang="zh-CN" altLang="en-US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max</a:t>
            </a: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|= (1/15)</a:t>
            </a:r>
            <a:r>
              <a:rPr lang="zh-CN" altLang="en-US" sz="2000" b="1" i="1" dirty="0">
                <a:solidFill>
                  <a:srgbClr val="FF0000"/>
                </a:solidFill>
              </a:rPr>
              <a:t>V</a:t>
            </a:r>
            <a:r>
              <a:rPr lang="zh-CN" altLang="en-US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REF</a:t>
            </a:r>
          </a:p>
        </p:txBody>
      </p:sp>
      <p:sp>
        <p:nvSpPr>
          <p:cNvPr id="58402" name="直接连接符 58401">
            <a:extLst>
              <a:ext uri="{FF2B5EF4-FFF2-40B4-BE49-F238E27FC236}">
                <a16:creationId xmlns:a16="http://schemas.microsoft.com/office/drawing/2014/main" id="{3B39892D-086A-A6E8-E213-0C1B62862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2281" y="1773907"/>
            <a:ext cx="5032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3" name="直接连接符 58402">
            <a:extLst>
              <a:ext uri="{FF2B5EF4-FFF2-40B4-BE49-F238E27FC236}">
                <a16:creationId xmlns:a16="http://schemas.microsoft.com/office/drawing/2014/main" id="{FE743F48-800E-F5DA-A6D7-5D4003DDB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1773907"/>
            <a:ext cx="1587" cy="36004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4" name="直接连接符 58403">
            <a:extLst>
              <a:ext uri="{FF2B5EF4-FFF2-40B4-BE49-F238E27FC236}">
                <a16:creationId xmlns:a16="http://schemas.microsoft.com/office/drawing/2014/main" id="{944320E8-75DB-7E33-F02B-9CCFA63ED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081" y="1773907"/>
            <a:ext cx="5032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5" name="直接连接符 58404">
            <a:extLst>
              <a:ext uri="{FF2B5EF4-FFF2-40B4-BE49-F238E27FC236}">
                <a16:creationId xmlns:a16="http://schemas.microsoft.com/office/drawing/2014/main" id="{342F4316-EFDB-D795-1E2C-1FAEC2890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2348582"/>
            <a:ext cx="504825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6" name="直接连接符 58405">
            <a:extLst>
              <a:ext uri="{FF2B5EF4-FFF2-40B4-BE49-F238E27FC236}">
                <a16:creationId xmlns:a16="http://schemas.microsoft.com/office/drawing/2014/main" id="{CF82F1F3-7C2E-964F-07D3-AA2065627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2924846"/>
            <a:ext cx="504825" cy="15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7" name="直接连接符 58406">
            <a:extLst>
              <a:ext uri="{FF2B5EF4-FFF2-40B4-BE49-F238E27FC236}">
                <a16:creationId xmlns:a16="http://schemas.microsoft.com/office/drawing/2014/main" id="{C32DD38E-2171-320C-AE6C-DF86FF571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3574132"/>
            <a:ext cx="5048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8" name="直接连接符 58407">
            <a:extLst>
              <a:ext uri="{FF2B5EF4-FFF2-40B4-BE49-F238E27FC236}">
                <a16:creationId xmlns:a16="http://schemas.microsoft.com/office/drawing/2014/main" id="{1653B859-7DA5-C6F0-1008-70A05C3BA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4148807"/>
            <a:ext cx="504825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09" name="直接连接符 58408">
            <a:extLst>
              <a:ext uri="{FF2B5EF4-FFF2-40B4-BE49-F238E27FC236}">
                <a16:creationId xmlns:a16="http://schemas.microsoft.com/office/drawing/2014/main" id="{73EAE979-5C26-34D0-D29B-B2073EA50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4798095"/>
            <a:ext cx="5048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10" name="直接连接符 58409">
            <a:extLst>
              <a:ext uri="{FF2B5EF4-FFF2-40B4-BE49-F238E27FC236}">
                <a16:creationId xmlns:a16="http://schemas.microsoft.com/office/drawing/2014/main" id="{1CAAA606-AE0E-D5F8-75B7-E6B1A1530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5520" y="5374357"/>
            <a:ext cx="5048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DB8AD4-F7F9-C0CF-1A1E-A2E3C2B3C4AD}"/>
              </a:ext>
            </a:extLst>
          </p:cNvPr>
          <p:cNvSpPr/>
          <p:nvPr/>
        </p:nvSpPr>
        <p:spPr>
          <a:xfrm>
            <a:off x="1217430" y="87484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27D1EE-2D83-2215-6E46-1DA5691DF901}"/>
              </a:ext>
            </a:extLst>
          </p:cNvPr>
          <p:cNvSpPr/>
          <p:nvPr/>
        </p:nvSpPr>
        <p:spPr>
          <a:xfrm>
            <a:off x="1344430" y="214484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88A235-E2BD-B10B-B0FC-7BA661A87285}"/>
              </a:ext>
            </a:extLst>
          </p:cNvPr>
          <p:cNvSpPr/>
          <p:nvPr/>
        </p:nvSpPr>
        <p:spPr>
          <a:xfrm>
            <a:off x="-150995" y="159874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37756F-F843-B843-405A-C1223D62A12A}"/>
              </a:ext>
            </a:extLst>
          </p:cNvPr>
          <p:cNvSpPr/>
          <p:nvPr/>
        </p:nvSpPr>
        <p:spPr>
          <a:xfrm>
            <a:off x="1263150" y="164319"/>
            <a:ext cx="5193214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---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并联比较型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ADC</a:t>
            </a:r>
          </a:p>
        </p:txBody>
      </p:sp>
      <p:sp>
        <p:nvSpPr>
          <p:cNvPr id="12" name="42 Rectángulo">
            <a:extLst>
              <a:ext uri="{FF2B5EF4-FFF2-40B4-BE49-F238E27FC236}">
                <a16:creationId xmlns:a16="http://schemas.microsoft.com/office/drawing/2014/main" id="{03F1BB33-FA7F-2664-EA5A-2AEBD6B43423}"/>
              </a:ext>
            </a:extLst>
          </p:cNvPr>
          <p:cNvSpPr/>
          <p:nvPr/>
        </p:nvSpPr>
        <p:spPr>
          <a:xfrm>
            <a:off x="0" y="830459"/>
            <a:ext cx="4818508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8.1.2 A/D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转换器的主要电路形式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8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8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8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8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4" presetClass="entr" presetSubtype="10" fill="hold" grpId="0" nodeType="afterEffect"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bldLvl="0"/>
      <p:bldP spid="58376" grpId="0" bldLvl="0" animBg="1"/>
      <p:bldP spid="58376" grpId="1" bldLvl="0" animBg="1"/>
      <p:bldP spid="58377" grpId="0" bldLvl="0" animBg="1"/>
      <p:bldP spid="58398" grpId="0" bldLvl="0" animBg="1"/>
      <p:bldP spid="58400" grpId="0" bldLvl="0" animBg="1"/>
      <p:bldP spid="58401" grpId="0" bldLvl="0" animBg="1"/>
      <p:bldP spid="1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67585">
            <a:extLst>
              <a:ext uri="{FF2B5EF4-FFF2-40B4-BE49-F238E27FC236}">
                <a16:creationId xmlns:a16="http://schemas.microsoft.com/office/drawing/2014/main" id="{48851A78-1813-7ECB-9F1C-3CB6E8BED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44451"/>
            <a:ext cx="26273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600">
                <a:solidFill>
                  <a:schemeClr val="bg1"/>
                </a:solidFill>
              </a:rPr>
              <a:t>广东工业大学  自动化学院</a:t>
            </a:r>
          </a:p>
        </p:txBody>
      </p:sp>
      <p:sp>
        <p:nvSpPr>
          <p:cNvPr id="67589" name="文本框 67588">
            <a:extLst>
              <a:ext uri="{FF2B5EF4-FFF2-40B4-BE49-F238E27FC236}">
                <a16:creationId xmlns:a16="http://schemas.microsoft.com/office/drawing/2014/main" id="{F6E1CDE7-744C-A77C-644A-9DA0000E3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644103"/>
            <a:ext cx="11521280" cy="923330"/>
          </a:xfrm>
          <a:prstGeom prst="rect">
            <a:avLst/>
          </a:prstGeom>
          <a:solidFill>
            <a:schemeClr val="accent5">
              <a:lumMod val="20000"/>
              <a:lumOff val="80000"/>
              <a:alpha val="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楷体_GB2312" pitchFamily="49" charset="-122"/>
                <a:ea typeface="楷体_GB2312" pitchFamily="49" charset="-122"/>
              </a:rPr>
              <a:t>根据</a:t>
            </a:r>
            <a:r>
              <a:rPr lang="zh-CN" altLang="en-US" sz="2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各比较器</a:t>
            </a:r>
            <a:r>
              <a:rPr lang="zh-CN" altLang="en-US" sz="2200" b="1" dirty="0">
                <a:latin typeface="楷体_GB2312" pitchFamily="49" charset="-122"/>
                <a:ea typeface="楷体_GB2312" pitchFamily="49" charset="-122"/>
              </a:rPr>
              <a:t>的参考电压值，可以确定输入模拟电压值与各比较器输出状态的关系</a:t>
            </a:r>
            <a:endParaRPr lang="en-US" altLang="zh-CN" sz="22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楷体_GB2312" pitchFamily="49" charset="-122"/>
                <a:ea typeface="楷体_GB2312" pitchFamily="49" charset="-122"/>
              </a:rPr>
              <a:t>比较器的输出状态由</a:t>
            </a:r>
            <a:r>
              <a:rPr lang="en-US" altLang="zh-CN" sz="22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200" b="1" dirty="0">
                <a:latin typeface="楷体_GB2312" pitchFamily="49" charset="-122"/>
                <a:ea typeface="楷体_GB2312" pitchFamily="49" charset="-122"/>
              </a:rPr>
              <a:t>触发器存储，经优先编码器编码，得到数字量输出。 </a:t>
            </a:r>
          </a:p>
        </p:txBody>
      </p:sp>
      <p:grpSp>
        <p:nvGrpSpPr>
          <p:cNvPr id="2" name="组合 67589">
            <a:extLst>
              <a:ext uri="{FF2B5EF4-FFF2-40B4-BE49-F238E27FC236}">
                <a16:creationId xmlns:a16="http://schemas.microsoft.com/office/drawing/2014/main" id="{0516367F-0874-01D5-8A13-FE64A284B6DC}"/>
              </a:ext>
            </a:extLst>
          </p:cNvPr>
          <p:cNvGrpSpPr>
            <a:grpSpLocks/>
          </p:cNvGrpSpPr>
          <p:nvPr/>
        </p:nvGrpSpPr>
        <p:grpSpPr bwMode="auto">
          <a:xfrm>
            <a:off x="1559496" y="2599691"/>
            <a:ext cx="8822277" cy="4204333"/>
            <a:chOff x="0" y="0"/>
            <a:chExt cx="13218" cy="6790"/>
          </a:xfrm>
        </p:grpSpPr>
        <p:sp>
          <p:nvSpPr>
            <p:cNvPr id="22535" name="矩形 67590">
              <a:extLst>
                <a:ext uri="{FF2B5EF4-FFF2-40B4-BE49-F238E27FC236}">
                  <a16:creationId xmlns:a16="http://schemas.microsoft.com/office/drawing/2014/main" id="{DD7572CC-F324-C42D-BA6D-B3F763A57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" y="0"/>
              <a:ext cx="13198" cy="67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2536" name="直接连接符 67591">
              <a:extLst>
                <a:ext uri="{FF2B5EF4-FFF2-40B4-BE49-F238E27FC236}">
                  <a16:creationId xmlns:a16="http://schemas.microsoft.com/office/drawing/2014/main" id="{A7FE0FC0-BECB-6056-1A4F-4DCAFE96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" y="1037"/>
              <a:ext cx="131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37" name="文本框 67592">
              <a:extLst>
                <a:ext uri="{FF2B5EF4-FFF2-40B4-BE49-F238E27FC236}">
                  <a16:creationId xmlns:a16="http://schemas.microsoft.com/office/drawing/2014/main" id="{9BFDF5AF-C070-613E-E8FA-F4DEEE0A8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" y="88"/>
              <a:ext cx="13036" cy="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 dirty="0">
                  <a:sym typeface="Symbol" panose="05050102010706020507" pitchFamily="18" charset="2"/>
                </a:rPr>
                <a:t>             </a:t>
              </a:r>
              <a:r>
                <a:rPr lang="zh-CN" altLang="en-US" sz="1800" b="1" dirty="0">
                  <a:solidFill>
                    <a:schemeClr val="folHlink"/>
                  </a:solidFill>
                  <a:sym typeface="Symbol" panose="05050102010706020507" pitchFamily="18" charset="2"/>
                </a:rPr>
                <a:t>  </a:t>
              </a:r>
              <a:r>
                <a:rPr lang="en-US" altLang="zh-CN" sz="2800" b="1" i="1" dirty="0" err="1">
                  <a:solidFill>
                    <a:srgbClr val="CC3300"/>
                  </a:solidFill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en-US" altLang="zh-CN" sz="1800" b="1" baseline="-25000" dirty="0" err="1">
                  <a:solidFill>
                    <a:srgbClr val="CC3300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000" b="1" dirty="0">
                  <a:solidFill>
                    <a:srgbClr val="CC3300"/>
                  </a:solidFill>
                </a:rPr>
                <a:t>                           </a:t>
              </a:r>
              <a:r>
                <a:rPr lang="zh-CN" altLang="en-US" sz="2000" b="1" dirty="0">
                  <a:solidFill>
                    <a:srgbClr val="CC3300"/>
                  </a:solidFill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1 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2  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3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4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 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5 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6</a:t>
              </a:r>
              <a:r>
                <a:rPr lang="zh-CN" altLang="en-US" sz="1800" b="1" baseline="-25000" dirty="0">
                  <a:solidFill>
                    <a:srgbClr val="CC3300"/>
                  </a:solidFill>
                </a:rPr>
                <a:t>   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  </a:t>
              </a:r>
              <a:r>
                <a:rPr lang="en-US" altLang="zh-CN" sz="18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1800" b="1" baseline="-25000" dirty="0">
                  <a:solidFill>
                    <a:srgbClr val="CC3300"/>
                  </a:solidFill>
                </a:rPr>
                <a:t>7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       </a:t>
              </a:r>
              <a:r>
                <a:rPr lang="zh-CN" altLang="en-US" sz="2000" b="1" dirty="0">
                  <a:solidFill>
                    <a:srgbClr val="CC3300"/>
                  </a:solidFill>
                </a:rPr>
                <a:t>d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2 </a:t>
              </a:r>
              <a:r>
                <a:rPr lang="zh-CN" altLang="en-US" sz="2000" b="1" baseline="-25000" dirty="0">
                  <a:solidFill>
                    <a:srgbClr val="CC3300"/>
                  </a:solidFill>
                </a:rPr>
                <a:t> 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   </a:t>
              </a:r>
              <a:r>
                <a:rPr lang="zh-CN" altLang="en-US" sz="2000" b="1" dirty="0">
                  <a:solidFill>
                    <a:srgbClr val="CC3300"/>
                  </a:solidFill>
                </a:rPr>
                <a:t>d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1   </a:t>
              </a:r>
              <a:r>
                <a:rPr lang="zh-CN" altLang="en-US" sz="2000" b="1" baseline="-25000" dirty="0">
                  <a:solidFill>
                    <a:srgbClr val="CC3300"/>
                  </a:solidFill>
                </a:rPr>
                <a:t> 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 </a:t>
              </a:r>
              <a:r>
                <a:rPr lang="zh-CN" altLang="en-US" sz="2000" b="1" dirty="0">
                  <a:solidFill>
                    <a:srgbClr val="CC3300"/>
                  </a:solidFill>
                </a:rPr>
                <a:t>d</a:t>
              </a:r>
              <a:r>
                <a:rPr lang="en-US" altLang="zh-CN" sz="2000" b="1" baseline="-25000" dirty="0">
                  <a:solidFill>
                    <a:srgbClr val="CC3300"/>
                  </a:solidFill>
                </a:rPr>
                <a:t>0</a:t>
              </a:r>
            </a:p>
          </p:txBody>
        </p:sp>
        <p:sp>
          <p:nvSpPr>
            <p:cNvPr id="22538" name="直接连接符 67593">
              <a:extLst>
                <a:ext uri="{FF2B5EF4-FFF2-40B4-BE49-F238E27FC236}">
                  <a16:creationId xmlns:a16="http://schemas.microsoft.com/office/drawing/2014/main" id="{ABEB8051-092D-0DC9-7AE0-7571CE75C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0" y="10"/>
              <a:ext cx="0" cy="67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39" name="直接连接符 67594">
              <a:extLst>
                <a:ext uri="{FF2B5EF4-FFF2-40B4-BE49-F238E27FC236}">
                  <a16:creationId xmlns:a16="http://schemas.microsoft.com/office/drawing/2014/main" id="{3FC37982-D8D4-999C-0F17-72986F3D1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" y="1752"/>
              <a:ext cx="131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0" name="直接连接符 67595">
              <a:extLst>
                <a:ext uri="{FF2B5EF4-FFF2-40B4-BE49-F238E27FC236}">
                  <a16:creationId xmlns:a16="http://schemas.microsoft.com/office/drawing/2014/main" id="{751DB0FB-D256-5014-4043-B3B6F6428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75" y="7"/>
              <a:ext cx="0" cy="67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1" name="直接连接符 67596">
              <a:extLst>
                <a:ext uri="{FF2B5EF4-FFF2-40B4-BE49-F238E27FC236}">
                  <a16:creationId xmlns:a16="http://schemas.microsoft.com/office/drawing/2014/main" id="{7C48F83C-9ADF-0748-A1EE-8116B357B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" y="2417"/>
              <a:ext cx="1315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2" name="直接连接符 67597">
              <a:extLst>
                <a:ext uri="{FF2B5EF4-FFF2-40B4-BE49-F238E27FC236}">
                  <a16:creationId xmlns:a16="http://schemas.microsoft.com/office/drawing/2014/main" id="{1FDCC2CD-B404-18A6-B081-E5626226F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" y="3057"/>
              <a:ext cx="1320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3" name="直接连接符 67598">
              <a:extLst>
                <a:ext uri="{FF2B5EF4-FFF2-40B4-BE49-F238E27FC236}">
                  <a16:creationId xmlns:a16="http://schemas.microsoft.com/office/drawing/2014/main" id="{CAE8F771-5756-B442-11BC-18F4AF0E5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447"/>
              <a:ext cx="13155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4" name="直接连接符 67599">
              <a:extLst>
                <a:ext uri="{FF2B5EF4-FFF2-40B4-BE49-F238E27FC236}">
                  <a16:creationId xmlns:a16="http://schemas.microsoft.com/office/drawing/2014/main" id="{93185397-260B-0102-9C29-DC85EDCCE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" y="3707"/>
              <a:ext cx="1320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5" name="直接连接符 67600">
              <a:extLst>
                <a:ext uri="{FF2B5EF4-FFF2-40B4-BE49-F238E27FC236}">
                  <a16:creationId xmlns:a16="http://schemas.microsoft.com/office/drawing/2014/main" id="{239A12DD-2F55-BC2F-3786-F1BE5EA49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082"/>
              <a:ext cx="131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6" name="直接连接符 67601">
              <a:extLst>
                <a:ext uri="{FF2B5EF4-FFF2-40B4-BE49-F238E27FC236}">
                  <a16:creationId xmlns:a16="http://schemas.microsoft.com/office/drawing/2014/main" id="{B8611AF4-D54C-28D6-C9B9-B534D71E6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" y="5775"/>
              <a:ext cx="131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547" name="文本框 67602">
              <a:extLst>
                <a:ext uri="{FF2B5EF4-FFF2-40B4-BE49-F238E27FC236}">
                  <a16:creationId xmlns:a16="http://schemas.microsoft.com/office/drawing/2014/main" id="{C14411BF-3AAA-4467-B4E4-E0362AEF4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3832"/>
              <a:ext cx="13041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zh-CN" altLang="en-US" sz="2000" b="1" dirty="0"/>
                <a:t>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7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zh-CN" altLang="en-US" sz="2000" b="1" baseline="-25000" dirty="0">
                  <a:solidFill>
                    <a:srgbClr val="0000CC"/>
                  </a:solidFill>
                  <a:sym typeface="Symbol" panose="05050102010706020507" pitchFamily="18" charset="2"/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 9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             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0     0      0      1      1     1     1       1  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 0 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 0</a:t>
              </a:r>
              <a:r>
                <a:rPr lang="zh-CN" altLang="en-US" sz="2000" b="1" dirty="0"/>
                <a:t>       </a:t>
              </a:r>
            </a:p>
          </p:txBody>
        </p:sp>
        <p:sp>
          <p:nvSpPr>
            <p:cNvPr id="22548" name="文本框 67603">
              <a:extLst>
                <a:ext uri="{FF2B5EF4-FFF2-40B4-BE49-F238E27FC236}">
                  <a16:creationId xmlns:a16="http://schemas.microsoft.com/office/drawing/2014/main" id="{3C20F78D-40CF-763E-F3A9-CAAE597E0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" y="4400"/>
              <a:ext cx="13037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0000CC"/>
                  </a:solidFill>
                </a:rPr>
                <a:t>9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zh-CN" altLang="en-US" sz="2000" b="1" baseline="-25000" dirty="0">
                  <a:solidFill>
                    <a:srgbClr val="0000CC"/>
                  </a:solidFill>
                  <a:sym typeface="Symbol" panose="05050102010706020507" pitchFamily="18" charset="2"/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11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          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0     0      1      1      1     1     1       1     0     1</a:t>
              </a:r>
              <a:r>
                <a:rPr lang="zh-CN" altLang="en-US" sz="2000" b="1" dirty="0"/>
                <a:t>       </a:t>
              </a:r>
            </a:p>
          </p:txBody>
        </p:sp>
        <p:sp>
          <p:nvSpPr>
            <p:cNvPr id="22549" name="文本框 67604">
              <a:extLst>
                <a:ext uri="{FF2B5EF4-FFF2-40B4-BE49-F238E27FC236}">
                  <a16:creationId xmlns:a16="http://schemas.microsoft.com/office/drawing/2014/main" id="{BD92661F-09F9-82E8-6641-359B42CA4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" y="3153"/>
              <a:ext cx="13152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0000CC"/>
                  </a:solidFill>
                </a:rPr>
                <a:t> 5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7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             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0     0      0      0      1     1     1       0     1     1</a:t>
              </a:r>
              <a:r>
                <a:rPr lang="zh-CN" altLang="en-US" sz="2000" b="1" dirty="0"/>
                <a:t>       </a:t>
              </a:r>
            </a:p>
          </p:txBody>
        </p:sp>
        <p:sp>
          <p:nvSpPr>
            <p:cNvPr id="22550" name="文本框 67605">
              <a:extLst>
                <a:ext uri="{FF2B5EF4-FFF2-40B4-BE49-F238E27FC236}">
                  <a16:creationId xmlns:a16="http://schemas.microsoft.com/office/drawing/2014/main" id="{491C5FC0-5D46-66B6-0348-5D9CA7D9D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2358"/>
              <a:ext cx="13041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0000CC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3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REF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/15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  </a:t>
              </a:r>
              <a:r>
                <a:rPr lang="en-US" altLang="zh-CN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en-US" altLang="zh-CN" sz="2000" b="1" i="1" dirty="0" err="1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en-US" altLang="zh-CN" sz="2000" b="1" baseline="-25000" dirty="0" err="1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en-US" altLang="zh-CN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 </a:t>
              </a:r>
              <a:r>
                <a:rPr lang="en-US" altLang="zh-CN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</a:rPr>
                <a:t> </a:t>
              </a:r>
              <a:r>
                <a:rPr lang="en-US" altLang="zh-CN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5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/15          0     0      0      0      0     1     1       0     1     0 </a:t>
              </a:r>
            </a:p>
          </p:txBody>
        </p:sp>
        <p:sp>
          <p:nvSpPr>
            <p:cNvPr id="22551" name="文本框 67606">
              <a:extLst>
                <a:ext uri="{FF2B5EF4-FFF2-40B4-BE49-F238E27FC236}">
                  <a16:creationId xmlns:a16="http://schemas.microsoft.com/office/drawing/2014/main" id="{E9C361A4-35F1-40F9-D1B9-19E0A1E0A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" y="5079"/>
              <a:ext cx="13060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0000CC"/>
                  </a:solidFill>
                </a:rPr>
                <a:t>11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/15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en-US" altLang="zh-CN" sz="2000" b="1" i="1" dirty="0" err="1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en-US" altLang="zh-CN" sz="2000" b="1" baseline="-25000" dirty="0" err="1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en-US" altLang="zh-CN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 </a:t>
              </a:r>
              <a:r>
                <a:rPr lang="en-US" altLang="zh-CN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13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R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/15</a:t>
              </a:r>
              <a:r>
                <a:rPr lang="en-US" altLang="zh-CN" sz="2000" b="1" baseline="-25000" dirty="0">
                  <a:solidFill>
                    <a:srgbClr val="0000CC"/>
                  </a:solidFill>
                </a:rPr>
                <a:t>                 </a:t>
              </a:r>
              <a:r>
                <a:rPr lang="en-US" altLang="zh-CN" sz="2000" b="1" dirty="0">
                  <a:solidFill>
                    <a:srgbClr val="0000CC"/>
                  </a:solidFill>
                </a:rPr>
                <a:t>0     1      1      1      1     1     1       1     1     0</a:t>
              </a:r>
            </a:p>
          </p:txBody>
        </p:sp>
        <p:sp>
          <p:nvSpPr>
            <p:cNvPr id="22552" name="文本框 67607">
              <a:extLst>
                <a:ext uri="{FF2B5EF4-FFF2-40B4-BE49-F238E27FC236}">
                  <a16:creationId xmlns:a16="http://schemas.microsoft.com/office/drawing/2014/main" id="{04EAACEC-843B-6152-4D45-852F84E89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5987"/>
              <a:ext cx="13040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0000CC"/>
                  </a:solidFill>
                </a:rPr>
                <a:t>13V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zh-CN" altLang="en-US" sz="2000" b="1" baseline="-25000" dirty="0">
                  <a:solidFill>
                    <a:srgbClr val="0000CC"/>
                  </a:solidFill>
                  <a:sym typeface="Symbol" panose="05050102010706020507" pitchFamily="18" charset="2"/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           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1     1      1      1      1     1     1       1     1     1</a:t>
              </a:r>
              <a:r>
                <a:rPr lang="zh-CN" altLang="en-US" sz="2000" b="1" dirty="0"/>
                <a:t> </a:t>
              </a:r>
            </a:p>
          </p:txBody>
        </p:sp>
        <p:sp>
          <p:nvSpPr>
            <p:cNvPr id="22553" name="文本框 67608">
              <a:extLst>
                <a:ext uri="{FF2B5EF4-FFF2-40B4-BE49-F238E27FC236}">
                  <a16:creationId xmlns:a16="http://schemas.microsoft.com/office/drawing/2014/main" id="{AD4B47C9-D228-AECC-A09E-F749D2219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" y="1734"/>
              <a:ext cx="13039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None/>
              </a:pP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 3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             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0     0      0      0      0     0     1       0     0     1</a:t>
              </a:r>
              <a:r>
                <a:rPr lang="zh-CN" altLang="en-US" sz="2000" b="1" dirty="0"/>
                <a:t>       </a:t>
              </a:r>
            </a:p>
          </p:txBody>
        </p:sp>
        <p:sp>
          <p:nvSpPr>
            <p:cNvPr id="22554" name="文本框 67609">
              <a:extLst>
                <a:ext uri="{FF2B5EF4-FFF2-40B4-BE49-F238E27FC236}">
                  <a16:creationId xmlns:a16="http://schemas.microsoft.com/office/drawing/2014/main" id="{020C5FDD-016A-026F-D61E-85CA775A6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" y="1070"/>
              <a:ext cx="13039" cy="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        0 </a:t>
              </a:r>
              <a:r>
                <a:rPr lang="zh-CN" altLang="en-US" sz="2000" b="1" i="1" dirty="0">
                  <a:solidFill>
                    <a:srgbClr val="0000CC"/>
                  </a:solidFill>
                  <a:highlight>
                    <a:srgbClr val="FFFF00"/>
                  </a:highlight>
                  <a:latin typeface="Bookman Old Style" panose="02050604050505020204" pitchFamily="18" charset="0"/>
                  <a:ea typeface="Batang" panose="02030600000101010101" pitchFamily="18" charset="-127"/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  <a:highlight>
                    <a:srgbClr val="FFFF00"/>
                  </a:highlight>
                  <a:sym typeface="Symbol" panose="05050102010706020507" pitchFamily="18" charset="2"/>
                </a:rPr>
                <a:t>I</a:t>
              </a:r>
              <a:r>
                <a:rPr lang="zh-CN" altLang="en-US" sz="2000" b="1" baseline="-25000" dirty="0">
                  <a:solidFill>
                    <a:srgbClr val="0000CC"/>
                  </a:solidFill>
                  <a:sym typeface="Symbol" panose="05050102010706020507" pitchFamily="18" charset="2"/>
                </a:rPr>
                <a:t> </a:t>
              </a:r>
              <a:r>
                <a:rPr lang="zh-CN" altLang="en-US" sz="2000" b="1" dirty="0">
                  <a:solidFill>
                    <a:srgbClr val="0000CC"/>
                  </a:solidFill>
                  <a:sym typeface="Symbol" panose="05050102010706020507" pitchFamily="18" charset="2"/>
                </a:rPr>
                <a:t> </a:t>
              </a:r>
              <a:r>
                <a:rPr lang="zh-CN" altLang="en-US" sz="2000" b="1" i="1" dirty="0">
                  <a:solidFill>
                    <a:srgbClr val="0000CC"/>
                  </a:solidFill>
                </a:rPr>
                <a:t>V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REF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/15</a:t>
              </a:r>
              <a:r>
                <a:rPr lang="zh-CN" altLang="en-US" sz="2000" b="1" baseline="-25000" dirty="0">
                  <a:solidFill>
                    <a:srgbClr val="0000CC"/>
                  </a:solidFill>
                </a:rPr>
                <a:t>                   </a:t>
              </a:r>
              <a:r>
                <a:rPr lang="zh-CN" altLang="en-US" sz="2000" b="1" dirty="0">
                  <a:solidFill>
                    <a:srgbClr val="0000CC"/>
                  </a:solidFill>
                </a:rPr>
                <a:t>0     0      0      0      0     0     0       0     0     0</a:t>
              </a:r>
              <a:r>
                <a:rPr lang="zh-CN" altLang="en-US" sz="2000" b="1" dirty="0"/>
                <a:t>       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5256084-AC1B-D566-5DAC-27C076795E29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BA48B2-10AD-26CA-F176-DECF21EB5568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F8BB7-9C18-152F-E648-A3C8135F8BFC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6C1DB3-35C9-676C-8A0D-08B1C87A2A23}"/>
              </a:ext>
            </a:extLst>
          </p:cNvPr>
          <p:cNvSpPr/>
          <p:nvPr/>
        </p:nvSpPr>
        <p:spPr>
          <a:xfrm>
            <a:off x="1245235" y="337185"/>
            <a:ext cx="251206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模数转换的原理</a:t>
            </a:r>
            <a:endParaRPr lang="zh-CN" altLang="en-US" dirty="0"/>
          </a:p>
        </p:txBody>
      </p:sp>
      <p:sp>
        <p:nvSpPr>
          <p:cNvPr id="7" name="42 Rectángulo">
            <a:extLst>
              <a:ext uri="{FF2B5EF4-FFF2-40B4-BE49-F238E27FC236}">
                <a16:creationId xmlns:a16="http://schemas.microsoft.com/office/drawing/2014/main" id="{478E8D8D-008E-6290-F94A-9F0775FE7E73}"/>
              </a:ext>
            </a:extLst>
          </p:cNvPr>
          <p:cNvSpPr/>
          <p:nvPr/>
        </p:nvSpPr>
        <p:spPr>
          <a:xfrm>
            <a:off x="341388" y="1002840"/>
            <a:ext cx="4818508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8.1.2 A/D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转换器的主要电路形式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文本框 23556">
            <a:extLst>
              <a:ext uri="{FF2B5EF4-FFF2-40B4-BE49-F238E27FC236}">
                <a16:creationId xmlns:a16="http://schemas.microsoft.com/office/drawing/2014/main" id="{0748A2A1-2B39-F35B-DFDE-ACBB666E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5229226"/>
            <a:ext cx="11377263" cy="4931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一般常用的线性</a:t>
            </a:r>
            <a:r>
              <a:rPr lang="en-US" altLang="zh-CN" sz="2400" b="1" dirty="0">
                <a:solidFill>
                  <a:srgbClr val="000000"/>
                </a:solidFill>
              </a:rPr>
              <a:t>D/A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转换器，其输出模拟电压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Dotum" panose="020B0503020000020004" pitchFamily="34" charset="-127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和输入数字量</a:t>
            </a:r>
            <a:r>
              <a:rPr lang="en-US" altLang="zh-CN" sz="2400" b="1" i="1" dirty="0" err="1">
                <a:solidFill>
                  <a:srgbClr val="000000"/>
                </a:solidFill>
              </a:rPr>
              <a:t>D</a:t>
            </a:r>
            <a:r>
              <a:rPr lang="en-US" altLang="zh-CN" sz="2400" b="1" i="1" baseline="-25000" dirty="0" err="1">
                <a:solidFill>
                  <a:srgbClr val="000000"/>
                </a:solidFill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之间成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正比关系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3558" name="矩形 23557">
            <a:extLst>
              <a:ext uri="{FF2B5EF4-FFF2-40B4-BE49-F238E27FC236}">
                <a16:creationId xmlns:a16="http://schemas.microsoft.com/office/drawing/2014/main" id="{D77B17A2-2A52-BBA1-9688-79573B28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88" y="1862253"/>
            <a:ext cx="1151525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D/A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转换器是将输入的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二进制数字量</a:t>
            </a:r>
            <a:r>
              <a:rPr lang="zh-CN" altLang="en-US" sz="2400" b="1" dirty="0">
                <a:latin typeface="宋体" panose="02010600030101010101" pitchFamily="2" charset="-122"/>
              </a:rPr>
              <a:t>转换成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模拟量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，以电压或电流的形式输出。</a:t>
            </a:r>
          </a:p>
        </p:txBody>
      </p:sp>
      <p:graphicFrame>
        <p:nvGraphicFramePr>
          <p:cNvPr id="23559" name="对象 23558">
            <a:extLst>
              <a:ext uri="{FF2B5EF4-FFF2-40B4-BE49-F238E27FC236}">
                <a16:creationId xmlns:a16="http://schemas.microsoft.com/office/drawing/2014/main" id="{CAE4C229-07FE-6FD4-50C1-3A109DFE0E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75" y="2997200"/>
          <a:ext cx="59436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3200" imgH="909360" progId="Word.Picture.8">
                  <p:embed/>
                </p:oleObj>
              </mc:Choice>
              <mc:Fallback>
                <p:oleObj r:id="rId2" imgW="2743200" imgH="909360" progId="Word.Picture.8">
                  <p:embed/>
                  <p:pic>
                    <p:nvPicPr>
                      <p:cNvPr id="23559" name="对象 23558">
                        <a:extLst>
                          <a:ext uri="{FF2B5EF4-FFF2-40B4-BE49-F238E27FC236}">
                            <a16:creationId xmlns:a16="http://schemas.microsoft.com/office/drawing/2014/main" id="{CAE4C229-07FE-6FD4-50C1-3A109DFE0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469" r="6172" b="-5623"/>
                      <a:stretch>
                        <a:fillRect/>
                      </a:stretch>
                    </p:blipFill>
                    <p:spPr bwMode="auto">
                      <a:xfrm>
                        <a:off x="2568575" y="2997200"/>
                        <a:ext cx="59436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文本框 23559">
            <a:extLst>
              <a:ext uri="{FF2B5EF4-FFF2-40B4-BE49-F238E27FC236}">
                <a16:creationId xmlns:a16="http://schemas.microsoft.com/office/drawing/2014/main" id="{5CC6B177-6B29-C055-CF70-FEDEA7929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5949280"/>
            <a:ext cx="1870075" cy="461665"/>
          </a:xfrm>
          <a:prstGeom prst="rect">
            <a:avLst/>
          </a:prstGeom>
          <a:solidFill>
            <a:srgbClr val="FFFF99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i="1" dirty="0">
                <a:solidFill>
                  <a:srgbClr val="FF0000"/>
                </a:solidFill>
              </a:rPr>
              <a:t>u</a:t>
            </a:r>
            <a:r>
              <a:rPr lang="zh-CN" altLang="en-US" sz="2400" b="1" i="1" baseline="-25000" dirty="0">
                <a:solidFill>
                  <a:srgbClr val="FF0000"/>
                </a:solidFill>
              </a:rPr>
              <a:t>O</a:t>
            </a:r>
            <a:r>
              <a:rPr lang="zh-CN" altLang="en-US" sz="2400" b="1" i="1" dirty="0">
                <a:solidFill>
                  <a:srgbClr val="FF0000"/>
                </a:solidFill>
              </a:rPr>
              <a:t>＝  KD</a:t>
            </a:r>
            <a:r>
              <a:rPr lang="zh-CN" altLang="en-US" sz="2400" b="1" i="1" baseline="-25000" dirty="0">
                <a:solidFill>
                  <a:srgbClr val="FF0000"/>
                </a:solidFill>
              </a:rPr>
              <a:t>n</a:t>
            </a:r>
            <a:r>
              <a:rPr lang="en-US" altLang="zh-CN" sz="2400" b="1" i="1" baseline="-25000" dirty="0">
                <a:solidFill>
                  <a:srgbClr val="FF0000"/>
                </a:solidFill>
              </a:rPr>
              <a:t>·</a:t>
            </a:r>
            <a:endParaRPr lang="zh-CN" altLang="en-US" sz="2400" b="1" i="1" baseline="-25000" dirty="0">
              <a:solidFill>
                <a:srgbClr val="FF0000"/>
              </a:solidFill>
            </a:endParaRPr>
          </a:p>
        </p:txBody>
      </p:sp>
      <p:sp>
        <p:nvSpPr>
          <p:cNvPr id="23561" name="圆角矩形标注 23560">
            <a:extLst>
              <a:ext uri="{FF2B5EF4-FFF2-40B4-BE49-F238E27FC236}">
                <a16:creationId xmlns:a16="http://schemas.microsoft.com/office/drawing/2014/main" id="{949776BC-7F99-3A8B-83E0-864CBB849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068639"/>
            <a:ext cx="790575" cy="1800225"/>
          </a:xfrm>
          <a:prstGeom prst="wedgeRoundRectCallout">
            <a:avLst>
              <a:gd name="adj1" fmla="val 101005"/>
              <a:gd name="adj2" fmla="val -2731"/>
              <a:gd name="adj3" fmla="val 16667"/>
            </a:avLst>
          </a:prstGeom>
          <a:solidFill>
            <a:srgbClr val="E1F4FF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r>
              <a:rPr lang="en-US" altLang="zh-CN" sz="24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位二进制数输入</a:t>
            </a:r>
          </a:p>
        </p:txBody>
      </p:sp>
      <p:sp>
        <p:nvSpPr>
          <p:cNvPr id="23562" name="圆角矩形标注 23561">
            <a:extLst>
              <a:ext uri="{FF2B5EF4-FFF2-40B4-BE49-F238E27FC236}">
                <a16:creationId xmlns:a16="http://schemas.microsoft.com/office/drawing/2014/main" id="{FA3211D5-35A7-BE0E-7945-07B944B69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2708275"/>
            <a:ext cx="2032000" cy="431800"/>
          </a:xfrm>
          <a:prstGeom prst="wedgeRoundRectCallout">
            <a:avLst>
              <a:gd name="adj1" fmla="val -45718"/>
              <a:gd name="adj2" fmla="val 156912"/>
              <a:gd name="adj3" fmla="val 16667"/>
            </a:avLst>
          </a:prstGeom>
          <a:solidFill>
            <a:srgbClr val="E1F4FF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模拟电压输出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07ED81-229F-803F-3FD7-CCEE6FB95C14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C0A400-4515-7879-A71D-BCA0B25436C0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D66D72-BD91-6F70-21EA-8177F8748B39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4A0CC-0B72-04CB-2C08-D4986D56B56C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8" name="42 Rectángulo">
            <a:extLst>
              <a:ext uri="{FF2B5EF4-FFF2-40B4-BE49-F238E27FC236}">
                <a16:creationId xmlns:a16="http://schemas.microsoft.com/office/drawing/2014/main" id="{D5221CB9-64EA-4843-7E34-438F9E1C32F6}"/>
              </a:ext>
            </a:extLst>
          </p:cNvPr>
          <p:cNvSpPr/>
          <p:nvPr/>
        </p:nvSpPr>
        <p:spPr>
          <a:xfrm>
            <a:off x="341388" y="1002840"/>
            <a:ext cx="4026420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8.4.1 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数模转换的基本原理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24577">
            <a:extLst>
              <a:ext uri="{FF2B5EF4-FFF2-40B4-BE49-F238E27FC236}">
                <a16:creationId xmlns:a16="http://schemas.microsoft.com/office/drawing/2014/main" id="{D93F820A-837B-8AA7-9CC4-FF935265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44451"/>
            <a:ext cx="26273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600">
                <a:solidFill>
                  <a:schemeClr val="bg1"/>
                </a:solidFill>
              </a:rPr>
              <a:t>广东工业大学  自动化学院</a:t>
            </a:r>
          </a:p>
        </p:txBody>
      </p:sp>
      <p:sp>
        <p:nvSpPr>
          <p:cNvPr id="24580" name="文本框 24579">
            <a:extLst>
              <a:ext uri="{FF2B5EF4-FFF2-40B4-BE49-F238E27FC236}">
                <a16:creationId xmlns:a16="http://schemas.microsoft.com/office/drawing/2014/main" id="{A31FB04A-62B7-695A-40B3-2256F7D12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976" y="1485901"/>
            <a:ext cx="496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输入数字量</a:t>
            </a:r>
            <a:r>
              <a:rPr lang="zh-CN" altLang="en-US" sz="2400" b="1" i="1" dirty="0"/>
              <a:t>D</a:t>
            </a:r>
            <a:r>
              <a:rPr lang="zh-CN" altLang="en-US" sz="2400" b="1" i="1" baseline="-25000" dirty="0"/>
              <a:t>n</a:t>
            </a:r>
            <a:r>
              <a:rPr lang="zh-CN" altLang="en-US" sz="2400" b="1" dirty="0"/>
              <a:t>的按权展开式为</a:t>
            </a:r>
          </a:p>
        </p:txBody>
      </p:sp>
      <p:sp>
        <p:nvSpPr>
          <p:cNvPr id="24581" name="矩形 24580">
            <a:extLst>
              <a:ext uri="{FF2B5EF4-FFF2-40B4-BE49-F238E27FC236}">
                <a16:creationId xmlns:a16="http://schemas.microsoft.com/office/drawing/2014/main" id="{1CB3704B-1042-7A36-60E1-4E9C72CAF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4" y="2636194"/>
            <a:ext cx="27510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输出模拟电压为 </a:t>
            </a:r>
          </a:p>
        </p:txBody>
      </p:sp>
      <p:graphicFrame>
        <p:nvGraphicFramePr>
          <p:cNvPr id="24582" name="对象 24581">
            <a:extLst>
              <a:ext uri="{FF2B5EF4-FFF2-40B4-BE49-F238E27FC236}">
                <a16:creationId xmlns:a16="http://schemas.microsoft.com/office/drawing/2014/main" id="{C6865DE8-D88A-FC48-32D3-3B59E2A72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005523"/>
              </p:ext>
            </p:extLst>
          </p:nvPr>
        </p:nvGraphicFramePr>
        <p:xfrm>
          <a:off x="2495550" y="1989138"/>
          <a:ext cx="72469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57320" imgH="241200" progId="Equation.3">
                  <p:embed/>
                </p:oleObj>
              </mc:Choice>
              <mc:Fallback>
                <p:oleObj r:id="rId2" imgW="2857320" imgH="241200" progId="Equation.3">
                  <p:embed/>
                  <p:pic>
                    <p:nvPicPr>
                      <p:cNvPr id="24582" name="对象 24581">
                        <a:extLst>
                          <a:ext uri="{FF2B5EF4-FFF2-40B4-BE49-F238E27FC236}">
                            <a16:creationId xmlns:a16="http://schemas.microsoft.com/office/drawing/2014/main" id="{C6865DE8-D88A-FC48-32D3-3B59E2A72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989138"/>
                        <a:ext cx="7246938" cy="5842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对象 24582">
            <a:extLst>
              <a:ext uri="{FF2B5EF4-FFF2-40B4-BE49-F238E27FC236}">
                <a16:creationId xmlns:a16="http://schemas.microsoft.com/office/drawing/2014/main" id="{B44C0A6D-323D-AD1E-6312-C612D8CD7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846457"/>
              </p:ext>
            </p:extLst>
          </p:nvPr>
        </p:nvGraphicFramePr>
        <p:xfrm>
          <a:off x="2424113" y="3213100"/>
          <a:ext cx="77962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73320" imgH="241200" progId="Equation.3">
                  <p:embed/>
                </p:oleObj>
              </mc:Choice>
              <mc:Fallback>
                <p:oleObj r:id="rId4" imgW="3073320" imgH="241200" progId="Equation.3">
                  <p:embed/>
                  <p:pic>
                    <p:nvPicPr>
                      <p:cNvPr id="24583" name="对象 24582">
                        <a:extLst>
                          <a:ext uri="{FF2B5EF4-FFF2-40B4-BE49-F238E27FC236}">
                            <a16:creationId xmlns:a16="http://schemas.microsoft.com/office/drawing/2014/main" id="{B44C0A6D-323D-AD1E-6312-C612D8CD7F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213100"/>
                        <a:ext cx="7796212" cy="5842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 cmpd="dbl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文本框 24583">
            <a:extLst>
              <a:ext uri="{FF2B5EF4-FFF2-40B4-BE49-F238E27FC236}">
                <a16:creationId xmlns:a16="http://schemas.microsoft.com/office/drawing/2014/main" id="{86C91011-2C52-BC86-F615-20565BE87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5" y="4264129"/>
            <a:ext cx="8858696" cy="461665"/>
          </a:xfrm>
          <a:prstGeom prst="rect">
            <a:avLst/>
          </a:prstGeom>
          <a:solidFill>
            <a:schemeClr val="accent5">
              <a:lumMod val="20000"/>
              <a:lumOff val="80000"/>
              <a:alpha val="50195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 可见，</a:t>
            </a:r>
            <a:r>
              <a:rPr lang="zh-CN" altLang="en-US" sz="2400" b="1" i="1" dirty="0"/>
              <a:t>u</a:t>
            </a:r>
            <a:r>
              <a:rPr lang="zh-CN" altLang="en-US" sz="2400" b="1" baseline="-25000" dirty="0"/>
              <a:t>O </a:t>
            </a:r>
            <a:r>
              <a:rPr lang="zh-CN" altLang="en-US" sz="2400" b="1" dirty="0"/>
              <a:t>∝</a:t>
            </a:r>
            <a:r>
              <a:rPr lang="zh-CN" altLang="en-US" sz="2400" b="1" baseline="-25000" dirty="0"/>
              <a:t> </a:t>
            </a:r>
            <a:r>
              <a:rPr lang="zh-CN" altLang="en-US" sz="2400" b="1" i="1" dirty="0"/>
              <a:t>D</a:t>
            </a:r>
            <a:r>
              <a:rPr lang="zh-CN" altLang="en-US" sz="2400" b="1" i="1" baseline="-25000" dirty="0"/>
              <a:t>n</a:t>
            </a:r>
            <a:r>
              <a:rPr lang="zh-CN" altLang="en-US" sz="2400" b="1" dirty="0"/>
              <a:t>，</a:t>
            </a:r>
            <a:r>
              <a:rPr lang="zh-CN" altLang="en-US" sz="2400" b="1" i="1" dirty="0"/>
              <a:t>u</a:t>
            </a:r>
            <a:r>
              <a:rPr lang="zh-CN" altLang="en-US" sz="2400" b="1" baseline="-25000" dirty="0"/>
              <a:t>O </a:t>
            </a:r>
            <a:r>
              <a:rPr lang="zh-CN" altLang="en-US" sz="2400" b="1" dirty="0"/>
              <a:t>的大小反映了数字量</a:t>
            </a:r>
            <a:r>
              <a:rPr lang="zh-CN" altLang="en-US" sz="2400" b="1" baseline="-25000" dirty="0"/>
              <a:t> </a:t>
            </a:r>
            <a:r>
              <a:rPr lang="zh-CN" altLang="en-US" sz="2400" b="1" i="1" dirty="0"/>
              <a:t>D</a:t>
            </a:r>
            <a:r>
              <a:rPr lang="zh-CN" altLang="en-US" sz="2400" b="1" i="1" baseline="-25000" dirty="0"/>
              <a:t>n</a:t>
            </a:r>
            <a:r>
              <a:rPr lang="zh-CN" altLang="en-US" sz="2400" b="1" baseline="-25000" dirty="0"/>
              <a:t> </a:t>
            </a:r>
            <a:r>
              <a:rPr lang="zh-CN" altLang="en-US" sz="2400" b="1" dirty="0"/>
              <a:t>的大小。</a:t>
            </a:r>
          </a:p>
        </p:txBody>
      </p:sp>
      <p:sp>
        <p:nvSpPr>
          <p:cNvPr id="24585" name="文本框 24584">
            <a:extLst>
              <a:ext uri="{FF2B5EF4-FFF2-40B4-BE49-F238E27FC236}">
                <a16:creationId xmlns:a16="http://schemas.microsoft.com/office/drawing/2014/main" id="{AC4A15BB-4D96-3482-3EE0-DD22C74C8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6" y="4797426"/>
            <a:ext cx="8858696" cy="1547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将输入的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每一位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二进制代码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按其权值大小</a:t>
            </a:r>
            <a:r>
              <a:rPr lang="zh-CN" altLang="en-US" sz="2400" b="1" dirty="0">
                <a:latin typeface="宋体" panose="02010600030101010101" pitchFamily="2" charset="-122"/>
              </a:rPr>
              <a:t>转换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成相应的模拟量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然后将代表各位的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模拟量相加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，则所得的总模拟量就与数字量成正比，这样便实现了从数字量到模拟量的转换。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C6D898-4DC8-8511-D447-26FE1B282A11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8281E5-EC74-43FA-CC6F-1D0DC4D51E4B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8C0B83-5358-D73E-779A-CC7782BB69E7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1A47AA-05F1-8DC7-17FF-CFBDEA7532C0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8" name="42 Rectángulo">
            <a:extLst>
              <a:ext uri="{FF2B5EF4-FFF2-40B4-BE49-F238E27FC236}">
                <a16:creationId xmlns:a16="http://schemas.microsoft.com/office/drawing/2014/main" id="{C8DB56A7-379C-806E-B868-451C29B2D3D4}"/>
              </a:ext>
            </a:extLst>
          </p:cNvPr>
          <p:cNvSpPr/>
          <p:nvPr/>
        </p:nvSpPr>
        <p:spPr>
          <a:xfrm>
            <a:off x="341388" y="1002840"/>
            <a:ext cx="4026420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8.4.1  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数模转换的基本原理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26625">
            <a:extLst>
              <a:ext uri="{FF2B5EF4-FFF2-40B4-BE49-F238E27FC236}">
                <a16:creationId xmlns:a16="http://schemas.microsoft.com/office/drawing/2014/main" id="{644FD0D1-83D6-8859-6EF5-2DEAECAEA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44451"/>
            <a:ext cx="26273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600">
                <a:solidFill>
                  <a:schemeClr val="bg1"/>
                </a:solidFill>
              </a:rPr>
              <a:t>广东工业大学  自动化学院</a:t>
            </a:r>
          </a:p>
        </p:txBody>
      </p:sp>
      <p:sp>
        <p:nvSpPr>
          <p:cNvPr id="26627" name="文本框 26626">
            <a:extLst>
              <a:ext uri="{FF2B5EF4-FFF2-40B4-BE49-F238E27FC236}">
                <a16:creationId xmlns:a16="http://schemas.microsoft.com/office/drawing/2014/main" id="{24DBFAFC-D13C-A5E1-BE8A-01A58D19C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14439"/>
            <a:ext cx="339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楷体_GB2312" pitchFamily="1" charset="-122"/>
              </a:rPr>
              <a:t>权电阻网络</a:t>
            </a:r>
            <a:r>
              <a:rPr lang="en-US" altLang="zh-CN" sz="2400" b="1" dirty="0">
                <a:solidFill>
                  <a:srgbClr val="C00000"/>
                </a:solidFill>
                <a:ea typeface="楷体_GB2312" pitchFamily="1" charset="-122"/>
              </a:rPr>
              <a:t>DAC</a:t>
            </a:r>
          </a:p>
        </p:txBody>
      </p:sp>
      <p:sp>
        <p:nvSpPr>
          <p:cNvPr id="26628" name="文本框 26627">
            <a:extLst>
              <a:ext uri="{FF2B5EF4-FFF2-40B4-BE49-F238E27FC236}">
                <a16:creationId xmlns:a16="http://schemas.microsoft.com/office/drawing/2014/main" id="{B1521EF8-85B6-A5D9-81F6-7903CF2C3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958951"/>
            <a:ext cx="374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楷体_GB2312" pitchFamily="1" charset="-122"/>
              </a:rPr>
              <a:t>倒</a:t>
            </a:r>
            <a:r>
              <a:rPr lang="en-US" altLang="zh-CN" sz="2400" b="1" dirty="0">
                <a:solidFill>
                  <a:srgbClr val="C00000"/>
                </a:solidFill>
                <a:ea typeface="楷体_GB2312" pitchFamily="1" charset="-122"/>
              </a:rPr>
              <a:t>T</a:t>
            </a:r>
            <a:r>
              <a:rPr lang="zh-CN" altLang="en-US" sz="2400" b="1" dirty="0">
                <a:solidFill>
                  <a:srgbClr val="C00000"/>
                </a:solidFill>
                <a:ea typeface="楷体_GB2312" pitchFamily="1" charset="-122"/>
              </a:rPr>
              <a:t>形电阻网络</a:t>
            </a:r>
            <a:r>
              <a:rPr lang="en-US" altLang="zh-CN" sz="2400" b="1" dirty="0">
                <a:solidFill>
                  <a:srgbClr val="C00000"/>
                </a:solidFill>
                <a:ea typeface="楷体_GB2312" pitchFamily="1" charset="-122"/>
              </a:rPr>
              <a:t>DAC</a:t>
            </a:r>
          </a:p>
        </p:txBody>
      </p:sp>
      <p:sp>
        <p:nvSpPr>
          <p:cNvPr id="26629" name="文本框 26628">
            <a:extLst>
              <a:ext uri="{FF2B5EF4-FFF2-40B4-BE49-F238E27FC236}">
                <a16:creationId xmlns:a16="http://schemas.microsoft.com/office/drawing/2014/main" id="{CFAC71B9-3A09-7D65-E0F0-0378D956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487589"/>
            <a:ext cx="432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权电流型</a:t>
            </a:r>
            <a:r>
              <a:rPr lang="en-US" altLang="zh-CN" sz="2400" b="1">
                <a:solidFill>
                  <a:schemeClr val="tx2"/>
                </a:solidFill>
                <a:ea typeface="楷体_GB2312" pitchFamily="1" charset="-122"/>
              </a:rPr>
              <a:t>DAC </a:t>
            </a:r>
          </a:p>
        </p:txBody>
      </p:sp>
      <p:sp>
        <p:nvSpPr>
          <p:cNvPr id="26630" name="文本框 26629">
            <a:extLst>
              <a:ext uri="{FF2B5EF4-FFF2-40B4-BE49-F238E27FC236}">
                <a16:creationId xmlns:a16="http://schemas.microsoft.com/office/drawing/2014/main" id="{FEE35382-6C5F-EBD3-6246-5EC0DED52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033689"/>
            <a:ext cx="432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权电容网络</a:t>
            </a:r>
            <a:r>
              <a:rPr lang="en-US" altLang="zh-CN" sz="2400" b="1">
                <a:solidFill>
                  <a:schemeClr val="tx2"/>
                </a:solidFill>
                <a:ea typeface="楷体_GB2312" pitchFamily="1" charset="-122"/>
              </a:rPr>
              <a:t>DAC </a:t>
            </a:r>
          </a:p>
        </p:txBody>
      </p:sp>
      <p:sp>
        <p:nvSpPr>
          <p:cNvPr id="26631" name="左大括号 26630">
            <a:extLst>
              <a:ext uri="{FF2B5EF4-FFF2-40B4-BE49-F238E27FC236}">
                <a16:creationId xmlns:a16="http://schemas.microsoft.com/office/drawing/2014/main" id="{C3DD78EC-8C9D-1102-660F-4960C27151DD}"/>
              </a:ext>
            </a:extLst>
          </p:cNvPr>
          <p:cNvSpPr>
            <a:spLocks/>
          </p:cNvSpPr>
          <p:nvPr/>
        </p:nvSpPr>
        <p:spPr bwMode="auto">
          <a:xfrm>
            <a:off x="4467226" y="2466826"/>
            <a:ext cx="422275" cy="2306638"/>
          </a:xfrm>
          <a:prstGeom prst="leftBrace">
            <a:avLst>
              <a:gd name="adj1" fmla="val 45469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32" name="矩形 26631">
            <a:hlinkClick r:id="rId2" action="ppaction://hlinksldjump"/>
            <a:extLst>
              <a:ext uri="{FF2B5EF4-FFF2-40B4-BE49-F238E27FC236}">
                <a16:creationId xmlns:a16="http://schemas.microsoft.com/office/drawing/2014/main" id="{6CDBA175-A826-A350-EBBD-EBC8F76C1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2892530"/>
            <a:ext cx="592138" cy="152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D/A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转</a:t>
            </a:r>
            <a:b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换</a:t>
            </a:r>
            <a:b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26634" name="矩形 26633">
            <a:extLst>
              <a:ext uri="{FF2B5EF4-FFF2-40B4-BE49-F238E27FC236}">
                <a16:creationId xmlns:a16="http://schemas.microsoft.com/office/drawing/2014/main" id="{11948498-65E8-5409-E7DE-6774FD652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88" y="1562756"/>
            <a:ext cx="11443243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按解码网络的不同</a:t>
            </a:r>
            <a:r>
              <a:rPr lang="zh-CN" altLang="en-US" sz="2800" b="1" dirty="0">
                <a:ea typeface="楷体_GB2312" pitchFamily="1" charset="-122"/>
              </a:rPr>
              <a:t>DAC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有以下几种类型： </a:t>
            </a:r>
          </a:p>
        </p:txBody>
      </p:sp>
      <p:sp>
        <p:nvSpPr>
          <p:cNvPr id="26635" name="文本框 26634">
            <a:extLst>
              <a:ext uri="{FF2B5EF4-FFF2-40B4-BE49-F238E27FC236}">
                <a16:creationId xmlns:a16="http://schemas.microsoft.com/office/drawing/2014/main" id="{5B1BCF28-90B2-57DC-84AB-C8BB7CF73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9" y="4555976"/>
            <a:ext cx="432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开关树型</a:t>
            </a:r>
            <a:r>
              <a:rPr lang="en-US" altLang="zh-CN" sz="2400" b="1">
                <a:solidFill>
                  <a:schemeClr val="tx2"/>
                </a:solidFill>
                <a:ea typeface="楷体_GB2312" pitchFamily="1" charset="-122"/>
              </a:rPr>
              <a:t>DAC </a:t>
            </a:r>
          </a:p>
        </p:txBody>
      </p:sp>
      <p:sp>
        <p:nvSpPr>
          <p:cNvPr id="26636" name="矩形 26635">
            <a:extLst>
              <a:ext uri="{FF2B5EF4-FFF2-40B4-BE49-F238E27FC236}">
                <a16:creationId xmlns:a16="http://schemas.microsoft.com/office/drawing/2014/main" id="{D13B4FC8-2B32-E745-90FD-783867A7A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88" y="5067298"/>
            <a:ext cx="11443243" cy="15748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下面仅介绍：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权电阻网络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D/A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转换器</a:t>
            </a:r>
            <a:endParaRPr lang="en-US" altLang="zh-CN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目前集成</a:t>
            </a:r>
            <a:r>
              <a:rPr lang="en-US" altLang="zh-CN" sz="2800" b="1" dirty="0">
                <a:latin typeface="宋体" panose="02010600030101010101" pitchFamily="2" charset="-122"/>
              </a:rPr>
              <a:t>D/A</a:t>
            </a:r>
            <a:r>
              <a:rPr lang="zh-CN" altLang="en-US" sz="2800" b="1" dirty="0">
                <a:latin typeface="宋体" panose="02010600030101010101" pitchFamily="2" charset="-122"/>
              </a:rPr>
              <a:t>转换器中常用的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倒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形电阻网络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D/A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转换器</a:t>
            </a:r>
            <a:r>
              <a:rPr lang="zh-CN" altLang="en-US" sz="2800" b="1" dirty="0">
                <a:latin typeface="宋体" panose="02010600030101010101" pitchFamily="2" charset="-122"/>
              </a:rPr>
              <a:t>。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083BE7-D924-2EE6-1305-CDBA6739C09F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4199A-45AD-ED6A-9326-C03A8AC56CA1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27C25-A8D9-E4E8-F68E-5F4A904AF977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71E4EA-F500-EF74-0F9B-ACF8C7C4539D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8" name="42 Rectángulo">
            <a:extLst>
              <a:ext uri="{FF2B5EF4-FFF2-40B4-BE49-F238E27FC236}">
                <a16:creationId xmlns:a16="http://schemas.microsoft.com/office/drawing/2014/main" id="{4705FFBB-141A-A85A-6128-984489D6949E}"/>
              </a:ext>
            </a:extLst>
          </p:cNvPr>
          <p:cNvSpPr/>
          <p:nvPr/>
        </p:nvSpPr>
        <p:spPr>
          <a:xfrm>
            <a:off x="341388" y="100284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文本框 27651">
            <a:extLst>
              <a:ext uri="{FF2B5EF4-FFF2-40B4-BE49-F238E27FC236}">
                <a16:creationId xmlns:a16="http://schemas.microsoft.com/office/drawing/2014/main" id="{83BBD23D-B7E5-2C02-3CD6-85E7151ED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84" y="1600499"/>
            <a:ext cx="34467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权电阻网络D/A转换器</a:t>
            </a:r>
            <a:endParaRPr lang="zh-CN" altLang="en-US" sz="2400" dirty="0"/>
          </a:p>
        </p:txBody>
      </p:sp>
      <p:sp>
        <p:nvSpPr>
          <p:cNvPr id="27653" name="矩形 27652">
            <a:extLst>
              <a:ext uri="{FF2B5EF4-FFF2-40B4-BE49-F238E27FC236}">
                <a16:creationId xmlns:a16="http://schemas.microsoft.com/office/drawing/2014/main" id="{3F07B004-DCBC-9D30-2142-25FCC6FC69AE}"/>
              </a:ext>
            </a:extLst>
          </p:cNvPr>
          <p:cNvSpPr/>
          <p:nvPr/>
        </p:nvSpPr>
        <p:spPr>
          <a:xfrm>
            <a:off x="846784" y="2052290"/>
            <a:ext cx="3960812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1" charset="-122"/>
                <a:sym typeface="Arial" panose="020B0604020202020204" pitchFamily="34" charset="0"/>
              </a:rPr>
              <a:t>       电路组成</a:t>
            </a:r>
            <a:r>
              <a:rPr lang="zh-CN" altLang="en-US" b="1" dirty="0">
                <a:solidFill>
                  <a:schemeClr val="tx2"/>
                </a:solidFill>
                <a:latin typeface="Verdana" panose="020B0604030504040204" pitchFamily="34" charset="0"/>
                <a:sym typeface="Arial" panose="020B0604020202020204" pitchFamily="34" charset="0"/>
              </a:rPr>
              <a:t> </a:t>
            </a:r>
          </a:p>
        </p:txBody>
      </p:sp>
      <p:pic>
        <p:nvPicPr>
          <p:cNvPr id="27654" name="图片 27653" descr="11-2-1">
            <a:extLst>
              <a:ext uri="{FF2B5EF4-FFF2-40B4-BE49-F238E27FC236}">
                <a16:creationId xmlns:a16="http://schemas.microsoft.com/office/drawing/2014/main" id="{84BE6831-E8E3-D0D2-59EB-DAA72B8A5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2781300"/>
            <a:ext cx="4968875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矩形 27654">
            <a:extLst>
              <a:ext uri="{FF2B5EF4-FFF2-40B4-BE49-F238E27FC236}">
                <a16:creationId xmlns:a16="http://schemas.microsoft.com/office/drawing/2014/main" id="{51D1A5E6-9EAD-A92F-5F37-044DDBEF9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3286126"/>
            <a:ext cx="2233612" cy="1038225"/>
          </a:xfrm>
          <a:prstGeom prst="rect">
            <a:avLst/>
          </a:prstGeom>
          <a:noFill/>
          <a:ln w="57150">
            <a:solidFill>
              <a:srgbClr val="FF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56" name="矩形 27655">
            <a:extLst>
              <a:ext uri="{FF2B5EF4-FFF2-40B4-BE49-F238E27FC236}">
                <a16:creationId xmlns:a16="http://schemas.microsoft.com/office/drawing/2014/main" id="{F30205D2-C5F2-102B-E9FD-4058D071A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4365626"/>
            <a:ext cx="2376487" cy="792163"/>
          </a:xfrm>
          <a:prstGeom prst="rect">
            <a:avLst/>
          </a:prstGeom>
          <a:noFill/>
          <a:ln w="57150">
            <a:solidFill>
              <a:srgbClr val="33CC33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57" name="矩形 27656">
            <a:extLst>
              <a:ext uri="{FF2B5EF4-FFF2-40B4-BE49-F238E27FC236}">
                <a16:creationId xmlns:a16="http://schemas.microsoft.com/office/drawing/2014/main" id="{B1723775-F7D3-5A21-A4F6-14028396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5013326"/>
            <a:ext cx="576263" cy="792163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方正舒体" panose="02010601030101010101" pitchFamily="2" charset="-122"/>
            </a:endParaRPr>
          </a:p>
        </p:txBody>
      </p:sp>
      <p:sp>
        <p:nvSpPr>
          <p:cNvPr id="27658" name="矩形标注 27657">
            <a:extLst>
              <a:ext uri="{FF2B5EF4-FFF2-40B4-BE49-F238E27FC236}">
                <a16:creationId xmlns:a16="http://schemas.microsoft.com/office/drawing/2014/main" id="{938CCD5E-DF6C-55EC-9F84-8C2FE129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2565401"/>
            <a:ext cx="2160587" cy="504825"/>
          </a:xfrm>
          <a:prstGeom prst="wedgeRectCallout">
            <a:avLst>
              <a:gd name="adj1" fmla="val -551"/>
              <a:gd name="adj2" fmla="val 130819"/>
            </a:avLst>
          </a:prstGeom>
          <a:solidFill>
            <a:schemeClr val="bg1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权电阻网络</a:t>
            </a:r>
          </a:p>
        </p:txBody>
      </p:sp>
      <p:sp>
        <p:nvSpPr>
          <p:cNvPr id="27659" name="矩形标注 27658">
            <a:extLst>
              <a:ext uri="{FF2B5EF4-FFF2-40B4-BE49-F238E27FC236}">
                <a16:creationId xmlns:a16="http://schemas.microsoft.com/office/drawing/2014/main" id="{06088A67-7DD6-A4F3-0DEF-A7DF8012F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4508501"/>
            <a:ext cx="2160588" cy="504825"/>
          </a:xfrm>
          <a:prstGeom prst="wedgeRectCallout">
            <a:avLst>
              <a:gd name="adj1" fmla="val -75333"/>
              <a:gd name="adj2" fmla="val -2954"/>
            </a:avLst>
          </a:prstGeom>
          <a:solidFill>
            <a:schemeClr val="bg1"/>
          </a:solidFill>
          <a:ln w="9525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模拟开关</a:t>
            </a:r>
          </a:p>
        </p:txBody>
      </p:sp>
      <p:sp>
        <p:nvSpPr>
          <p:cNvPr id="27660" name="矩形标注 27659">
            <a:extLst>
              <a:ext uri="{FF2B5EF4-FFF2-40B4-BE49-F238E27FC236}">
                <a16:creationId xmlns:a16="http://schemas.microsoft.com/office/drawing/2014/main" id="{886CB529-76B0-E1AC-67ED-2B3B056F0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149726"/>
            <a:ext cx="1655762" cy="504825"/>
          </a:xfrm>
          <a:prstGeom prst="wedgeRectCallout">
            <a:avLst>
              <a:gd name="adj1" fmla="val 35083"/>
              <a:gd name="adj2" fmla="val 145472"/>
            </a:avLst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基准电源</a:t>
            </a:r>
          </a:p>
        </p:txBody>
      </p:sp>
      <p:sp>
        <p:nvSpPr>
          <p:cNvPr id="27661" name="矩形 27660">
            <a:extLst>
              <a:ext uri="{FF2B5EF4-FFF2-40B4-BE49-F238E27FC236}">
                <a16:creationId xmlns:a16="http://schemas.microsoft.com/office/drawing/2014/main" id="{FE217E62-D8A4-654B-9A90-FD881CE03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708275"/>
            <a:ext cx="1873250" cy="1614488"/>
          </a:xfrm>
          <a:prstGeom prst="rect">
            <a:avLst/>
          </a:prstGeom>
          <a:noFill/>
          <a:ln w="5715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62" name="矩形标注 27661">
            <a:extLst>
              <a:ext uri="{FF2B5EF4-FFF2-40B4-BE49-F238E27FC236}">
                <a16:creationId xmlns:a16="http://schemas.microsoft.com/office/drawing/2014/main" id="{8635F9B0-2C1A-3FF2-DDAE-4853770FC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9" y="1917701"/>
            <a:ext cx="2160587" cy="504825"/>
          </a:xfrm>
          <a:prstGeom prst="wedgeRectCallout">
            <a:avLst>
              <a:gd name="adj1" fmla="val -61046"/>
              <a:gd name="adj2" fmla="val 186102"/>
            </a:avLst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求和放大器</a:t>
            </a:r>
          </a:p>
        </p:txBody>
      </p:sp>
      <p:sp>
        <p:nvSpPr>
          <p:cNvPr id="27663" name="椭圆 27662">
            <a:extLst>
              <a:ext uri="{FF2B5EF4-FFF2-40B4-BE49-F238E27FC236}">
                <a16:creationId xmlns:a16="http://schemas.microsoft.com/office/drawing/2014/main" id="{C5E228CF-0A2B-70D2-54BD-E8735B05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9" y="5661026"/>
            <a:ext cx="2592387" cy="792163"/>
          </a:xfrm>
          <a:prstGeom prst="ellips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64" name="矩形标注 27663">
            <a:extLst>
              <a:ext uri="{FF2B5EF4-FFF2-40B4-BE49-F238E27FC236}">
                <a16:creationId xmlns:a16="http://schemas.microsoft.com/office/drawing/2014/main" id="{410A45C8-039A-DC94-8C24-808F703A1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4" y="5805489"/>
            <a:ext cx="2160587" cy="504825"/>
          </a:xfrm>
          <a:prstGeom prst="wedgeRectCallout">
            <a:avLst>
              <a:gd name="adj1" fmla="val -75333"/>
              <a:gd name="adj2" fmla="val -2954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输入数字量</a:t>
            </a:r>
            <a:endParaRPr lang="zh-CN" altLang="en-US" sz="1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E9CEAA-2DE9-C0C9-CFAD-E9FAFB59FD69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90DA24-AB45-3871-4205-150F32E8833A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D6F110-3F42-73C1-C0AD-6AFAD5CCF649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ECA78D-0181-513B-17C5-06DDDE571FAE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8" name="42 Rectángulo">
            <a:extLst>
              <a:ext uri="{FF2B5EF4-FFF2-40B4-BE49-F238E27FC236}">
                <a16:creationId xmlns:a16="http://schemas.microsoft.com/office/drawing/2014/main" id="{5A5A1DC8-E985-56D6-3091-ADA777D5202C}"/>
              </a:ext>
            </a:extLst>
          </p:cNvPr>
          <p:cNvSpPr/>
          <p:nvPr/>
        </p:nvSpPr>
        <p:spPr>
          <a:xfrm>
            <a:off x="341388" y="100284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57" grpId="0" bldLvl="0" animBg="1"/>
      <p:bldP spid="27658" grpId="0" bldLvl="0" animBg="1"/>
      <p:bldP spid="27659" grpId="0" bldLvl="0" animBg="1"/>
      <p:bldP spid="27660" grpId="0" bldLvl="0" animBg="1"/>
      <p:bldP spid="27662" grpId="0" bldLvl="0" animBg="1"/>
      <p:bldP spid="27664" grpId="0" bldLvl="0" animBg="1"/>
      <p:bldP spid="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矩形 28675">
            <a:extLst>
              <a:ext uri="{FF2B5EF4-FFF2-40B4-BE49-F238E27FC236}">
                <a16:creationId xmlns:a16="http://schemas.microsoft.com/office/drawing/2014/main" id="{859F1AE7-39F6-2101-CD31-6EA3A97524AC}"/>
              </a:ext>
            </a:extLst>
          </p:cNvPr>
          <p:cNvSpPr/>
          <p:nvPr/>
        </p:nvSpPr>
        <p:spPr>
          <a:xfrm>
            <a:off x="2208213" y="1412875"/>
            <a:ext cx="3960812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1" charset="-122"/>
                <a:sym typeface="Arial" panose="020B0604020202020204" pitchFamily="34" charset="0"/>
              </a:rPr>
              <a:t>2. 工作原理</a:t>
            </a:r>
            <a:r>
              <a:rPr lang="zh-CN" altLang="en-US" sz="2800" b="1">
                <a:solidFill>
                  <a:schemeClr val="tx2"/>
                </a:solidFill>
                <a:latin typeface="Verdana" panose="020B0604030504040204" pitchFamily="34" charset="0"/>
                <a:sym typeface="Arial" panose="020B0604020202020204" pitchFamily="34" charset="0"/>
              </a:rPr>
              <a:t> </a:t>
            </a:r>
          </a:p>
        </p:txBody>
      </p:sp>
      <p:pic>
        <p:nvPicPr>
          <p:cNvPr id="58373" name="图片 28676" descr="11-2-1">
            <a:extLst>
              <a:ext uri="{FF2B5EF4-FFF2-40B4-BE49-F238E27FC236}">
                <a16:creationId xmlns:a16="http://schemas.microsoft.com/office/drawing/2014/main" id="{B13FD713-8113-4C7F-4FB6-3C695C08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412876"/>
            <a:ext cx="4968875" cy="3311525"/>
          </a:xfrm>
          <a:prstGeom prst="rect">
            <a:avLst/>
          </a:prstGeom>
          <a:noFill/>
          <a:ln w="57150" cmpd="thinThick">
            <a:solidFill>
              <a:srgbClr val="CC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78" name="组合 28677">
            <a:extLst>
              <a:ext uri="{FF2B5EF4-FFF2-40B4-BE49-F238E27FC236}">
                <a16:creationId xmlns:a16="http://schemas.microsoft.com/office/drawing/2014/main" id="{ED4CF557-DCFD-FC98-B871-C6AF1263FA31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5013326"/>
            <a:ext cx="3673475" cy="720725"/>
            <a:chOff x="0" y="0"/>
            <a:chExt cx="5784" cy="1134"/>
          </a:xfrm>
        </p:grpSpPr>
        <p:sp>
          <p:nvSpPr>
            <p:cNvPr id="58392" name="圆角矩形标注 28678">
              <a:extLst>
                <a:ext uri="{FF2B5EF4-FFF2-40B4-BE49-F238E27FC236}">
                  <a16:creationId xmlns:a16="http://schemas.microsoft.com/office/drawing/2014/main" id="{FD9EA897-F0BE-D67E-DD26-9459F3997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85" cy="1135"/>
            </a:xfrm>
            <a:prstGeom prst="wedgeRoundRectCallout">
              <a:avLst>
                <a:gd name="adj1" fmla="val -7769"/>
                <a:gd name="adj2" fmla="val -279597"/>
                <a:gd name="adj3" fmla="val 16667"/>
              </a:avLst>
            </a:prstGeom>
            <a:solidFill>
              <a:srgbClr val="FFFF99">
                <a:alpha val="87057"/>
              </a:srgbClr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ea typeface="方正舒体" panose="02010601030101010101" pitchFamily="2" charset="-122"/>
              </a:endParaRPr>
            </a:p>
          </p:txBody>
        </p:sp>
        <p:graphicFrame>
          <p:nvGraphicFramePr>
            <p:cNvPr id="58393" name="对象 28679">
              <a:extLst>
                <a:ext uri="{FF2B5EF4-FFF2-40B4-BE49-F238E27FC236}">
                  <a16:creationId xmlns:a16="http://schemas.microsoft.com/office/drawing/2014/main" id="{9BF466A3-6DEC-E219-A02A-C01824A21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" y="226"/>
            <a:ext cx="5171" cy="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638000" imgH="228600" progId="Equation.3">
                    <p:embed/>
                  </p:oleObj>
                </mc:Choice>
                <mc:Fallback>
                  <p:oleObj r:id="rId3" imgW="1638000" imgH="228600" progId="Equation.3">
                    <p:embed/>
                    <p:pic>
                      <p:nvPicPr>
                        <p:cNvPr id="58393" name="对象 28679">
                          <a:extLst>
                            <a:ext uri="{FF2B5EF4-FFF2-40B4-BE49-F238E27FC236}">
                              <a16:creationId xmlns:a16="http://schemas.microsoft.com/office/drawing/2014/main" id="{9BF466A3-6DEC-E219-A02A-C01824A21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" y="226"/>
                          <a:ext cx="5171" cy="7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1" name="矩形 28680">
            <a:extLst>
              <a:ext uri="{FF2B5EF4-FFF2-40B4-BE49-F238E27FC236}">
                <a16:creationId xmlns:a16="http://schemas.microsoft.com/office/drawing/2014/main" id="{D9F2EB10-B093-0A5F-75B1-BF818A1AD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2779713"/>
            <a:ext cx="2376488" cy="792162"/>
          </a:xfrm>
          <a:prstGeom prst="rect">
            <a:avLst/>
          </a:prstGeom>
          <a:noFill/>
          <a:ln w="57150">
            <a:solidFill>
              <a:srgbClr val="33CC33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8682" name="对象 28681">
            <a:extLst>
              <a:ext uri="{FF2B5EF4-FFF2-40B4-BE49-F238E27FC236}">
                <a16:creationId xmlns:a16="http://schemas.microsoft.com/office/drawing/2014/main" id="{EE316FF0-B09A-7604-C47E-2B67EACB5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867276"/>
          <a:ext cx="32067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93371" imgH="485763" progId="Equation.3">
                  <p:embed/>
                </p:oleObj>
              </mc:Choice>
              <mc:Fallback>
                <p:oleObj r:id="rId5" imgW="1393371" imgH="485763" progId="Equation.3">
                  <p:embed/>
                  <p:pic>
                    <p:nvPicPr>
                      <p:cNvPr id="28682" name="对象 28681">
                        <a:extLst>
                          <a:ext uri="{FF2B5EF4-FFF2-40B4-BE49-F238E27FC236}">
                            <a16:creationId xmlns:a16="http://schemas.microsoft.com/office/drawing/2014/main" id="{EE316FF0-B09A-7604-C47E-2B67EACB5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867276"/>
                        <a:ext cx="3206750" cy="11207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9411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对象 28682">
            <a:extLst>
              <a:ext uri="{FF2B5EF4-FFF2-40B4-BE49-F238E27FC236}">
                <a16:creationId xmlns:a16="http://schemas.microsoft.com/office/drawing/2014/main" id="{BB43134D-7E31-FA64-31FE-927F8230D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366920"/>
              </p:ext>
            </p:extLst>
          </p:nvPr>
        </p:nvGraphicFramePr>
        <p:xfrm>
          <a:off x="7531100" y="1270000"/>
          <a:ext cx="15017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393480" progId="Equation.DSMT4">
                  <p:embed/>
                </p:oleObj>
              </mc:Choice>
              <mc:Fallback>
                <p:oleObj name="Equation" r:id="rId7" imgW="749160" imgH="393480" progId="Equation.DSMT4">
                  <p:embed/>
                  <p:pic>
                    <p:nvPicPr>
                      <p:cNvPr id="28683" name="对象 28682">
                        <a:extLst>
                          <a:ext uri="{FF2B5EF4-FFF2-40B4-BE49-F238E27FC236}">
                            <a16:creationId xmlns:a16="http://schemas.microsoft.com/office/drawing/2014/main" id="{BB43134D-7E31-FA64-31FE-927F8230D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1270000"/>
                        <a:ext cx="1501775" cy="788988"/>
                      </a:xfrm>
                      <a:prstGeom prst="rect">
                        <a:avLst/>
                      </a:prstGeom>
                      <a:solidFill>
                        <a:srgbClr val="CCFF99">
                          <a:alpha val="83136"/>
                        </a:srgb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对象 28683">
            <a:extLst>
              <a:ext uri="{FF2B5EF4-FFF2-40B4-BE49-F238E27FC236}">
                <a16:creationId xmlns:a16="http://schemas.microsoft.com/office/drawing/2014/main" id="{FAB4D64A-05BC-81CE-DBA1-E9A8AECC4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294298"/>
              </p:ext>
            </p:extLst>
          </p:nvPr>
        </p:nvGraphicFramePr>
        <p:xfrm>
          <a:off x="7531100" y="2135188"/>
          <a:ext cx="14255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393480" progId="Equation.DSMT4">
                  <p:embed/>
                </p:oleObj>
              </mc:Choice>
              <mc:Fallback>
                <p:oleObj name="Equation" r:id="rId9" imgW="711000" imgH="393480" progId="Equation.DSMT4">
                  <p:embed/>
                  <p:pic>
                    <p:nvPicPr>
                      <p:cNvPr id="28684" name="对象 28683">
                        <a:extLst>
                          <a:ext uri="{FF2B5EF4-FFF2-40B4-BE49-F238E27FC236}">
                            <a16:creationId xmlns:a16="http://schemas.microsoft.com/office/drawing/2014/main" id="{FAB4D64A-05BC-81CE-DBA1-E9A8AECC4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2135188"/>
                        <a:ext cx="1425575" cy="787400"/>
                      </a:xfrm>
                      <a:prstGeom prst="rect">
                        <a:avLst/>
                      </a:prstGeom>
                      <a:solidFill>
                        <a:srgbClr val="CCFF99">
                          <a:alpha val="8313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直接连接符 28684">
            <a:extLst>
              <a:ext uri="{FF2B5EF4-FFF2-40B4-BE49-F238E27FC236}">
                <a16:creationId xmlns:a16="http://schemas.microsoft.com/office/drawing/2014/main" id="{AA3D46A1-36B7-BAE1-DF37-6EAD438DF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8789" y="2635250"/>
            <a:ext cx="1587" cy="5032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86" name="对象 28685">
            <a:extLst>
              <a:ext uri="{FF2B5EF4-FFF2-40B4-BE49-F238E27FC236}">
                <a16:creationId xmlns:a16="http://schemas.microsoft.com/office/drawing/2014/main" id="{B73DA91D-B8B6-8652-F033-53B47F7F1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324374"/>
              </p:ext>
            </p:extLst>
          </p:nvPr>
        </p:nvGraphicFramePr>
        <p:xfrm>
          <a:off x="7531100" y="2998788"/>
          <a:ext cx="150177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393480" progId="Equation.DSMT4">
                  <p:embed/>
                </p:oleObj>
              </mc:Choice>
              <mc:Fallback>
                <p:oleObj name="Equation" r:id="rId11" imgW="749160" imgH="393480" progId="Equation.DSMT4">
                  <p:embed/>
                  <p:pic>
                    <p:nvPicPr>
                      <p:cNvPr id="28686" name="对象 28685">
                        <a:extLst>
                          <a:ext uri="{FF2B5EF4-FFF2-40B4-BE49-F238E27FC236}">
                            <a16:creationId xmlns:a16="http://schemas.microsoft.com/office/drawing/2014/main" id="{B73DA91D-B8B6-8652-F033-53B47F7F1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2998788"/>
                        <a:ext cx="1501775" cy="788987"/>
                      </a:xfrm>
                      <a:prstGeom prst="rect">
                        <a:avLst/>
                      </a:prstGeom>
                      <a:solidFill>
                        <a:srgbClr val="CCFF99">
                          <a:alpha val="8313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对象 28686">
            <a:extLst>
              <a:ext uri="{FF2B5EF4-FFF2-40B4-BE49-F238E27FC236}">
                <a16:creationId xmlns:a16="http://schemas.microsoft.com/office/drawing/2014/main" id="{664ED643-8C28-091F-5407-013AD67FF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89892"/>
              </p:ext>
            </p:extLst>
          </p:nvPr>
        </p:nvGraphicFramePr>
        <p:xfrm>
          <a:off x="7531100" y="3862388"/>
          <a:ext cx="147637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393480" progId="Equation.DSMT4">
                  <p:embed/>
                </p:oleObj>
              </mc:Choice>
              <mc:Fallback>
                <p:oleObj name="Equation" r:id="rId13" imgW="736560" imgH="393480" progId="Equation.DSMT4">
                  <p:embed/>
                  <p:pic>
                    <p:nvPicPr>
                      <p:cNvPr id="28687" name="对象 28686">
                        <a:extLst>
                          <a:ext uri="{FF2B5EF4-FFF2-40B4-BE49-F238E27FC236}">
                            <a16:creationId xmlns:a16="http://schemas.microsoft.com/office/drawing/2014/main" id="{664ED643-8C28-091F-5407-013AD67FF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3862388"/>
                        <a:ext cx="1476375" cy="788987"/>
                      </a:xfrm>
                      <a:prstGeom prst="rect">
                        <a:avLst/>
                      </a:prstGeom>
                      <a:solidFill>
                        <a:srgbClr val="CCFF99">
                          <a:alpha val="8313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对象 28687">
            <a:extLst>
              <a:ext uri="{FF2B5EF4-FFF2-40B4-BE49-F238E27FC236}">
                <a16:creationId xmlns:a16="http://schemas.microsoft.com/office/drawing/2014/main" id="{EAD60C97-5E93-2AC0-E20F-A1433E199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664819"/>
              </p:ext>
            </p:extLst>
          </p:nvPr>
        </p:nvGraphicFramePr>
        <p:xfrm>
          <a:off x="7032625" y="4724401"/>
          <a:ext cx="31321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248945" imgH="229413" progId="Equation.3">
                  <p:embed/>
                </p:oleObj>
              </mc:Choice>
              <mc:Fallback>
                <p:oleObj r:id="rId15" imgW="1248945" imgH="229413" progId="Equation.3">
                  <p:embed/>
                  <p:pic>
                    <p:nvPicPr>
                      <p:cNvPr id="28688" name="对象 28687">
                        <a:extLst>
                          <a:ext uri="{FF2B5EF4-FFF2-40B4-BE49-F238E27FC236}">
                            <a16:creationId xmlns:a16="http://schemas.microsoft.com/office/drawing/2014/main" id="{EAD60C97-5E93-2AC0-E20F-A1433E199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4724401"/>
                        <a:ext cx="3132138" cy="576263"/>
                      </a:xfrm>
                      <a:prstGeom prst="rect">
                        <a:avLst/>
                      </a:prstGeom>
                      <a:solidFill>
                        <a:schemeClr val="bg1">
                          <a:alpha val="83136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文本框 28688">
            <a:extLst>
              <a:ext uri="{FF2B5EF4-FFF2-40B4-BE49-F238E27FC236}">
                <a16:creationId xmlns:a16="http://schemas.microsoft.com/office/drawing/2014/main" id="{A1C76086-48AE-71DA-2447-3F7C84173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4867275"/>
            <a:ext cx="2376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 输出电压：</a:t>
            </a:r>
          </a:p>
        </p:txBody>
      </p:sp>
      <p:sp>
        <p:nvSpPr>
          <p:cNvPr id="28690" name="椭圆 28689">
            <a:extLst>
              <a:ext uri="{FF2B5EF4-FFF2-40B4-BE49-F238E27FC236}">
                <a16:creationId xmlns:a16="http://schemas.microsoft.com/office/drawing/2014/main" id="{3071625D-6DAE-CFFD-FF93-CE18CC8E9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1771650"/>
            <a:ext cx="649287" cy="503238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8691" name="对象 28690">
            <a:extLst>
              <a:ext uri="{FF2B5EF4-FFF2-40B4-BE49-F238E27FC236}">
                <a16:creationId xmlns:a16="http://schemas.microsoft.com/office/drawing/2014/main" id="{9F106EFB-4FC4-B76B-EC4E-97432E343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799485"/>
              </p:ext>
            </p:extLst>
          </p:nvPr>
        </p:nvGraphicFramePr>
        <p:xfrm>
          <a:off x="4073525" y="5300663"/>
          <a:ext cx="485616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54280" imgH="393480" progId="Equation.DSMT4">
                  <p:embed/>
                </p:oleObj>
              </mc:Choice>
              <mc:Fallback>
                <p:oleObj name="Equation" r:id="rId17" imgW="2654280" imgH="393480" progId="Equation.DSMT4">
                  <p:embed/>
                  <p:pic>
                    <p:nvPicPr>
                      <p:cNvPr id="28691" name="对象 28690">
                        <a:extLst>
                          <a:ext uri="{FF2B5EF4-FFF2-40B4-BE49-F238E27FC236}">
                            <a16:creationId xmlns:a16="http://schemas.microsoft.com/office/drawing/2014/main" id="{9F106EFB-4FC4-B76B-EC4E-97432E343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525" y="5300663"/>
                        <a:ext cx="4856163" cy="719137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2" name="对象 28691">
            <a:extLst>
              <a:ext uri="{FF2B5EF4-FFF2-40B4-BE49-F238E27FC236}">
                <a16:creationId xmlns:a16="http://schemas.microsoft.com/office/drawing/2014/main" id="{532E4506-46BF-33E6-1536-2C575B3924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000603"/>
              </p:ext>
            </p:extLst>
          </p:nvPr>
        </p:nvGraphicFramePr>
        <p:xfrm>
          <a:off x="2055813" y="5375275"/>
          <a:ext cx="1692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72840" imgH="228600" progId="Equation.DSMT4">
                  <p:embed/>
                </p:oleObj>
              </mc:Choice>
              <mc:Fallback>
                <p:oleObj name="Equation" r:id="rId19" imgW="672840" imgH="228600" progId="Equation.DSMT4">
                  <p:embed/>
                  <p:pic>
                    <p:nvPicPr>
                      <p:cNvPr id="28692" name="对象 28691">
                        <a:extLst>
                          <a:ext uri="{FF2B5EF4-FFF2-40B4-BE49-F238E27FC236}">
                            <a16:creationId xmlns:a16="http://schemas.microsoft.com/office/drawing/2014/main" id="{532E4506-46BF-33E6-1536-2C575B3924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5375275"/>
                        <a:ext cx="1692275" cy="571500"/>
                      </a:xfrm>
                      <a:prstGeom prst="rect">
                        <a:avLst/>
                      </a:prstGeom>
                      <a:solidFill>
                        <a:srgbClr val="CCFF99">
                          <a:alpha val="8313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对象 28692">
            <a:extLst>
              <a:ext uri="{FF2B5EF4-FFF2-40B4-BE49-F238E27FC236}">
                <a16:creationId xmlns:a16="http://schemas.microsoft.com/office/drawing/2014/main" id="{B326E4F6-7C92-F6E4-E3E3-0AF9AAFD8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6" y="6021389"/>
          <a:ext cx="52562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247840" imgH="393480" progId="Equation.3">
                  <p:embed/>
                </p:oleObj>
              </mc:Choice>
              <mc:Fallback>
                <p:oleObj r:id="rId21" imgW="2247840" imgH="393480" progId="Equation.3">
                  <p:embed/>
                  <p:pic>
                    <p:nvPicPr>
                      <p:cNvPr id="28693" name="对象 28692">
                        <a:extLst>
                          <a:ext uri="{FF2B5EF4-FFF2-40B4-BE49-F238E27FC236}">
                            <a16:creationId xmlns:a16="http://schemas.microsoft.com/office/drawing/2014/main" id="{B326E4F6-7C92-F6E4-E3E3-0AF9AAFD8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6021389"/>
                        <a:ext cx="5256213" cy="71913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4" name="圆角矩形标注 28693">
            <a:extLst>
              <a:ext uri="{FF2B5EF4-FFF2-40B4-BE49-F238E27FC236}">
                <a16:creationId xmlns:a16="http://schemas.microsoft.com/office/drawing/2014/main" id="{004F57C2-EF95-687D-9546-2C255ECEC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6092825"/>
            <a:ext cx="1512888" cy="510778"/>
          </a:xfrm>
          <a:prstGeom prst="wedgeRoundRectCallout">
            <a:avLst>
              <a:gd name="adj1" fmla="val 115981"/>
              <a:gd name="adj2" fmla="val -114815"/>
              <a:gd name="adj3" fmla="val 16667"/>
            </a:avLst>
          </a:prstGeom>
          <a:solidFill>
            <a:schemeClr val="bg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R</a:t>
            </a:r>
            <a:r>
              <a:rPr lang="zh-CN" altLang="en-US" sz="2400" b="1" baseline="-25000">
                <a:solidFill>
                  <a:schemeClr val="tx2"/>
                </a:solidFill>
                <a:ea typeface="楷体_GB2312" pitchFamily="1" charset="-122"/>
              </a:rPr>
              <a:t>F</a:t>
            </a: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=R/2</a:t>
            </a:r>
          </a:p>
        </p:txBody>
      </p:sp>
      <p:sp>
        <p:nvSpPr>
          <p:cNvPr id="28695" name="直接连接符 28694">
            <a:extLst>
              <a:ext uri="{FF2B5EF4-FFF2-40B4-BE49-F238E27FC236}">
                <a16:creationId xmlns:a16="http://schemas.microsoft.com/office/drawing/2014/main" id="{A3AF6A0B-6F78-9E6F-5946-A3FF2F3B8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3614" y="2708276"/>
            <a:ext cx="1587" cy="50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直接连接符 28695">
            <a:extLst>
              <a:ext uri="{FF2B5EF4-FFF2-40B4-BE49-F238E27FC236}">
                <a16:creationId xmlns:a16="http://schemas.microsoft.com/office/drawing/2014/main" id="{BD5BF72B-39FB-103C-D68F-41044DE6AE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8439" y="2708276"/>
            <a:ext cx="1587" cy="50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7" name="直接连接符 28696">
            <a:extLst>
              <a:ext uri="{FF2B5EF4-FFF2-40B4-BE49-F238E27FC236}">
                <a16:creationId xmlns:a16="http://schemas.microsoft.com/office/drawing/2014/main" id="{9BF188DD-41B2-1B15-30FF-87E530C530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675" y="2708276"/>
            <a:ext cx="1588" cy="50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EE9637CD-DF86-7C05-4136-B5FA4EEF1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293" y="756244"/>
            <a:ext cx="344677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权电阻网络D/A转换器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F8E464-1ADD-BC40-DBD6-8B7E49EA1343}"/>
              </a:ext>
            </a:extLst>
          </p:cNvPr>
          <p:cNvSpPr/>
          <p:nvPr/>
        </p:nvSpPr>
        <p:spPr>
          <a:xfrm>
            <a:off x="1277064" y="64114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CA78A8-0FE5-5F0F-42D3-2BA73332D41F}"/>
              </a:ext>
            </a:extLst>
          </p:cNvPr>
          <p:cNvSpPr/>
          <p:nvPr/>
        </p:nvSpPr>
        <p:spPr>
          <a:xfrm>
            <a:off x="1404064" y="191114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8BF0FD-2D81-51B2-E75C-C0D29E6FA90C}"/>
              </a:ext>
            </a:extLst>
          </p:cNvPr>
          <p:cNvSpPr/>
          <p:nvPr/>
        </p:nvSpPr>
        <p:spPr>
          <a:xfrm>
            <a:off x="-91361" y="136504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A03AD-8FFE-AD03-8E92-5AF6D5E1F479}"/>
              </a:ext>
            </a:extLst>
          </p:cNvPr>
          <p:cNvSpPr/>
          <p:nvPr/>
        </p:nvSpPr>
        <p:spPr>
          <a:xfrm>
            <a:off x="1322784" y="140949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F54E4C28-ED1E-F39A-C428-3D075828D8A3}"/>
              </a:ext>
            </a:extLst>
          </p:cNvPr>
          <p:cNvSpPr/>
          <p:nvPr/>
        </p:nvSpPr>
        <p:spPr>
          <a:xfrm>
            <a:off x="377405" y="70065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1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1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2" dur="1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4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8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9" grpId="0" bldLvl="0" animBg="1"/>
      <p:bldP spid="28694" grpId="0" bldLvl="0" animBg="1"/>
      <p:bldP spid="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矩形 29699">
            <a:extLst>
              <a:ext uri="{FF2B5EF4-FFF2-40B4-BE49-F238E27FC236}">
                <a16:creationId xmlns:a16="http://schemas.microsoft.com/office/drawing/2014/main" id="{19DB50A9-5BF2-AB03-8DB1-E2BFF6141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352" y="2550601"/>
            <a:ext cx="56557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b="1" dirty="0">
                <a:latin typeface="楷体_GB2312" pitchFamily="1" charset="-122"/>
                <a:ea typeface="楷体_GB2312" pitchFamily="1" charset="-122"/>
              </a:rPr>
              <a:t>对于</a:t>
            </a:r>
            <a:r>
              <a:rPr lang="zh-CN" altLang="en-US" sz="2400" b="1" i="1" dirty="0">
                <a:ea typeface="楷体_GB2312" pitchFamily="1" charset="-122"/>
              </a:rPr>
              <a:t>n</a:t>
            </a:r>
            <a:r>
              <a:rPr lang="zh-CN" altLang="en-US" sz="2400" b="1" dirty="0">
                <a:latin typeface="楷体_GB2312" pitchFamily="1" charset="-122"/>
                <a:ea typeface="楷体_GB2312" pitchFamily="1" charset="-122"/>
              </a:rPr>
              <a:t>位的权电阻网络</a:t>
            </a:r>
            <a:r>
              <a:rPr lang="zh-CN" altLang="en-US" sz="2400" b="1" dirty="0">
                <a:ea typeface="楷体_GB2312" pitchFamily="1" charset="-122"/>
              </a:rPr>
              <a:t>D/A</a:t>
            </a:r>
            <a:r>
              <a:rPr lang="zh-CN" altLang="en-US" sz="2400" b="1" dirty="0">
                <a:latin typeface="楷体_GB2312" pitchFamily="1" charset="-122"/>
                <a:ea typeface="楷体_GB2312" pitchFamily="1" charset="-122"/>
              </a:rPr>
              <a:t>转换器，有: </a:t>
            </a:r>
          </a:p>
        </p:txBody>
      </p:sp>
      <p:graphicFrame>
        <p:nvGraphicFramePr>
          <p:cNvPr id="29701" name="对象 29700">
            <a:extLst>
              <a:ext uri="{FF2B5EF4-FFF2-40B4-BE49-F238E27FC236}">
                <a16:creationId xmlns:a16="http://schemas.microsoft.com/office/drawing/2014/main" id="{87FD97A9-44D6-3675-1714-0DE172F3C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551272"/>
              </p:ext>
            </p:extLst>
          </p:nvPr>
        </p:nvGraphicFramePr>
        <p:xfrm>
          <a:off x="2927648" y="3429000"/>
          <a:ext cx="612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78100" imgH="342900" progId="Equation.DSMT4">
                  <p:embed/>
                </p:oleObj>
              </mc:Choice>
              <mc:Fallback>
                <p:oleObj r:id="rId2" imgW="2578100" imgH="342900" progId="Equation.DSMT4">
                  <p:embed/>
                  <p:pic>
                    <p:nvPicPr>
                      <p:cNvPr id="29701" name="对象 29700">
                        <a:extLst>
                          <a:ext uri="{FF2B5EF4-FFF2-40B4-BE49-F238E27FC236}">
                            <a16:creationId xmlns:a16="http://schemas.microsoft.com/office/drawing/2014/main" id="{87FD97A9-44D6-3675-1714-0DE172F3C6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3429000"/>
                        <a:ext cx="6121400" cy="8128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文本框 29701">
            <a:extLst>
              <a:ext uri="{FF2B5EF4-FFF2-40B4-BE49-F238E27FC236}">
                <a16:creationId xmlns:a16="http://schemas.microsoft.com/office/drawing/2014/main" id="{939EB8BA-EDEC-FBE4-1561-F8588438A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622" y="5157788"/>
            <a:ext cx="619442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优点：</a:t>
            </a:r>
            <a:r>
              <a:rPr lang="zh-CN" altLang="en-US" sz="2400" b="1" dirty="0">
                <a:latin typeface="宋体" panose="02010600030101010101" pitchFamily="2" charset="-122"/>
              </a:rPr>
              <a:t>结构比较简单，电阻元件数较少。 </a:t>
            </a:r>
          </a:p>
        </p:txBody>
      </p:sp>
      <p:sp>
        <p:nvSpPr>
          <p:cNvPr id="29703" name="矩形 29702">
            <a:extLst>
              <a:ext uri="{FF2B5EF4-FFF2-40B4-BE49-F238E27FC236}">
                <a16:creationId xmlns:a16="http://schemas.microsoft.com/office/drawing/2014/main" id="{BCABA3AC-0B72-D54C-B551-FC772F0BA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623" y="5759241"/>
            <a:ext cx="6194425" cy="4766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缺点</a:t>
            </a:r>
            <a:r>
              <a:rPr lang="zh-CN" altLang="en-US" sz="2400" b="1" dirty="0">
                <a:latin typeface="宋体" panose="02010600030101010101" pitchFamily="2" charset="-122"/>
              </a:rPr>
              <a:t>：电阻的阻值相差较大，</a:t>
            </a:r>
            <a:r>
              <a:rPr lang="zh-CN" altLang="en-US" sz="2400" b="1" dirty="0">
                <a:latin typeface="宋体" panose="02010600030101010101" pitchFamily="2" charset="-122"/>
                <a:sym typeface="Arial" panose="020B0604020202020204" pitchFamily="34" charset="0"/>
              </a:rPr>
              <a:t>制造工艺复杂。</a:t>
            </a:r>
          </a:p>
        </p:txBody>
      </p:sp>
      <p:sp>
        <p:nvSpPr>
          <p:cNvPr id="29704" name="文本框 29703">
            <a:extLst>
              <a:ext uri="{FF2B5EF4-FFF2-40B4-BE49-F238E27FC236}">
                <a16:creationId xmlns:a16="http://schemas.microsoft.com/office/drawing/2014/main" id="{3C404455-5CA7-ECAA-86B1-D8112BECB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361" y="4581525"/>
            <a:ext cx="4608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 权电阻网络D/A转换器的特点</a:t>
            </a:r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6BD34D08-ED67-63C6-6376-C03D06DD7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84" y="1600499"/>
            <a:ext cx="34467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权电阻网络D/A转换器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5ADC9E-1865-93B8-7C0A-27EC846F88E9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9549C-FDA3-A226-1ABD-64B3539EE553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1E897F-18FD-2644-B7A4-129A2FA350C3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FE381F-E927-D276-33E5-50FC779F52CE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EC203E20-0D23-3197-3E27-D7D6DA22F891}"/>
              </a:ext>
            </a:extLst>
          </p:cNvPr>
          <p:cNvSpPr/>
          <p:nvPr/>
        </p:nvSpPr>
        <p:spPr>
          <a:xfrm>
            <a:off x="341388" y="100284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矩形 30724">
            <a:extLst>
              <a:ext uri="{FF2B5EF4-FFF2-40B4-BE49-F238E27FC236}">
                <a16:creationId xmlns:a16="http://schemas.microsoft.com/office/drawing/2014/main" id="{D8CC8E7D-9736-87D6-0C79-D3EAB08B0383}"/>
              </a:ext>
            </a:extLst>
          </p:cNvPr>
          <p:cNvSpPr/>
          <p:nvPr/>
        </p:nvSpPr>
        <p:spPr>
          <a:xfrm>
            <a:off x="1343127" y="2118027"/>
            <a:ext cx="3960812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1" charset="-122"/>
                <a:sym typeface="Arial" panose="020B0604020202020204" pitchFamily="34" charset="0"/>
              </a:rPr>
              <a:t>电路组成</a:t>
            </a:r>
            <a:r>
              <a:rPr lang="zh-CN" altLang="en-US" b="1" dirty="0">
                <a:solidFill>
                  <a:schemeClr val="tx2"/>
                </a:solidFill>
                <a:latin typeface="Verdana" panose="020B0604030504040204" pitchFamily="34" charset="0"/>
                <a:sym typeface="Arial" panose="020B0604020202020204" pitchFamily="34" charset="0"/>
              </a:rPr>
              <a:t> </a:t>
            </a:r>
          </a:p>
        </p:txBody>
      </p:sp>
      <p:pic>
        <p:nvPicPr>
          <p:cNvPr id="30726" name="图片 30725" descr="11-2-3">
            <a:extLst>
              <a:ext uri="{FF2B5EF4-FFF2-40B4-BE49-F238E27FC236}">
                <a16:creationId xmlns:a16="http://schemas.microsoft.com/office/drawing/2014/main" id="{8DE8312F-F1E9-80CF-575B-C94D0B890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924944"/>
            <a:ext cx="6335712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文本框 30727">
            <a:extLst>
              <a:ext uri="{FF2B5EF4-FFF2-40B4-BE49-F238E27FC236}">
                <a16:creationId xmlns:a16="http://schemas.microsoft.com/office/drawing/2014/main" id="{3C1FF1C0-E852-DD41-0E51-825A8CAB4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048" y="3429000"/>
            <a:ext cx="5617616" cy="2400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模拟开关 S</a:t>
            </a:r>
            <a:r>
              <a:rPr lang="zh-CN" altLang="en-US" sz="2400" b="1" i="1" baseline="-25000" dirty="0"/>
              <a:t>i</a:t>
            </a:r>
            <a:r>
              <a:rPr lang="zh-CN" altLang="en-US" sz="2400" b="1" dirty="0"/>
              <a:t> </a:t>
            </a:r>
            <a:endParaRPr lang="en-US" altLang="zh-CN" sz="2400" b="1" dirty="0"/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</a:rPr>
              <a:t>打向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”右</a:t>
            </a:r>
            <a:r>
              <a:rPr lang="zh-CN" altLang="en-US" sz="2000" b="1" dirty="0">
                <a:solidFill>
                  <a:srgbClr val="0000FF"/>
                </a:solidFill>
              </a:rPr>
              <a:t>侧</a:t>
            </a:r>
            <a:r>
              <a:rPr lang="zh-CN" altLang="en-US" sz="2000" b="1" dirty="0"/>
              <a:t>时，相应 2</a:t>
            </a:r>
            <a:r>
              <a:rPr lang="zh-CN" altLang="en-US" sz="2000" b="1" i="1" dirty="0"/>
              <a:t>R</a:t>
            </a:r>
            <a:r>
              <a:rPr lang="zh-CN" altLang="en-US" sz="2000" b="1" dirty="0"/>
              <a:t> 支路</a:t>
            </a:r>
            <a:r>
              <a:rPr lang="zh-CN" altLang="en-US" sz="2000" b="1" dirty="0">
                <a:solidFill>
                  <a:srgbClr val="0000FF"/>
                </a:solidFill>
              </a:rPr>
              <a:t>接虚地  </a:t>
            </a:r>
            <a:r>
              <a:rPr lang="en-US" altLang="zh-CN" sz="2000" b="1" dirty="0">
                <a:solidFill>
                  <a:srgbClr val="0000FF"/>
                </a:solidFill>
              </a:rPr>
              <a:t>V-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CC3300"/>
                </a:solidFill>
              </a:rPr>
              <a:t>打向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CC3300"/>
                </a:solidFill>
              </a:rPr>
              <a:t>0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”左</a:t>
            </a:r>
            <a:r>
              <a:rPr lang="zh-CN" altLang="en-US" sz="2000" b="1" dirty="0">
                <a:solidFill>
                  <a:srgbClr val="CC3300"/>
                </a:solidFill>
              </a:rPr>
              <a:t>侧</a:t>
            </a:r>
            <a:r>
              <a:rPr lang="zh-CN" altLang="en-US" sz="2000" b="1" dirty="0"/>
              <a:t>时，相应 2</a:t>
            </a:r>
            <a:r>
              <a:rPr lang="zh-CN" altLang="en-US" sz="2000" b="1" i="1" dirty="0"/>
              <a:t>R</a:t>
            </a:r>
            <a:r>
              <a:rPr lang="zh-CN" altLang="en-US" sz="2000" b="1" dirty="0"/>
              <a:t> 支路</a:t>
            </a:r>
            <a:r>
              <a:rPr lang="zh-CN" altLang="en-US" sz="2000" b="1" dirty="0">
                <a:solidFill>
                  <a:srgbClr val="CC3300"/>
                </a:solidFill>
              </a:rPr>
              <a:t>接地  </a:t>
            </a:r>
            <a:r>
              <a:rPr lang="en-US" altLang="zh-CN" sz="2000" b="1" dirty="0">
                <a:solidFill>
                  <a:srgbClr val="CC3300"/>
                </a:solidFill>
              </a:rPr>
              <a:t>V+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algn="just" eaLnBrk="1" hangingPunct="1">
              <a:spcBef>
                <a:spcPct val="50000"/>
              </a:spcBef>
              <a:buFontTx/>
              <a:buNone/>
            </a:pPr>
            <a:endParaRPr lang="en-US" altLang="zh-CN" sz="2400" b="1" dirty="0"/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/>
              <a:t>故无论开关打向哪侧，电阻2</a:t>
            </a:r>
            <a:r>
              <a:rPr lang="zh-CN" altLang="en-US" sz="2000" b="1" i="1" dirty="0"/>
              <a:t>R</a:t>
            </a:r>
            <a:r>
              <a:rPr lang="zh-CN" altLang="en-US" sz="2000" b="1" dirty="0"/>
              <a:t>总是与地相连。</a:t>
            </a:r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D07DCC8A-DD42-2876-2413-C55346919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84" y="1600499"/>
            <a:ext cx="39437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倒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T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型电阻网络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D/A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61F03E-F319-8AE0-B71D-E1A68DF9CE89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680437-5054-C2FD-E9A6-0DE9C9F3FB87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E8602A-5192-3A7F-D82F-FB0C9D3CAFD9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D53DC2-ACE1-09B3-8D18-4269A184122D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ED538807-4785-C709-1B5C-1F9D0A173A08}"/>
              </a:ext>
            </a:extLst>
          </p:cNvPr>
          <p:cNvSpPr/>
          <p:nvPr/>
        </p:nvSpPr>
        <p:spPr>
          <a:xfrm>
            <a:off x="341388" y="100284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9" name="组合 31748">
            <a:extLst>
              <a:ext uri="{FF2B5EF4-FFF2-40B4-BE49-F238E27FC236}">
                <a16:creationId xmlns:a16="http://schemas.microsoft.com/office/drawing/2014/main" id="{2840E23D-9BE6-D4A6-331F-CF97DAF3E685}"/>
              </a:ext>
            </a:extLst>
          </p:cNvPr>
          <p:cNvGrpSpPr>
            <a:grpSpLocks/>
          </p:cNvGrpSpPr>
          <p:nvPr/>
        </p:nvGrpSpPr>
        <p:grpSpPr bwMode="auto">
          <a:xfrm>
            <a:off x="2711451" y="2420938"/>
            <a:ext cx="6340475" cy="1790700"/>
            <a:chOff x="0" y="0"/>
            <a:chExt cx="3994" cy="1128"/>
          </a:xfrm>
        </p:grpSpPr>
        <p:sp>
          <p:nvSpPr>
            <p:cNvPr id="61467" name="矩形 31749">
              <a:extLst>
                <a:ext uri="{FF2B5EF4-FFF2-40B4-BE49-F238E27FC236}">
                  <a16:creationId xmlns:a16="http://schemas.microsoft.com/office/drawing/2014/main" id="{BA629801-CEE7-3C1D-82D5-57C828B78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50"/>
              <a:ext cx="153" cy="212"/>
            </a:xfrm>
            <a:prstGeom prst="rect">
              <a:avLst/>
            </a:prstGeom>
            <a:solidFill>
              <a:srgbClr val="FF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68" name="矩形 31750">
              <a:extLst>
                <a:ext uri="{FF2B5EF4-FFF2-40B4-BE49-F238E27FC236}">
                  <a16:creationId xmlns:a16="http://schemas.microsoft.com/office/drawing/2014/main" id="{1648BBB7-7BB5-E2F1-31CA-C3F9599EA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" y="238"/>
              <a:ext cx="153" cy="21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69" name="矩形 31751">
              <a:extLst>
                <a:ext uri="{FF2B5EF4-FFF2-40B4-BE49-F238E27FC236}">
                  <a16:creationId xmlns:a16="http://schemas.microsoft.com/office/drawing/2014/main" id="{8EFAD812-781D-5A42-8BC9-603A4CF36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238"/>
              <a:ext cx="153" cy="212"/>
            </a:xfrm>
            <a:prstGeom prst="rect">
              <a:avLst/>
            </a:prstGeom>
            <a:solidFill>
              <a:srgbClr val="66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70" name="矩形 31752">
              <a:extLst>
                <a:ext uri="{FF2B5EF4-FFF2-40B4-BE49-F238E27FC236}">
                  <a16:creationId xmlns:a16="http://schemas.microsoft.com/office/drawing/2014/main" id="{10F2A92F-F974-9350-6079-9FB1A127E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50"/>
              <a:ext cx="153" cy="21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71" name="矩形 31753">
              <a:extLst>
                <a:ext uri="{FF2B5EF4-FFF2-40B4-BE49-F238E27FC236}">
                  <a16:creationId xmlns:a16="http://schemas.microsoft.com/office/drawing/2014/main" id="{38325D27-0F4A-BF5D-58C6-B099E3DCD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886"/>
              <a:ext cx="153" cy="212"/>
            </a:xfrm>
            <a:prstGeom prst="rect">
              <a:avLst/>
            </a:prstGeom>
            <a:solidFill>
              <a:srgbClr val="FF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72" name="矩形 31754">
              <a:extLst>
                <a:ext uri="{FF2B5EF4-FFF2-40B4-BE49-F238E27FC236}">
                  <a16:creationId xmlns:a16="http://schemas.microsoft.com/office/drawing/2014/main" id="{D9113871-0213-CB31-DD76-AD93A035C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874"/>
              <a:ext cx="153" cy="21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73" name="矩形 31755">
              <a:extLst>
                <a:ext uri="{FF2B5EF4-FFF2-40B4-BE49-F238E27FC236}">
                  <a16:creationId xmlns:a16="http://schemas.microsoft.com/office/drawing/2014/main" id="{40311C01-8C42-BB76-B373-C6AD76CEE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" y="874"/>
              <a:ext cx="153" cy="212"/>
            </a:xfrm>
            <a:prstGeom prst="rect">
              <a:avLst/>
            </a:prstGeom>
            <a:solidFill>
              <a:srgbClr val="66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74" name="矩形 31756">
              <a:extLst>
                <a:ext uri="{FF2B5EF4-FFF2-40B4-BE49-F238E27FC236}">
                  <a16:creationId xmlns:a16="http://schemas.microsoft.com/office/drawing/2014/main" id="{ED02C16B-44E4-75A5-83A3-2ADC6CA5F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" y="886"/>
              <a:ext cx="153" cy="21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61475" name="组合 31757">
              <a:extLst>
                <a:ext uri="{FF2B5EF4-FFF2-40B4-BE49-F238E27FC236}">
                  <a16:creationId xmlns:a16="http://schemas.microsoft.com/office/drawing/2014/main" id="{087FAFA4-3390-109B-4A8C-456B5F86D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994" cy="1128"/>
              <a:chOff x="0" y="0"/>
              <a:chExt cx="3994" cy="1128"/>
            </a:xfrm>
          </p:grpSpPr>
          <p:sp>
            <p:nvSpPr>
              <p:cNvPr id="61476" name="流程图: 过程 31758">
                <a:extLst>
                  <a:ext uri="{FF2B5EF4-FFF2-40B4-BE49-F238E27FC236}">
                    <a16:creationId xmlns:a16="http://schemas.microsoft.com/office/drawing/2014/main" id="{45F6DD26-50C1-8A6B-52D7-CE1A99896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936" cy="1128"/>
              </a:xfrm>
              <a:prstGeom prst="flowChartProcess">
                <a:avLst/>
              </a:prstGeom>
              <a:noFill/>
              <a:ln w="57150">
                <a:pattFill prst="sphere">
                  <a:fgClr>
                    <a:srgbClr val="CC99FF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77" name="直接连接符 31759">
                <a:extLst>
                  <a:ext uri="{FF2B5EF4-FFF2-40B4-BE49-F238E27FC236}">
                    <a16:creationId xmlns:a16="http://schemas.microsoft.com/office/drawing/2014/main" id="{12794192-0BE2-F5AD-1D9D-0D1794543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" y="730"/>
                <a:ext cx="3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8" name="直接连接符 31760">
                <a:extLst>
                  <a:ext uri="{FF2B5EF4-FFF2-40B4-BE49-F238E27FC236}">
                    <a16:creationId xmlns:a16="http://schemas.microsoft.com/office/drawing/2014/main" id="{E2224E91-FA92-B947-3E35-42C6AD8F6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28" y="66"/>
                <a:ext cx="0" cy="6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9" name="矩形 31761">
                <a:extLst>
                  <a:ext uri="{FF2B5EF4-FFF2-40B4-BE49-F238E27FC236}">
                    <a16:creationId xmlns:a16="http://schemas.microsoft.com/office/drawing/2014/main" id="{BE9FABA8-0A0A-15E9-C342-758FE5E48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2688" y="250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0" name="直接连接符 31762">
                <a:extLst>
                  <a:ext uri="{FF2B5EF4-FFF2-40B4-BE49-F238E27FC236}">
                    <a16:creationId xmlns:a16="http://schemas.microsoft.com/office/drawing/2014/main" id="{58E6A5E0-1089-ED56-5FA6-5D6E049ED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22" y="66"/>
                <a:ext cx="0" cy="6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1" name="矩形 31763">
                <a:extLst>
                  <a:ext uri="{FF2B5EF4-FFF2-40B4-BE49-F238E27FC236}">
                    <a16:creationId xmlns:a16="http://schemas.microsoft.com/office/drawing/2014/main" id="{1B457125-5BE2-17BA-47BA-99B39D7A9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2082" y="250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2" name="矩形 31764">
                <a:extLst>
                  <a:ext uri="{FF2B5EF4-FFF2-40B4-BE49-F238E27FC236}">
                    <a16:creationId xmlns:a16="http://schemas.microsoft.com/office/drawing/2014/main" id="{F78A9A73-5A2C-449F-1DBD-AF68C0A78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 flipV="1">
                <a:off x="1794" y="642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3" name="直接连接符 31765">
                <a:extLst>
                  <a:ext uri="{FF2B5EF4-FFF2-40B4-BE49-F238E27FC236}">
                    <a16:creationId xmlns:a16="http://schemas.microsoft.com/office/drawing/2014/main" id="{49393B6C-05A4-32D8-6C6F-EB25EB59D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10" y="66"/>
                <a:ext cx="0" cy="6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4" name="矩形 31766">
                <a:extLst>
                  <a:ext uri="{FF2B5EF4-FFF2-40B4-BE49-F238E27FC236}">
                    <a16:creationId xmlns:a16="http://schemas.microsoft.com/office/drawing/2014/main" id="{C3FFBB35-65F3-48CD-63E4-7749D5FE6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 flipV="1">
                <a:off x="1148" y="642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5" name="直接连接符 31767">
                <a:extLst>
                  <a:ext uri="{FF2B5EF4-FFF2-40B4-BE49-F238E27FC236}">
                    <a16:creationId xmlns:a16="http://schemas.microsoft.com/office/drawing/2014/main" id="{2F422100-70FE-623C-C2D2-4E1C270F4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8" y="66"/>
                <a:ext cx="0" cy="6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6" name="矩形 31768">
                <a:extLst>
                  <a:ext uri="{FF2B5EF4-FFF2-40B4-BE49-F238E27FC236}">
                    <a16:creationId xmlns:a16="http://schemas.microsoft.com/office/drawing/2014/main" id="{BBEA2B90-13A0-97ED-941D-6AFC961F3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848" y="250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7" name="直接连接符 31769">
                <a:extLst>
                  <a:ext uri="{FF2B5EF4-FFF2-40B4-BE49-F238E27FC236}">
                    <a16:creationId xmlns:a16="http://schemas.microsoft.com/office/drawing/2014/main" id="{EE7E4EC5-483C-AF63-25AC-FC214B469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" y="68"/>
                <a:ext cx="0" cy="66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8" name="矩形 31770">
                <a:extLst>
                  <a:ext uri="{FF2B5EF4-FFF2-40B4-BE49-F238E27FC236}">
                    <a16:creationId xmlns:a16="http://schemas.microsoft.com/office/drawing/2014/main" id="{0E36F0C3-FBC5-2E7C-4B16-68CA34AB3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20" y="250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89" name="矩形 31771">
                <a:extLst>
                  <a:ext uri="{FF2B5EF4-FFF2-40B4-BE49-F238E27FC236}">
                    <a16:creationId xmlns:a16="http://schemas.microsoft.com/office/drawing/2014/main" id="{0F498B80-F31F-535F-C94C-EDB024EC1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 flipV="1">
                <a:off x="2402" y="642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490" name="直接连接符 31772">
                <a:extLst>
                  <a:ext uri="{FF2B5EF4-FFF2-40B4-BE49-F238E27FC236}">
                    <a16:creationId xmlns:a16="http://schemas.microsoft.com/office/drawing/2014/main" id="{74ABE2DC-1047-EEB1-2508-DBCBB8F46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14" y="74"/>
                <a:ext cx="0" cy="2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1" name="直接连接符 31773">
                <a:extLst>
                  <a:ext uri="{FF2B5EF4-FFF2-40B4-BE49-F238E27FC236}">
                    <a16:creationId xmlns:a16="http://schemas.microsoft.com/office/drawing/2014/main" id="{52EE8976-8EFF-3BBD-B2B4-38D2603A3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8" y="29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2" name="直接连接符 31774">
                <a:extLst>
                  <a:ext uri="{FF2B5EF4-FFF2-40B4-BE49-F238E27FC236}">
                    <a16:creationId xmlns:a16="http://schemas.microsoft.com/office/drawing/2014/main" id="{E47FFBF0-B795-0867-2019-2992DAF20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68" y="83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3" name="矩形 31775">
                <a:extLst>
                  <a:ext uri="{FF2B5EF4-FFF2-40B4-BE49-F238E27FC236}">
                    <a16:creationId xmlns:a16="http://schemas.microsoft.com/office/drawing/2014/main" id="{78C5A53F-1916-5D76-9068-B19862848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822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endParaRPr lang="en-US" altLang="zh-CN" sz="1800" b="1" baseline="-25000"/>
              </a:p>
            </p:txBody>
          </p:sp>
          <p:sp>
            <p:nvSpPr>
              <p:cNvPr id="61494" name="直接连接符 31776">
                <a:extLst>
                  <a:ext uri="{FF2B5EF4-FFF2-40B4-BE49-F238E27FC236}">
                    <a16:creationId xmlns:a16="http://schemas.microsoft.com/office/drawing/2014/main" id="{7DBB5BEB-98A6-0ADA-1E89-8BD1563124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36" y="83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5" name="矩形 31777">
                <a:extLst>
                  <a:ext uri="{FF2B5EF4-FFF2-40B4-BE49-F238E27FC236}">
                    <a16:creationId xmlns:a16="http://schemas.microsoft.com/office/drawing/2014/main" id="{A3A56941-9B0F-480B-0734-C832439E5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6" y="822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3</a:t>
                </a:r>
              </a:p>
            </p:txBody>
          </p:sp>
          <p:sp>
            <p:nvSpPr>
              <p:cNvPr id="61496" name="直接连接符 31778">
                <a:extLst>
                  <a:ext uri="{FF2B5EF4-FFF2-40B4-BE49-F238E27FC236}">
                    <a16:creationId xmlns:a16="http://schemas.microsoft.com/office/drawing/2014/main" id="{4B2D9E69-C31D-F0CD-B09E-925B740F2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83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7" name="矩形 31779">
                <a:extLst>
                  <a:ext uri="{FF2B5EF4-FFF2-40B4-BE49-F238E27FC236}">
                    <a16:creationId xmlns:a16="http://schemas.microsoft.com/office/drawing/2014/main" id="{CCCC7C08-EF6D-C1C8-2BA9-9E9A218ED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822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2</a:t>
                </a:r>
              </a:p>
            </p:txBody>
          </p:sp>
          <p:sp>
            <p:nvSpPr>
              <p:cNvPr id="61498" name="直接连接符 31780">
                <a:extLst>
                  <a:ext uri="{FF2B5EF4-FFF2-40B4-BE49-F238E27FC236}">
                    <a16:creationId xmlns:a16="http://schemas.microsoft.com/office/drawing/2014/main" id="{A49F5569-3C71-CC41-5369-C07583D82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88" y="83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9" name="矩形 31781">
                <a:extLst>
                  <a:ext uri="{FF2B5EF4-FFF2-40B4-BE49-F238E27FC236}">
                    <a16:creationId xmlns:a16="http://schemas.microsoft.com/office/drawing/2014/main" id="{8D03D649-3CFD-EAB7-B2E4-A34ED642C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822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1</a:t>
                </a:r>
              </a:p>
            </p:txBody>
          </p:sp>
          <p:sp>
            <p:nvSpPr>
              <p:cNvPr id="61500" name="直接连接符 31782">
                <a:extLst>
                  <a:ext uri="{FF2B5EF4-FFF2-40B4-BE49-F238E27FC236}">
                    <a16:creationId xmlns:a16="http://schemas.microsoft.com/office/drawing/2014/main" id="{0FFE5AF1-0E8B-2F72-A842-FE75BB0D56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8" y="83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1" name="矩形 31783">
                <a:extLst>
                  <a:ext uri="{FF2B5EF4-FFF2-40B4-BE49-F238E27FC236}">
                    <a16:creationId xmlns:a16="http://schemas.microsoft.com/office/drawing/2014/main" id="{A7035B98-320C-857D-C244-E2EF9555F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" y="822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0</a:t>
                </a:r>
              </a:p>
            </p:txBody>
          </p:sp>
          <p:sp>
            <p:nvSpPr>
              <p:cNvPr id="61502" name="矩形 31784">
                <a:extLst>
                  <a:ext uri="{FF2B5EF4-FFF2-40B4-BE49-F238E27FC236}">
                    <a16:creationId xmlns:a16="http://schemas.microsoft.com/office/drawing/2014/main" id="{A5703D3D-F0B3-2981-1A4B-C3FD36FCD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0" y="582"/>
                <a:ext cx="5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V</a:t>
                </a:r>
                <a:r>
                  <a:rPr lang="en-US" altLang="zh-CN" sz="1800" b="1" baseline="-25000"/>
                  <a:t>REF</a:t>
                </a:r>
              </a:p>
            </p:txBody>
          </p:sp>
          <p:sp>
            <p:nvSpPr>
              <p:cNvPr id="61503" name="矩形 31785">
                <a:extLst>
                  <a:ext uri="{FF2B5EF4-FFF2-40B4-BE49-F238E27FC236}">
                    <a16:creationId xmlns:a16="http://schemas.microsoft.com/office/drawing/2014/main" id="{95192807-B5BB-FC92-A456-A6042253E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18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1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1800" b="1" i="1" baseline="-25000">
                  <a:solidFill>
                    <a:srgbClr val="FF3300"/>
                  </a:solidFill>
                  <a:ea typeface="仿宋_GB2312" pitchFamily="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504" name="矩形 31786">
                <a:extLst>
                  <a:ext uri="{FF2B5EF4-FFF2-40B4-BE49-F238E27FC236}">
                    <a16:creationId xmlns:a16="http://schemas.microsoft.com/office/drawing/2014/main" id="{6908B561-2617-7CAA-4E30-44578ABCE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" y="18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1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1800" b="1" i="1" baseline="-25000">
                  <a:solidFill>
                    <a:srgbClr val="FF3300"/>
                  </a:solidFill>
                  <a:ea typeface="仿宋_GB2312" pitchFamily="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505" name="矩形 31787">
                <a:extLst>
                  <a:ext uri="{FF2B5EF4-FFF2-40B4-BE49-F238E27FC236}">
                    <a16:creationId xmlns:a16="http://schemas.microsoft.com/office/drawing/2014/main" id="{30B94866-DF4D-2500-21E9-366ABFC2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190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0</a:t>
                </a:r>
              </a:p>
            </p:txBody>
          </p:sp>
          <p:sp>
            <p:nvSpPr>
              <p:cNvPr id="61506" name="矩形 31788">
                <a:extLst>
                  <a:ext uri="{FF2B5EF4-FFF2-40B4-BE49-F238E27FC236}">
                    <a16:creationId xmlns:a16="http://schemas.microsoft.com/office/drawing/2014/main" id="{564C24D8-2B51-EFCE-A6CB-7D5A1AD75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8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1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1800" b="1" i="1" baseline="-25000">
                  <a:solidFill>
                    <a:srgbClr val="FF3300"/>
                  </a:solidFill>
                  <a:ea typeface="仿宋_GB2312" pitchFamily="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507" name="矩形 31789">
                <a:extLst>
                  <a:ext uri="{FF2B5EF4-FFF2-40B4-BE49-F238E27FC236}">
                    <a16:creationId xmlns:a16="http://schemas.microsoft.com/office/drawing/2014/main" id="{879ECE42-D10C-0C25-87DD-7025944CA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190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1</a:t>
                </a:r>
              </a:p>
            </p:txBody>
          </p:sp>
          <p:sp>
            <p:nvSpPr>
              <p:cNvPr id="61508" name="矩形 31790">
                <a:extLst>
                  <a:ext uri="{FF2B5EF4-FFF2-40B4-BE49-F238E27FC236}">
                    <a16:creationId xmlns:a16="http://schemas.microsoft.com/office/drawing/2014/main" id="{B8DC7A72-D14E-36E7-FDDE-C99D6779F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8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1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1800" b="1" i="1" baseline="-25000">
                  <a:solidFill>
                    <a:srgbClr val="FF3300"/>
                  </a:solidFill>
                  <a:ea typeface="仿宋_GB2312" pitchFamily="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509" name="矩形 31791">
                <a:extLst>
                  <a:ext uri="{FF2B5EF4-FFF2-40B4-BE49-F238E27FC236}">
                    <a16:creationId xmlns:a16="http://schemas.microsoft.com/office/drawing/2014/main" id="{73E233AD-27DF-468D-44E3-A4C6AA8B3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8" y="190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2</a:t>
                </a:r>
              </a:p>
            </p:txBody>
          </p:sp>
          <p:sp>
            <p:nvSpPr>
              <p:cNvPr id="61510" name="矩形 31792">
                <a:extLst>
                  <a:ext uri="{FF2B5EF4-FFF2-40B4-BE49-F238E27FC236}">
                    <a16:creationId xmlns:a16="http://schemas.microsoft.com/office/drawing/2014/main" id="{D7E5D76B-9911-9195-0EBF-D1ED32EB6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8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1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1800" b="1" i="1" baseline="-25000">
                  <a:solidFill>
                    <a:srgbClr val="FF3300"/>
                  </a:solidFill>
                  <a:ea typeface="仿宋_GB2312" pitchFamily="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511" name="矩形 31793">
                <a:extLst>
                  <a:ext uri="{FF2B5EF4-FFF2-40B4-BE49-F238E27FC236}">
                    <a16:creationId xmlns:a16="http://schemas.microsoft.com/office/drawing/2014/main" id="{0CE02230-CF37-73B4-49C9-00AB53FFC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90"/>
                <a:ext cx="35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/>
                  <a:t>I</a:t>
                </a:r>
                <a:r>
                  <a:rPr lang="en-US" altLang="zh-CN" sz="1800" b="1" baseline="-25000"/>
                  <a:t>3</a:t>
                </a:r>
              </a:p>
            </p:txBody>
          </p:sp>
          <p:sp>
            <p:nvSpPr>
              <p:cNvPr id="61512" name="矩形 31794">
                <a:extLst>
                  <a:ext uri="{FF2B5EF4-FFF2-40B4-BE49-F238E27FC236}">
                    <a16:creationId xmlns:a16="http://schemas.microsoft.com/office/drawing/2014/main" id="{A4B5B806-8985-D51E-00B8-A29BB69D8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1488" y="250"/>
                <a:ext cx="72" cy="1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513" name="直接连接符 31795">
                <a:extLst>
                  <a:ext uri="{FF2B5EF4-FFF2-40B4-BE49-F238E27FC236}">
                    <a16:creationId xmlns:a16="http://schemas.microsoft.com/office/drawing/2014/main" id="{7AE85331-E4D3-9EFC-C930-54397C9F0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0" y="2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4" name="直接连接符 31796">
                <a:extLst>
                  <a:ext uri="{FF2B5EF4-FFF2-40B4-BE49-F238E27FC236}">
                    <a16:creationId xmlns:a16="http://schemas.microsoft.com/office/drawing/2014/main" id="{056CC875-A528-42DC-8CED-00D061933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2" y="2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5" name="直接连接符 31797">
                <a:extLst>
                  <a:ext uri="{FF2B5EF4-FFF2-40B4-BE49-F238E27FC236}">
                    <a16:creationId xmlns:a16="http://schemas.microsoft.com/office/drawing/2014/main" id="{A662EF3F-332B-E02F-98EF-C874CF22D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4" y="2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6" name="直接连接符 31798">
                <a:extLst>
                  <a:ext uri="{FF2B5EF4-FFF2-40B4-BE49-F238E27FC236}">
                    <a16:creationId xmlns:a16="http://schemas.microsoft.com/office/drawing/2014/main" id="{89CF83DC-31F1-5753-8228-8FF25912E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7" name="直接连接符 31799">
                <a:extLst>
                  <a:ext uri="{FF2B5EF4-FFF2-40B4-BE49-F238E27FC236}">
                    <a16:creationId xmlns:a16="http://schemas.microsoft.com/office/drawing/2014/main" id="{0BFB5D0D-55B3-E2DA-546E-1B23D4F19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" y="74"/>
                <a:ext cx="3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8" name="矩形 31800">
                <a:extLst>
                  <a:ext uri="{FF2B5EF4-FFF2-40B4-BE49-F238E27FC236}">
                    <a16:creationId xmlns:a16="http://schemas.microsoft.com/office/drawing/2014/main" id="{5CB07D50-5E3B-D069-2D1A-8C7FFA2C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" y="456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rgbClr val="00CC00"/>
                    </a:solidFill>
                    <a:sym typeface="Symbol" panose="05050102010706020507" pitchFamily="18" charset="2"/>
                  </a:rPr>
                  <a:t>R</a:t>
                </a:r>
              </a:p>
            </p:txBody>
          </p:sp>
          <p:sp>
            <p:nvSpPr>
              <p:cNvPr id="61519" name="矩形 31801">
                <a:extLst>
                  <a:ext uri="{FF2B5EF4-FFF2-40B4-BE49-F238E27FC236}">
                    <a16:creationId xmlns:a16="http://schemas.microsoft.com/office/drawing/2014/main" id="{B6D723A9-40DB-B722-E35A-424E8681F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0" y="456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rgbClr val="00CC00"/>
                    </a:solidFill>
                    <a:sym typeface="Symbol" panose="05050102010706020507" pitchFamily="18" charset="2"/>
                  </a:rPr>
                  <a:t>R</a:t>
                </a:r>
              </a:p>
            </p:txBody>
          </p:sp>
          <p:sp>
            <p:nvSpPr>
              <p:cNvPr id="61520" name="矩形 31802">
                <a:extLst>
                  <a:ext uri="{FF2B5EF4-FFF2-40B4-BE49-F238E27FC236}">
                    <a16:creationId xmlns:a16="http://schemas.microsoft.com/office/drawing/2014/main" id="{1912263E-1D4E-01FD-34BC-A5C7618B9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6" y="448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rgbClr val="00CC00"/>
                    </a:solidFill>
                    <a:sym typeface="Symbol" panose="05050102010706020507" pitchFamily="18" charset="2"/>
                  </a:rPr>
                  <a:t>R</a:t>
                </a:r>
              </a:p>
            </p:txBody>
          </p:sp>
        </p:grpSp>
      </p:grpSp>
      <p:sp>
        <p:nvSpPr>
          <p:cNvPr id="31804" name="文本框 31803">
            <a:extLst>
              <a:ext uri="{FF2B5EF4-FFF2-40B4-BE49-F238E27FC236}">
                <a16:creationId xmlns:a16="http://schemas.microsoft.com/office/drawing/2014/main" id="{8FBA518E-F24B-DB93-7176-B5478250E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1916113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　倒 </a:t>
            </a:r>
            <a:r>
              <a:rPr lang="en-US" altLang="zh-CN" sz="2400" b="1"/>
              <a:t>T </a:t>
            </a:r>
            <a:r>
              <a:rPr lang="zh-CN" altLang="en-US" sz="2400" b="1"/>
              <a:t>型电阻网络均可等效为下图：</a:t>
            </a:r>
          </a:p>
        </p:txBody>
      </p:sp>
      <p:grpSp>
        <p:nvGrpSpPr>
          <p:cNvPr id="31805" name="组合 31804">
            <a:extLst>
              <a:ext uri="{FF2B5EF4-FFF2-40B4-BE49-F238E27FC236}">
                <a16:creationId xmlns:a16="http://schemas.microsoft.com/office/drawing/2014/main" id="{887E8DF4-AFB2-7BE0-B430-DBBC591C00F3}"/>
              </a:ext>
            </a:extLst>
          </p:cNvPr>
          <p:cNvGrpSpPr>
            <a:grpSpLocks/>
          </p:cNvGrpSpPr>
          <p:nvPr/>
        </p:nvGrpSpPr>
        <p:grpSpPr bwMode="auto">
          <a:xfrm>
            <a:off x="4872039" y="3502026"/>
            <a:ext cx="2376487" cy="538163"/>
            <a:chOff x="0" y="0"/>
            <a:chExt cx="1471" cy="339"/>
          </a:xfrm>
        </p:grpSpPr>
        <p:sp>
          <p:nvSpPr>
            <p:cNvPr id="61461" name="椭圆 31805">
              <a:extLst>
                <a:ext uri="{FF2B5EF4-FFF2-40B4-BE49-F238E27FC236}">
                  <a16:creationId xmlns:a16="http://schemas.microsoft.com/office/drawing/2014/main" id="{1CB038A2-1224-6FF1-B1E4-8DF7075CF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" y="0"/>
              <a:ext cx="56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62" name="矩形 31806">
              <a:extLst>
                <a:ext uri="{FF2B5EF4-FFF2-40B4-BE49-F238E27FC236}">
                  <a16:creationId xmlns:a16="http://schemas.microsoft.com/office/drawing/2014/main" id="{A4A32B53-97BD-D38A-1D77-8FBFE9685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61463" name="椭圆 31807">
              <a:extLst>
                <a:ext uri="{FF2B5EF4-FFF2-40B4-BE49-F238E27FC236}">
                  <a16:creationId xmlns:a16="http://schemas.microsoft.com/office/drawing/2014/main" id="{B43C2FE7-C300-1EF9-AF5D-5C44DE17A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0"/>
              <a:ext cx="56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64" name="矩形 31808">
              <a:extLst>
                <a:ext uri="{FF2B5EF4-FFF2-40B4-BE49-F238E27FC236}">
                  <a16:creationId xmlns:a16="http://schemas.microsoft.com/office/drawing/2014/main" id="{2FBB0348-5B66-040D-1C9A-2C59038FB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48"/>
              <a:ext cx="2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61465" name="椭圆 31809">
              <a:extLst>
                <a:ext uri="{FF2B5EF4-FFF2-40B4-BE49-F238E27FC236}">
                  <a16:creationId xmlns:a16="http://schemas.microsoft.com/office/drawing/2014/main" id="{182B4BA1-1EB7-67F6-1FEE-134154695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0"/>
              <a:ext cx="56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466" name="矩形 31810">
              <a:extLst>
                <a:ext uri="{FF2B5EF4-FFF2-40B4-BE49-F238E27FC236}">
                  <a16:creationId xmlns:a16="http://schemas.microsoft.com/office/drawing/2014/main" id="{5E418A72-2025-3351-3333-BA9D883E0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4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C</a:t>
              </a:r>
            </a:p>
          </p:txBody>
        </p:sp>
      </p:grpSp>
      <p:sp>
        <p:nvSpPr>
          <p:cNvPr id="31812" name="文本框 31811">
            <a:extLst>
              <a:ext uri="{FF2B5EF4-FFF2-40B4-BE49-F238E27FC236}">
                <a16:creationId xmlns:a16="http://schemas.microsoft.com/office/drawing/2014/main" id="{AEE3AA63-F714-DF58-CBFE-13DC6D597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292601"/>
            <a:ext cx="8424862" cy="466725"/>
          </a:xfrm>
          <a:prstGeom prst="rect">
            <a:avLst/>
          </a:prstGeom>
          <a:solidFill>
            <a:srgbClr val="CCCCFF">
              <a:alpha val="50195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从 </a:t>
            </a:r>
            <a:r>
              <a:rPr lang="en-US" altLang="zh-CN" sz="2400" b="1"/>
              <a:t>A</a:t>
            </a:r>
            <a:r>
              <a:rPr lang="zh-CN" altLang="en-US" sz="2400" b="1"/>
              <a:t>、</a:t>
            </a:r>
            <a:r>
              <a:rPr lang="en-US" altLang="zh-CN" sz="2400" b="1"/>
              <a:t>B</a:t>
            </a:r>
            <a:r>
              <a:rPr lang="zh-CN" altLang="en-US" sz="2400" b="1"/>
              <a:t>、</a:t>
            </a:r>
            <a:r>
              <a:rPr lang="en-US" altLang="zh-CN" sz="2400" b="1"/>
              <a:t>C </a:t>
            </a:r>
            <a:r>
              <a:rPr lang="zh-CN" altLang="en-US" sz="2400" b="1"/>
              <a:t>节点</a:t>
            </a:r>
            <a:r>
              <a:rPr lang="zh-CN" altLang="en-US" sz="2400" b="1">
                <a:solidFill>
                  <a:srgbClr val="CC3300"/>
                </a:solidFill>
              </a:rPr>
              <a:t>向左看去</a:t>
            </a:r>
            <a:r>
              <a:rPr lang="zh-CN" altLang="en-US" sz="2400" b="1"/>
              <a:t>，各节点对地的等效电阻均为 </a:t>
            </a:r>
            <a:r>
              <a:rPr lang="en-US" altLang="zh-CN" sz="2400" b="1">
                <a:solidFill>
                  <a:srgbClr val="CC3300"/>
                </a:solidFill>
              </a:rPr>
              <a:t>2</a:t>
            </a:r>
            <a:r>
              <a:rPr lang="en-US" altLang="zh-CN" sz="2400" b="1" i="1">
                <a:solidFill>
                  <a:srgbClr val="CC3300"/>
                </a:solidFill>
              </a:rPr>
              <a:t>R</a:t>
            </a:r>
            <a:r>
              <a:rPr lang="zh-CN" altLang="en-US" sz="2400" b="1"/>
              <a:t>。</a:t>
            </a:r>
          </a:p>
        </p:txBody>
      </p:sp>
      <p:sp>
        <p:nvSpPr>
          <p:cNvPr id="31813" name="文本框 31812">
            <a:extLst>
              <a:ext uri="{FF2B5EF4-FFF2-40B4-BE49-F238E27FC236}">
                <a16:creationId xmlns:a16="http://schemas.microsoft.com/office/drawing/2014/main" id="{57635C1D-424A-2FBB-3E50-4960738A7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6" y="4870450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因此有：</a:t>
            </a:r>
          </a:p>
        </p:txBody>
      </p:sp>
      <p:sp>
        <p:nvSpPr>
          <p:cNvPr id="31814" name="左箭头 31813">
            <a:extLst>
              <a:ext uri="{FF2B5EF4-FFF2-40B4-BE49-F238E27FC236}">
                <a16:creationId xmlns:a16="http://schemas.microsoft.com/office/drawing/2014/main" id="{38473E7B-66F7-DAB5-8F16-3D7A9EFEA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17926"/>
            <a:ext cx="647700" cy="92075"/>
          </a:xfrm>
          <a:prstGeom prst="leftArrow">
            <a:avLst>
              <a:gd name="adj1" fmla="val 50000"/>
              <a:gd name="adj2" fmla="val 1757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1815" name="对象 31814">
            <a:extLst>
              <a:ext uri="{FF2B5EF4-FFF2-40B4-BE49-F238E27FC236}">
                <a16:creationId xmlns:a16="http://schemas.microsoft.com/office/drawing/2014/main" id="{E11B6D19-39F4-906E-91B4-09AF9715E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4797426"/>
          <a:ext cx="11525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6382" imgH="406048" progId="Equation.DSMT4">
                  <p:embed/>
                </p:oleObj>
              </mc:Choice>
              <mc:Fallback>
                <p:oleObj r:id="rId2" imgW="596382" imgH="406048" progId="Equation.DSMT4">
                  <p:embed/>
                  <p:pic>
                    <p:nvPicPr>
                      <p:cNvPr id="31815" name="对象 31814">
                        <a:extLst>
                          <a:ext uri="{FF2B5EF4-FFF2-40B4-BE49-F238E27FC236}">
                            <a16:creationId xmlns:a16="http://schemas.microsoft.com/office/drawing/2014/main" id="{E11B6D19-39F4-906E-91B4-09AF9715E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797426"/>
                        <a:ext cx="1152525" cy="7397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16" name="上箭头 31815">
            <a:extLst>
              <a:ext uri="{FF2B5EF4-FFF2-40B4-BE49-F238E27FC236}">
                <a16:creationId xmlns:a16="http://schemas.microsoft.com/office/drawing/2014/main" id="{DD25E9DA-4BF9-139F-D30D-245CEF0E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1" y="2852738"/>
            <a:ext cx="42863" cy="482600"/>
          </a:xfrm>
          <a:prstGeom prst="upArrow">
            <a:avLst>
              <a:gd name="adj1" fmla="val 50000"/>
              <a:gd name="adj2" fmla="val 281374"/>
            </a:avLst>
          </a:prstGeom>
          <a:solidFill>
            <a:srgbClr val="FF5050"/>
          </a:solidFill>
          <a:ln w="19050">
            <a:solidFill>
              <a:srgbClr val="CC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817" name="左箭头 31816">
            <a:extLst>
              <a:ext uri="{FF2B5EF4-FFF2-40B4-BE49-F238E27FC236}">
                <a16:creationId xmlns:a16="http://schemas.microsoft.com/office/drawing/2014/main" id="{1E9DD978-0B6A-1A04-65F3-FA06D2061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3717925"/>
            <a:ext cx="530225" cy="76200"/>
          </a:xfrm>
          <a:prstGeom prst="leftArrow">
            <a:avLst>
              <a:gd name="adj1" fmla="val 50000"/>
              <a:gd name="adj2" fmla="val 173894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818" name="矩形 31817">
            <a:extLst>
              <a:ext uri="{FF2B5EF4-FFF2-40B4-BE49-F238E27FC236}">
                <a16:creationId xmlns:a16="http://schemas.microsoft.com/office/drawing/2014/main" id="{C3675005-A73D-5132-268D-2CC3837B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4898381"/>
            <a:ext cx="2404826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i="1" dirty="0">
                <a:solidFill>
                  <a:srgbClr val="000000"/>
                </a:solidFill>
              </a:rPr>
              <a:t>I</a:t>
            </a:r>
            <a:r>
              <a:rPr lang="zh-CN" altLang="en-US" sz="2400" b="1" i="1" baseline="-25000" dirty="0">
                <a:solidFill>
                  <a:srgbClr val="000000"/>
                </a:solidFill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</a:rPr>
              <a:t>= </a:t>
            </a:r>
            <a:r>
              <a:rPr lang="zh-CN" altLang="en-US" sz="2400" b="1" i="1" dirty="0">
                <a:solidFill>
                  <a:srgbClr val="000000"/>
                </a:solidFill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</a:rPr>
              <a:t>/2=</a:t>
            </a:r>
            <a:r>
              <a:rPr lang="zh-CN" altLang="en-US" sz="2400" b="1" i="1" dirty="0">
                <a:solidFill>
                  <a:srgbClr val="000000"/>
                </a:solidFill>
              </a:rPr>
              <a:t>V</a:t>
            </a:r>
            <a:r>
              <a:rPr lang="zh-CN" altLang="en-US" sz="2400" b="1" baseline="-25000" dirty="0">
                <a:solidFill>
                  <a:srgbClr val="000000"/>
                </a:solidFill>
              </a:rPr>
              <a:t>REF </a:t>
            </a:r>
            <a:r>
              <a:rPr lang="zh-CN" altLang="en-US" sz="2400" b="1" dirty="0">
                <a:solidFill>
                  <a:srgbClr val="000000"/>
                </a:solidFill>
              </a:rPr>
              <a:t>/ 2</a:t>
            </a:r>
            <a:r>
              <a:rPr lang="zh-CN" altLang="en-US" sz="2400" b="1" i="1" dirty="0">
                <a:solidFill>
                  <a:srgbClr val="000000"/>
                </a:solidFill>
              </a:rPr>
              <a:t>R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31819" name="上箭头 31818">
            <a:extLst>
              <a:ext uri="{FF2B5EF4-FFF2-40B4-BE49-F238E27FC236}">
                <a16:creationId xmlns:a16="http://schemas.microsoft.com/office/drawing/2014/main" id="{DCA0C224-A9F9-F101-E1BA-B6B1FCDB0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2781300"/>
            <a:ext cx="42862" cy="482600"/>
          </a:xfrm>
          <a:prstGeom prst="upArrow">
            <a:avLst>
              <a:gd name="adj1" fmla="val 50000"/>
              <a:gd name="adj2" fmla="val 281381"/>
            </a:avLst>
          </a:prstGeom>
          <a:solidFill>
            <a:srgbClr val="FF5050"/>
          </a:solidFill>
          <a:ln w="19050">
            <a:solidFill>
              <a:srgbClr val="CC33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820" name="左箭头 31819">
            <a:extLst>
              <a:ext uri="{FF2B5EF4-FFF2-40B4-BE49-F238E27FC236}">
                <a16:creationId xmlns:a16="http://schemas.microsoft.com/office/drawing/2014/main" id="{139AB688-0E9B-1D86-4A33-57D62502B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3717925"/>
            <a:ext cx="530225" cy="76200"/>
          </a:xfrm>
          <a:prstGeom prst="leftArrow">
            <a:avLst>
              <a:gd name="adj1" fmla="val 50000"/>
              <a:gd name="adj2" fmla="val 173894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821" name="矩形 31820">
            <a:extLst>
              <a:ext uri="{FF2B5EF4-FFF2-40B4-BE49-F238E27FC236}">
                <a16:creationId xmlns:a16="http://schemas.microsoft.com/office/drawing/2014/main" id="{AAABA491-42BC-CCA3-3DF5-9AEB81D79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898381"/>
            <a:ext cx="2489784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i="1" dirty="0">
                <a:solidFill>
                  <a:srgbClr val="000000"/>
                </a:solidFill>
              </a:rPr>
              <a:t>I</a:t>
            </a:r>
            <a:r>
              <a:rPr lang="zh-CN" altLang="en-US" sz="2400" b="1" i="1" baseline="-25000" dirty="0">
                <a:solidFill>
                  <a:srgbClr val="000000"/>
                </a:solidFill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</a:rPr>
              <a:t>= </a:t>
            </a:r>
            <a:r>
              <a:rPr lang="zh-CN" altLang="en-US" sz="2400" b="1" i="1" dirty="0">
                <a:solidFill>
                  <a:srgbClr val="000000"/>
                </a:solidFill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</a:rPr>
              <a:t>/4=</a:t>
            </a:r>
            <a:r>
              <a:rPr lang="zh-CN" altLang="en-US" sz="2400" b="1" i="1" dirty="0">
                <a:solidFill>
                  <a:srgbClr val="000000"/>
                </a:solidFill>
              </a:rPr>
              <a:t>V</a:t>
            </a:r>
            <a:r>
              <a:rPr lang="zh-CN" altLang="en-US" sz="2400" b="1" baseline="-25000" dirty="0">
                <a:solidFill>
                  <a:srgbClr val="000000"/>
                </a:solidFill>
              </a:rPr>
              <a:t>REF </a:t>
            </a:r>
            <a:r>
              <a:rPr lang="zh-CN" altLang="en-US" sz="2400" b="1" dirty="0">
                <a:solidFill>
                  <a:srgbClr val="000000"/>
                </a:solidFill>
              </a:rPr>
              <a:t>/ 4</a:t>
            </a:r>
            <a:r>
              <a:rPr lang="zh-CN" altLang="en-US" sz="2400" b="1" i="1" dirty="0">
                <a:solidFill>
                  <a:srgbClr val="000000"/>
                </a:solidFill>
              </a:rPr>
              <a:t>R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31822" name="矩形 31821">
            <a:extLst>
              <a:ext uri="{FF2B5EF4-FFF2-40B4-BE49-F238E27FC236}">
                <a16:creationId xmlns:a16="http://schemas.microsoft.com/office/drawing/2014/main" id="{C8D82F01-5B70-9F4B-894F-CE5E2E4D2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473056"/>
            <a:ext cx="2489784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i="1" dirty="0">
                <a:solidFill>
                  <a:srgbClr val="000000"/>
                </a:solidFill>
              </a:rPr>
              <a:t>I</a:t>
            </a:r>
            <a:r>
              <a:rPr lang="zh-CN" altLang="en-US" sz="2400" b="1" i="1" baseline="-25000" dirty="0">
                <a:solidFill>
                  <a:srgbClr val="000000"/>
                </a:solidFill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</a:rPr>
              <a:t>= </a:t>
            </a:r>
            <a:r>
              <a:rPr lang="zh-CN" altLang="en-US" sz="2400" b="1" i="1" dirty="0">
                <a:solidFill>
                  <a:srgbClr val="000000"/>
                </a:solidFill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</a:rPr>
              <a:t>/8=</a:t>
            </a:r>
            <a:r>
              <a:rPr lang="zh-CN" altLang="en-US" sz="2400" b="1" i="1" dirty="0">
                <a:solidFill>
                  <a:srgbClr val="000000"/>
                </a:solidFill>
              </a:rPr>
              <a:t>V</a:t>
            </a:r>
            <a:r>
              <a:rPr lang="zh-CN" altLang="en-US" sz="2400" b="1" baseline="-25000" dirty="0">
                <a:solidFill>
                  <a:srgbClr val="000000"/>
                </a:solidFill>
              </a:rPr>
              <a:t>REF </a:t>
            </a:r>
            <a:r>
              <a:rPr lang="zh-CN" altLang="en-US" sz="2400" b="1" dirty="0">
                <a:solidFill>
                  <a:srgbClr val="000000"/>
                </a:solidFill>
              </a:rPr>
              <a:t>/ 8</a:t>
            </a:r>
            <a:r>
              <a:rPr lang="zh-CN" altLang="en-US" sz="2400" b="1" i="1" dirty="0">
                <a:solidFill>
                  <a:srgbClr val="000000"/>
                </a:solidFill>
              </a:rPr>
              <a:t>R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31823" name="矩形 31822">
            <a:extLst>
              <a:ext uri="{FF2B5EF4-FFF2-40B4-BE49-F238E27FC236}">
                <a16:creationId xmlns:a16="http://schemas.microsoft.com/office/drawing/2014/main" id="{854E268E-69FE-D776-1518-50954E704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5473056"/>
            <a:ext cx="2832827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i="1" dirty="0">
                <a:solidFill>
                  <a:srgbClr val="000000"/>
                </a:solidFill>
              </a:rPr>
              <a:t>I</a:t>
            </a:r>
            <a:r>
              <a:rPr lang="zh-CN" altLang="en-US" sz="2400" b="1" i="1" baseline="-25000" dirty="0">
                <a:solidFill>
                  <a:srgbClr val="000000"/>
                </a:solidFill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</a:rPr>
              <a:t>= </a:t>
            </a:r>
            <a:r>
              <a:rPr lang="zh-CN" altLang="en-US" sz="2400" b="1" i="1" dirty="0">
                <a:solidFill>
                  <a:srgbClr val="000000"/>
                </a:solidFill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</a:rPr>
              <a:t>/16=</a:t>
            </a:r>
            <a:r>
              <a:rPr lang="zh-CN" altLang="en-US" sz="2400" b="1" i="1" dirty="0">
                <a:solidFill>
                  <a:srgbClr val="000000"/>
                </a:solidFill>
              </a:rPr>
              <a:t>V</a:t>
            </a:r>
            <a:r>
              <a:rPr lang="zh-CN" altLang="en-US" sz="2400" b="1" baseline="-25000" dirty="0">
                <a:solidFill>
                  <a:srgbClr val="000000"/>
                </a:solidFill>
              </a:rPr>
              <a:t>REF </a:t>
            </a:r>
            <a:r>
              <a:rPr lang="zh-CN" altLang="en-US" sz="2400" b="1" dirty="0">
                <a:solidFill>
                  <a:srgbClr val="000000"/>
                </a:solidFill>
              </a:rPr>
              <a:t>/ 16</a:t>
            </a:r>
            <a:r>
              <a:rPr lang="zh-CN" altLang="en-US" sz="2400" b="1" i="1" dirty="0">
                <a:solidFill>
                  <a:srgbClr val="000000"/>
                </a:solidFill>
              </a:rPr>
              <a:t>R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31824" name="矩形 31823">
            <a:extLst>
              <a:ext uri="{FF2B5EF4-FFF2-40B4-BE49-F238E27FC236}">
                <a16:creationId xmlns:a16="http://schemas.microsoft.com/office/drawing/2014/main" id="{EBD3FC20-0558-00BA-54A9-717C6698B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6092826"/>
            <a:ext cx="7829387" cy="461665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楷体_GB2312" pitchFamily="1" charset="-122"/>
              </a:rPr>
              <a:t>流入每个</a:t>
            </a:r>
            <a:r>
              <a:rPr lang="en-US" altLang="zh-CN" sz="2400" b="1" dirty="0">
                <a:ea typeface="楷体_GB2312" pitchFamily="1" charset="-122"/>
              </a:rPr>
              <a:t>2</a:t>
            </a:r>
            <a:r>
              <a:rPr lang="en-US" altLang="zh-CN" sz="2400" b="1" i="1" dirty="0">
                <a:ea typeface="楷体_GB2312" pitchFamily="1" charset="-122"/>
              </a:rPr>
              <a:t>R</a:t>
            </a:r>
            <a:r>
              <a:rPr lang="zh-CN" altLang="en-US" sz="2400" b="1" dirty="0">
                <a:ea typeface="楷体_GB2312" pitchFamily="1" charset="-122"/>
              </a:rPr>
              <a:t>电阻的电流从高位到低位按</a:t>
            </a:r>
            <a:r>
              <a:rPr lang="en-US" altLang="zh-CN" sz="2400" b="1" dirty="0">
                <a:ea typeface="楷体_GB2312" pitchFamily="1" charset="-122"/>
              </a:rPr>
              <a:t>2</a:t>
            </a:r>
            <a:r>
              <a:rPr lang="zh-CN" altLang="en-US" sz="2400" b="1" dirty="0">
                <a:ea typeface="楷体_GB2312" pitchFamily="1" charset="-122"/>
              </a:rPr>
              <a:t>的整数倍递减。</a:t>
            </a:r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AA2742E5-6CFE-EA4A-CD65-56E251838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581" y="1478338"/>
            <a:ext cx="4168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2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、倒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T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型电阻网络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D/A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EB42B9-A308-36FF-6BE2-2837AFDBD23B}"/>
              </a:ext>
            </a:extLst>
          </p:cNvPr>
          <p:cNvSpPr/>
          <p:nvPr/>
        </p:nvSpPr>
        <p:spPr>
          <a:xfrm>
            <a:off x="1295312" y="138189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57D7E6-F375-06CD-679D-3073F1812F7B}"/>
              </a:ext>
            </a:extLst>
          </p:cNvPr>
          <p:cNvSpPr/>
          <p:nvPr/>
        </p:nvSpPr>
        <p:spPr>
          <a:xfrm>
            <a:off x="1422312" y="265189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DD4609-73C7-80EB-9038-708BEA93A1F1}"/>
              </a:ext>
            </a:extLst>
          </p:cNvPr>
          <p:cNvSpPr/>
          <p:nvPr/>
        </p:nvSpPr>
        <p:spPr>
          <a:xfrm>
            <a:off x="-73113" y="210579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71F3AF-466C-3699-0EF6-650D9EA36863}"/>
              </a:ext>
            </a:extLst>
          </p:cNvPr>
          <p:cNvSpPr/>
          <p:nvPr/>
        </p:nvSpPr>
        <p:spPr>
          <a:xfrm>
            <a:off x="1341032" y="215024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2ECE4095-70A9-67B3-37FE-3A719482E2A8}"/>
              </a:ext>
            </a:extLst>
          </p:cNvPr>
          <p:cNvSpPr/>
          <p:nvPr/>
        </p:nvSpPr>
        <p:spPr>
          <a:xfrm>
            <a:off x="437185" y="880679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4" grpId="0" bldLvl="0" animBg="1"/>
      <p:bldP spid="31812" grpId="0" bldLvl="0" animBg="1"/>
      <p:bldP spid="31813" grpId="0" bldLvl="0" animBg="1"/>
      <p:bldP spid="31818" grpId="0" bldLvl="0" animBg="1"/>
      <p:bldP spid="31821" grpId="0" bldLvl="0" animBg="1"/>
      <p:bldP spid="31822" grpId="0" bldLvl="0" animBg="1"/>
      <p:bldP spid="31823" grpId="0" bldLvl="0" animBg="1"/>
      <p:bldP spid="31824" grpId="0" bldLvl="0" animBg="1"/>
      <p:bldP spid="9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3" name="图片 32772" descr="11-2-3">
            <a:extLst>
              <a:ext uri="{FF2B5EF4-FFF2-40B4-BE49-F238E27FC236}">
                <a16:creationId xmlns:a16="http://schemas.microsoft.com/office/drawing/2014/main" id="{1CB96F19-74E5-DFDC-83BC-681389252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2060576"/>
            <a:ext cx="6335712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矩形 32773">
            <a:extLst>
              <a:ext uri="{FF2B5EF4-FFF2-40B4-BE49-F238E27FC236}">
                <a16:creationId xmlns:a16="http://schemas.microsoft.com/office/drawing/2014/main" id="{AE851207-C39A-CBD2-BC02-E2273361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060575"/>
            <a:ext cx="4032250" cy="1944688"/>
          </a:xfrm>
          <a:prstGeom prst="rect">
            <a:avLst/>
          </a:prstGeom>
          <a:noFill/>
          <a:ln w="57150">
            <a:solidFill>
              <a:srgbClr val="FF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775" name="文本框 32774">
            <a:extLst>
              <a:ext uri="{FF2B5EF4-FFF2-40B4-BE49-F238E27FC236}">
                <a16:creationId xmlns:a16="http://schemas.microsoft.com/office/drawing/2014/main" id="{3964B083-93EE-982E-8145-EF4374263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8160" y="3755899"/>
            <a:ext cx="4033564" cy="457200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楷体_GB2312" pitchFamily="1" charset="-122"/>
              </a:rPr>
              <a:t>流入运放的总电流： </a:t>
            </a:r>
          </a:p>
        </p:txBody>
      </p:sp>
      <p:graphicFrame>
        <p:nvGraphicFramePr>
          <p:cNvPr id="32776" name="对象 32775">
            <a:extLst>
              <a:ext uri="{FF2B5EF4-FFF2-40B4-BE49-F238E27FC236}">
                <a16:creationId xmlns:a16="http://schemas.microsoft.com/office/drawing/2014/main" id="{17241FF6-0931-21F3-7870-CD97A5F00F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544020"/>
              </p:ext>
            </p:extLst>
          </p:nvPr>
        </p:nvGraphicFramePr>
        <p:xfrm>
          <a:off x="8294052" y="2144545"/>
          <a:ext cx="33782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57314" imgH="434548" progId="Equation.3">
                  <p:embed/>
                </p:oleObj>
              </mc:Choice>
              <mc:Fallback>
                <p:oleObj r:id="rId3" imgW="1457314" imgH="434548" progId="Equation.3">
                  <p:embed/>
                  <p:pic>
                    <p:nvPicPr>
                      <p:cNvPr id="32776" name="对象 32775">
                        <a:extLst>
                          <a:ext uri="{FF2B5EF4-FFF2-40B4-BE49-F238E27FC236}">
                            <a16:creationId xmlns:a16="http://schemas.microsoft.com/office/drawing/2014/main" id="{17241FF6-0931-21F3-7870-CD97A5F00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4052" y="2144545"/>
                        <a:ext cx="3378200" cy="1009650"/>
                      </a:xfrm>
                      <a:prstGeom prst="rect">
                        <a:avLst/>
                      </a:prstGeom>
                      <a:solidFill>
                        <a:srgbClr val="CCFF99">
                          <a:alpha val="9294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777" name="对象 32776">
                <a:extLst>
                  <a:ext uri="{FF2B5EF4-FFF2-40B4-BE49-F238E27FC236}">
                    <a16:creationId xmlns:a16="http://schemas.microsoft.com/office/drawing/2014/main" id="{9874E77D-ACBD-9B32-12CC-592CEB6FB98D}"/>
                  </a:ext>
                </a:extLst>
              </p:cNvPr>
              <p:cNvSpPr txBox="1"/>
              <p:nvPr/>
            </p:nvSpPr>
            <p:spPr bwMode="auto">
              <a:xfrm>
                <a:off x="8138160" y="4389333"/>
                <a:ext cx="4033564" cy="639043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777" name="对象 32776">
                <a:extLst>
                  <a:ext uri="{FF2B5EF4-FFF2-40B4-BE49-F238E27FC236}">
                    <a16:creationId xmlns:a16="http://schemas.microsoft.com/office/drawing/2014/main" id="{9874E77D-ACBD-9B32-12CC-592CEB6F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8160" y="4389333"/>
                <a:ext cx="4033564" cy="639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778" name="对象 32777">
            <a:extLst>
              <a:ext uri="{FF2B5EF4-FFF2-40B4-BE49-F238E27FC236}">
                <a16:creationId xmlns:a16="http://schemas.microsoft.com/office/drawing/2014/main" id="{613AE1A6-543A-00ED-0125-130CB11D1C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162103"/>
              </p:ext>
            </p:extLst>
          </p:nvPr>
        </p:nvGraphicFramePr>
        <p:xfrm>
          <a:off x="4240213" y="5673725"/>
          <a:ext cx="552132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1760" imgH="393480" progId="Equation.DSMT4">
                  <p:embed/>
                </p:oleObj>
              </mc:Choice>
              <mc:Fallback>
                <p:oleObj name="Equation" r:id="rId6" imgW="2831760" imgH="393480" progId="Equation.DSMT4">
                  <p:embed/>
                  <p:pic>
                    <p:nvPicPr>
                      <p:cNvPr id="32778" name="对象 32777">
                        <a:extLst>
                          <a:ext uri="{FF2B5EF4-FFF2-40B4-BE49-F238E27FC236}">
                            <a16:creationId xmlns:a16="http://schemas.microsoft.com/office/drawing/2014/main" id="{613AE1A6-543A-00ED-0125-130CB11D1C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673725"/>
                        <a:ext cx="5521325" cy="7667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文本框 32778">
            <a:extLst>
              <a:ext uri="{FF2B5EF4-FFF2-40B4-BE49-F238E27FC236}">
                <a16:creationId xmlns:a16="http://schemas.microsoft.com/office/drawing/2014/main" id="{7ABDF32F-633F-AF1D-DD73-217B17F41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5589588"/>
            <a:ext cx="24511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 pitchFamily="1" charset="-122"/>
                <a:sym typeface="Arial" panose="020B0604020202020204" pitchFamily="34" charset="0"/>
              </a:rPr>
              <a:t>输出模拟电压：</a:t>
            </a:r>
            <a:r>
              <a:rPr lang="zh-CN" altLang="en-US" sz="1800" b="1" dirty="0">
                <a:ea typeface="楷体_GB2312" pitchFamily="1" charset="-122"/>
              </a:rPr>
              <a:t> </a:t>
            </a:r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4E0E5612-9414-F146-F738-4ABF4A90D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191" y="1422677"/>
            <a:ext cx="39437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倒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T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型电阻网络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D/A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5E6651-B9A5-26DC-6DD6-0CEC03607835}"/>
              </a:ext>
            </a:extLst>
          </p:cNvPr>
          <p:cNvSpPr/>
          <p:nvPr/>
        </p:nvSpPr>
        <p:spPr>
          <a:xfrm>
            <a:off x="1308922" y="82528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C714F7-334E-AB40-FA96-F1E1D7E420AC}"/>
              </a:ext>
            </a:extLst>
          </p:cNvPr>
          <p:cNvSpPr/>
          <p:nvPr/>
        </p:nvSpPr>
        <p:spPr>
          <a:xfrm>
            <a:off x="1435922" y="209528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C5C1E2-4B68-81F8-00B7-83993FE7DA29}"/>
              </a:ext>
            </a:extLst>
          </p:cNvPr>
          <p:cNvSpPr/>
          <p:nvPr/>
        </p:nvSpPr>
        <p:spPr>
          <a:xfrm>
            <a:off x="-59503" y="154918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032F08-73FD-F999-DEAC-F3DA3C4A16AF}"/>
              </a:ext>
            </a:extLst>
          </p:cNvPr>
          <p:cNvSpPr/>
          <p:nvPr/>
        </p:nvSpPr>
        <p:spPr>
          <a:xfrm>
            <a:off x="1354642" y="159363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317D48B9-95B5-B32A-F402-8ABBA0B7DEF5}"/>
              </a:ext>
            </a:extLst>
          </p:cNvPr>
          <p:cNvSpPr/>
          <p:nvPr/>
        </p:nvSpPr>
        <p:spPr>
          <a:xfrm>
            <a:off x="450795" y="825018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矩形 33795">
            <a:extLst>
              <a:ext uri="{FF2B5EF4-FFF2-40B4-BE49-F238E27FC236}">
                <a16:creationId xmlns:a16="http://schemas.microsoft.com/office/drawing/2014/main" id="{20CD1C47-FF63-28AE-151A-1FE25E4D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057" y="2082197"/>
            <a:ext cx="621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ea typeface="楷体_GB2312" pitchFamily="1" charset="-122"/>
              </a:rPr>
              <a:t> 对于</a:t>
            </a:r>
            <a:r>
              <a:rPr lang="zh-CN" altLang="en-US" sz="2400" b="1" i="1" dirty="0">
                <a:latin typeface="Times New Roman" panose="02020603050405020304" pitchFamily="18" charset="0"/>
                <a:ea typeface="楷体_GB2312" pitchFamily="1" charset="-122"/>
              </a:rPr>
              <a:t>n</a:t>
            </a:r>
            <a:r>
              <a:rPr lang="zh-CN" altLang="en-US" sz="2400" b="1" dirty="0">
                <a:ea typeface="楷体_GB2312" pitchFamily="1" charset="-122"/>
              </a:rPr>
              <a:t>位输入的倒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T</a:t>
            </a:r>
            <a:r>
              <a:rPr lang="zh-CN" altLang="en-US" sz="2400" b="1" dirty="0">
                <a:ea typeface="楷体_GB2312" pitchFamily="1" charset="-122"/>
              </a:rPr>
              <a:t>形电阻网络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D/A</a:t>
            </a:r>
            <a:r>
              <a:rPr lang="zh-CN" altLang="en-US" sz="2400" b="1" dirty="0">
                <a:ea typeface="楷体_GB2312" pitchFamily="1" charset="-122"/>
              </a:rPr>
              <a:t>转换器：</a:t>
            </a:r>
            <a:r>
              <a:rPr lang="zh-CN" altLang="en-US" sz="2000" b="1" dirty="0">
                <a:ea typeface="楷体_GB2312" pitchFamily="1" charset="-122"/>
              </a:rPr>
              <a:t> </a:t>
            </a:r>
          </a:p>
        </p:txBody>
      </p:sp>
      <p:graphicFrame>
        <p:nvGraphicFramePr>
          <p:cNvPr id="33797" name="对象 33796">
            <a:extLst>
              <a:ext uri="{FF2B5EF4-FFF2-40B4-BE49-F238E27FC236}">
                <a16:creationId xmlns:a16="http://schemas.microsoft.com/office/drawing/2014/main" id="{2EE06A50-FF6A-9B88-105A-4A30C78360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75164"/>
              </p:ext>
            </p:extLst>
          </p:nvPr>
        </p:nvGraphicFramePr>
        <p:xfrm>
          <a:off x="2879725" y="2590800"/>
          <a:ext cx="5786438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812520" progId="Equation.DSMT4">
                  <p:embed/>
                </p:oleObj>
              </mc:Choice>
              <mc:Fallback>
                <p:oleObj name="Equation" r:id="rId2" imgW="3022560" imgH="812520" progId="Equation.DSMT4">
                  <p:embed/>
                  <p:pic>
                    <p:nvPicPr>
                      <p:cNvPr id="33797" name="对象 33796">
                        <a:extLst>
                          <a:ext uri="{FF2B5EF4-FFF2-40B4-BE49-F238E27FC236}">
                            <a16:creationId xmlns:a16="http://schemas.microsoft.com/office/drawing/2014/main" id="{2EE06A50-FF6A-9B88-105A-4A30C78360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2590800"/>
                        <a:ext cx="5786438" cy="15525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文本框 33797">
            <a:extLst>
              <a:ext uri="{FF2B5EF4-FFF2-40B4-BE49-F238E27FC236}">
                <a16:creationId xmlns:a16="http://schemas.microsoft.com/office/drawing/2014/main" id="{4325B4EE-80DC-4C8E-3F0A-5AA230714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9040" y="4086570"/>
            <a:ext cx="5111750" cy="49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 倒T型电阻网络D/A转换器的特点：</a:t>
            </a: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33799" name="文本框 33798">
            <a:extLst>
              <a:ext uri="{FF2B5EF4-FFF2-40B4-BE49-F238E27FC236}">
                <a16:creationId xmlns:a16="http://schemas.microsoft.com/office/drawing/2014/main" id="{9DAE5E44-5A9B-E706-FB8F-169DB1A94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478" y="4591394"/>
            <a:ext cx="8208962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/>
              <a:t>     </a:t>
            </a:r>
            <a:r>
              <a:rPr lang="zh-CN" altLang="en-US" sz="2400" b="1" dirty="0">
                <a:solidFill>
                  <a:srgbClr val="CC3300"/>
                </a:solidFill>
              </a:rPr>
              <a:t>优点</a:t>
            </a:r>
            <a:r>
              <a:rPr lang="zh-CN" altLang="en-US" sz="2400" b="1" dirty="0">
                <a:solidFill>
                  <a:srgbClr val="000000"/>
                </a:solidFill>
              </a:rPr>
              <a:t>：电阻种类少，只有</a:t>
            </a:r>
            <a:r>
              <a:rPr lang="en-US" altLang="zh-CN" sz="2400" b="1" i="1" dirty="0">
                <a:solidFill>
                  <a:srgbClr val="000000"/>
                </a:solidFill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</a:rPr>
              <a:t>和</a:t>
            </a:r>
            <a:r>
              <a:rPr lang="en-US" altLang="zh-CN" sz="2400" b="1" dirty="0">
                <a:solidFill>
                  <a:srgbClr val="000000"/>
                </a:solidFill>
              </a:rPr>
              <a:t>2</a:t>
            </a:r>
            <a:r>
              <a:rPr lang="en-US" altLang="zh-CN" sz="2400" b="1" i="1" dirty="0">
                <a:solidFill>
                  <a:srgbClr val="000000"/>
                </a:solidFill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</a:rPr>
              <a:t>，提高了制造精度；而且支路电流流入求和点不存在时间差，提高了转换速度。</a:t>
            </a:r>
          </a:p>
        </p:txBody>
      </p:sp>
      <p:sp>
        <p:nvSpPr>
          <p:cNvPr id="33800" name="文本框 33799">
            <a:extLst>
              <a:ext uri="{FF2B5EF4-FFF2-40B4-BE49-F238E27FC236}">
                <a16:creationId xmlns:a16="http://schemas.microsoft.com/office/drawing/2014/main" id="{B6ADD164-F5F1-92C8-5CB2-537B034D5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479" y="5599457"/>
            <a:ext cx="83534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     </a:t>
            </a:r>
            <a:r>
              <a:rPr lang="zh-CN" altLang="en-US" sz="2400" b="1">
                <a:solidFill>
                  <a:srgbClr val="0000FF"/>
                </a:solidFill>
              </a:rPr>
              <a:t>应用</a:t>
            </a:r>
            <a:r>
              <a:rPr lang="zh-CN" altLang="en-US" sz="2400" b="1">
                <a:solidFill>
                  <a:srgbClr val="000000"/>
                </a:solidFill>
              </a:rPr>
              <a:t>：它是目前集成D/A转换器中转换速度较高且使用较多的一种，如10位D/A转换器</a:t>
            </a:r>
            <a:r>
              <a:rPr lang="zh-CN" altLang="en-US" sz="2400" b="1">
                <a:solidFill>
                  <a:srgbClr val="FF0000"/>
                </a:solidFill>
              </a:rPr>
              <a:t>AD7520(CB7520)。</a:t>
            </a:r>
          </a:p>
        </p:txBody>
      </p:sp>
      <p:sp>
        <p:nvSpPr>
          <p:cNvPr id="4" name="文本框 27651">
            <a:extLst>
              <a:ext uri="{FF2B5EF4-FFF2-40B4-BE49-F238E27FC236}">
                <a16:creationId xmlns:a16="http://schemas.microsoft.com/office/drawing/2014/main" id="{4EAC54AF-0665-CA0A-4008-F161EEE7F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84" y="1600499"/>
            <a:ext cx="39437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倒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T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型电阻网络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D/A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B95EB-B63B-DFE6-C062-66CAFEB6227D}"/>
              </a:ext>
            </a:extLst>
          </p:cNvPr>
          <p:cNvSpPr/>
          <p:nvPr/>
        </p:nvSpPr>
        <p:spPr>
          <a:xfrm>
            <a:off x="1199515" y="260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500688-748D-8573-C2C3-61DCDBF2836D}"/>
              </a:ext>
            </a:extLst>
          </p:cNvPr>
          <p:cNvSpPr/>
          <p:nvPr/>
        </p:nvSpPr>
        <p:spPr>
          <a:xfrm>
            <a:off x="1326515" y="387350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450093-31D6-62AA-8C3A-32DD6C91B2F5}"/>
              </a:ext>
            </a:extLst>
          </p:cNvPr>
          <p:cNvSpPr/>
          <p:nvPr/>
        </p:nvSpPr>
        <p:spPr>
          <a:xfrm>
            <a:off x="-168910" y="332740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0C5194-9E12-87B4-7462-58E5F276A170}"/>
              </a:ext>
            </a:extLst>
          </p:cNvPr>
          <p:cNvSpPr/>
          <p:nvPr/>
        </p:nvSpPr>
        <p:spPr>
          <a:xfrm>
            <a:off x="1245235" y="337185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14F4D8ED-5408-BE34-1936-EFEAA217005C}"/>
              </a:ext>
            </a:extLst>
          </p:cNvPr>
          <p:cNvSpPr/>
          <p:nvPr/>
        </p:nvSpPr>
        <p:spPr>
          <a:xfrm>
            <a:off x="341388" y="1002840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9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34817" descr="11-2-5">
            <a:extLst>
              <a:ext uri="{FF2B5EF4-FFF2-40B4-BE49-F238E27FC236}">
                <a16:creationId xmlns:a16="http://schemas.microsoft.com/office/drawing/2014/main" id="{2D8DAF43-103B-00E7-C721-A1D34E007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69" y="1948496"/>
            <a:ext cx="828198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矩形 34818">
            <a:extLst>
              <a:ext uri="{FF2B5EF4-FFF2-40B4-BE49-F238E27FC236}">
                <a16:creationId xmlns:a16="http://schemas.microsoft.com/office/drawing/2014/main" id="{3C7EAB3A-65CD-8832-7D3B-BEB33D30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44451"/>
            <a:ext cx="26273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CN" altLang="en-US" sz="1600">
                <a:solidFill>
                  <a:schemeClr val="bg1"/>
                </a:solidFill>
              </a:rPr>
              <a:t>广东工业大学  自动化学院</a:t>
            </a:r>
          </a:p>
        </p:txBody>
      </p:sp>
      <p:sp>
        <p:nvSpPr>
          <p:cNvPr id="64517" name="矩形 34820">
            <a:extLst>
              <a:ext uri="{FF2B5EF4-FFF2-40B4-BE49-F238E27FC236}">
                <a16:creationId xmlns:a16="http://schemas.microsoft.com/office/drawing/2014/main" id="{ADE85725-66AC-A7B7-BCD3-9ED172C974B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962919" y="951211"/>
            <a:ext cx="35274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C3300"/>
                </a:solidFill>
              </a:rPr>
              <a:t>实例：AD7520</a:t>
            </a:r>
          </a:p>
        </p:txBody>
      </p:sp>
      <p:sp>
        <p:nvSpPr>
          <p:cNvPr id="34822" name="矩形 34821">
            <a:extLst>
              <a:ext uri="{FF2B5EF4-FFF2-40B4-BE49-F238E27FC236}">
                <a16:creationId xmlns:a16="http://schemas.microsoft.com/office/drawing/2014/main" id="{D038AEAF-B07B-0ACF-14FC-2AE11EF10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65" y="2559684"/>
            <a:ext cx="5976938" cy="1944688"/>
          </a:xfrm>
          <a:prstGeom prst="rect">
            <a:avLst/>
          </a:prstGeom>
          <a:noFill/>
          <a:ln w="57150">
            <a:solidFill>
              <a:srgbClr val="FF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823" name="矩形 34822">
            <a:extLst>
              <a:ext uri="{FF2B5EF4-FFF2-40B4-BE49-F238E27FC236}">
                <a16:creationId xmlns:a16="http://schemas.microsoft.com/office/drawing/2014/main" id="{020E51A6-B138-D55C-1473-44310377D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5231397"/>
            <a:ext cx="11953328" cy="400110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1" charset="-122"/>
              </a:rPr>
              <a:t>AD7520</a:t>
            </a:r>
            <a:r>
              <a:rPr lang="zh-CN" altLang="en-US" sz="2000" b="1" dirty="0">
                <a:ea typeface="楷体_GB2312" pitchFamily="1" charset="-122"/>
              </a:rPr>
              <a:t>的电路的输入为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1" charset="-122"/>
              </a:rPr>
              <a:t>10</a:t>
            </a:r>
            <a:r>
              <a:rPr lang="zh-CN" altLang="en-US" sz="2000" b="1" dirty="0">
                <a:ea typeface="楷体_GB2312" pitchFamily="1" charset="-122"/>
              </a:rPr>
              <a:t>位二进制数，芯片内只含倒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1" charset="-122"/>
              </a:rPr>
              <a:t>T</a:t>
            </a:r>
            <a:r>
              <a:rPr lang="zh-CN" altLang="en-US" sz="2000" b="1" dirty="0">
                <a:ea typeface="楷体_GB2312" pitchFamily="1" charset="-122"/>
              </a:rPr>
              <a:t>形电阻网络、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1" charset="-122"/>
              </a:rPr>
              <a:t>CMOS</a:t>
            </a:r>
            <a:r>
              <a:rPr lang="zh-CN" altLang="en-US" sz="2000" b="1" dirty="0">
                <a:ea typeface="楷体_GB2312" pitchFamily="1" charset="-122"/>
              </a:rPr>
              <a:t>电流开关和反馈电阻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1" charset="-122"/>
              </a:rPr>
              <a:t>R（10K）</a:t>
            </a:r>
          </a:p>
        </p:txBody>
      </p:sp>
      <p:sp>
        <p:nvSpPr>
          <p:cNvPr id="34824" name="矩形 34823">
            <a:extLst>
              <a:ext uri="{FF2B5EF4-FFF2-40B4-BE49-F238E27FC236}">
                <a16:creationId xmlns:a16="http://schemas.microsoft.com/office/drawing/2014/main" id="{87C91F2B-BE5A-E141-63F6-1E01914D7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5818783"/>
            <a:ext cx="11953328" cy="86177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使用:</a:t>
            </a:r>
            <a:r>
              <a:rPr lang="en-US" altLang="zh-CN" sz="20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1)要外接运放，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       </a:t>
            </a:r>
            <a:r>
              <a:rPr lang="en-US" altLang="zh-CN" sz="2000" b="1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sz="2000" b="1" dirty="0">
                <a:latin typeface="楷体_GB2312" pitchFamily="1" charset="-122"/>
                <a:ea typeface="楷体_GB2312" pitchFamily="1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2)运放的反馈电阻可使用内部电阻</a:t>
            </a:r>
            <a:r>
              <a:rPr lang="zh-CN" altLang="en-US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， </a:t>
            </a:r>
            <a:r>
              <a:rPr lang="zh-CN" altLang="en-US" sz="2000" b="1" dirty="0">
                <a:solidFill>
                  <a:schemeClr val="tx2"/>
                </a:solidFill>
                <a:ea typeface="楷体_GB2312" pitchFamily="1" charset="-122"/>
              </a:rPr>
              <a:t>也可采用外接电阻</a:t>
            </a:r>
            <a:r>
              <a:rPr lang="zh-CN" altLang="en-US" sz="2000" b="1" dirty="0">
                <a:solidFill>
                  <a:schemeClr val="tx2"/>
                </a:solidFill>
                <a:ea typeface="黑体" panose="02010609060101010101" pitchFamily="49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6" name="对象 34825">
                <a:extLst>
                  <a:ext uri="{FF2B5EF4-FFF2-40B4-BE49-F238E27FC236}">
                    <a16:creationId xmlns:a16="http://schemas.microsoft.com/office/drawing/2014/main" id="{06EDEE0B-5EEE-3BEA-6FFB-57CE6F841E26}"/>
                  </a:ext>
                </a:extLst>
              </p:cNvPr>
              <p:cNvSpPr txBox="1"/>
              <p:nvPr/>
            </p:nvSpPr>
            <p:spPr bwMode="auto">
              <a:xfrm>
                <a:off x="8688288" y="2970347"/>
                <a:ext cx="3384376" cy="10287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CC33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8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i="0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  <m:e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8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8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826" name="对象 34825">
                <a:extLst>
                  <a:ext uri="{FF2B5EF4-FFF2-40B4-BE49-F238E27FC236}">
                    <a16:creationId xmlns:a16="http://schemas.microsoft.com/office/drawing/2014/main" id="{06EDEE0B-5EEE-3BEA-6FFB-57CE6F841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8288" y="2970347"/>
                <a:ext cx="3384376" cy="1028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CC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27651">
            <a:extLst>
              <a:ext uri="{FF2B5EF4-FFF2-40B4-BE49-F238E27FC236}">
                <a16:creationId xmlns:a16="http://schemas.microsoft.com/office/drawing/2014/main" id="{05EB52E1-B5B5-B5DD-F816-EBE5A0B53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694" y="1393490"/>
            <a:ext cx="39437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倒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T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型电阻网络</a:t>
            </a:r>
            <a:r>
              <a:rPr lang="en-US" altLang="zh-CN" sz="2400" b="1" dirty="0">
                <a:ea typeface="黑体" panose="02010609060101010101" pitchFamily="49" charset="-122"/>
                <a:sym typeface="Arial" panose="020B0604020202020204" pitchFamily="34" charset="0"/>
              </a:rPr>
              <a:t>D/A</a:t>
            </a:r>
            <a:r>
              <a:rPr lang="zh-CN" altLang="en-US" sz="2400" b="1" dirty="0">
                <a:ea typeface="黑体" panose="02010609060101010101" pitchFamily="49" charset="-122"/>
                <a:sym typeface="Arial" panose="020B0604020202020204" pitchFamily="34" charset="0"/>
              </a:rPr>
              <a:t>转换器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64CA61-57FD-823B-E1AD-0FD549A3BFC5}"/>
              </a:ext>
            </a:extLst>
          </p:cNvPr>
          <p:cNvSpPr/>
          <p:nvPr/>
        </p:nvSpPr>
        <p:spPr>
          <a:xfrm>
            <a:off x="1368425" y="53341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58E3B3-4B99-A453-C57F-E8189CA3DA86}"/>
              </a:ext>
            </a:extLst>
          </p:cNvPr>
          <p:cNvSpPr/>
          <p:nvPr/>
        </p:nvSpPr>
        <p:spPr>
          <a:xfrm>
            <a:off x="1495425" y="180341"/>
            <a:ext cx="1800225" cy="648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F822D7-A43C-4B66-7E22-281EC708F64F}"/>
              </a:ext>
            </a:extLst>
          </p:cNvPr>
          <p:cNvSpPr/>
          <p:nvPr/>
        </p:nvSpPr>
        <p:spPr>
          <a:xfrm>
            <a:off x="0" y="125731"/>
            <a:ext cx="122428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8.4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C9DFB-221E-1437-B908-25D1014B747D}"/>
              </a:ext>
            </a:extLst>
          </p:cNvPr>
          <p:cNvSpPr/>
          <p:nvPr/>
        </p:nvSpPr>
        <p:spPr>
          <a:xfrm>
            <a:off x="1414145" y="130176"/>
            <a:ext cx="2546510" cy="5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数模转换的原理</a:t>
            </a:r>
            <a:endParaRPr lang="zh-CN" altLang="en-US" dirty="0"/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2F1D5AE9-E48A-87FE-A806-5D112B152D7B}"/>
              </a:ext>
            </a:extLst>
          </p:cNvPr>
          <p:cNvSpPr/>
          <p:nvPr/>
        </p:nvSpPr>
        <p:spPr>
          <a:xfrm>
            <a:off x="510298" y="795831"/>
            <a:ext cx="4314452" cy="522634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D/A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转换器的电路构成</a:t>
            </a:r>
            <a:endParaRPr lang="en-US" altLang="zh-CN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/>
          <p:nvPr/>
        </p:nvSpPr>
        <p:spPr bwMode="auto">
          <a:xfrm>
            <a:off x="345132" y="1068954"/>
            <a:ext cx="5760046" cy="5094744"/>
          </a:xfrm>
          <a:custGeom>
            <a:avLst/>
            <a:gdLst>
              <a:gd name="T0" fmla="*/ 2277 w 2277"/>
              <a:gd name="T1" fmla="*/ 2014 h 2014"/>
              <a:gd name="T2" fmla="*/ 1061 w 2277"/>
              <a:gd name="T3" fmla="*/ 2014 h 2014"/>
              <a:gd name="T4" fmla="*/ 0 w 2277"/>
              <a:gd name="T5" fmla="*/ 0 h 2014"/>
              <a:gd name="T6" fmla="*/ 1217 w 2277"/>
              <a:gd name="T7" fmla="*/ 0 h 2014"/>
              <a:gd name="T8" fmla="*/ 2277 w 2277"/>
              <a:gd name="T9" fmla="*/ 2014 h 2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7" h="2014">
                <a:moveTo>
                  <a:pt x="2277" y="2014"/>
                </a:moveTo>
                <a:lnTo>
                  <a:pt x="1061" y="2014"/>
                </a:lnTo>
                <a:lnTo>
                  <a:pt x="0" y="0"/>
                </a:lnTo>
                <a:lnTo>
                  <a:pt x="1217" y="0"/>
                </a:lnTo>
                <a:lnTo>
                  <a:pt x="2277" y="2014"/>
                </a:lnTo>
                <a:close/>
              </a:path>
            </a:pathLst>
          </a:custGeom>
          <a:solidFill>
            <a:srgbClr val="4B93A9"/>
          </a:solidFill>
          <a:ln>
            <a:noFill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51" y="1564768"/>
            <a:ext cx="12191649" cy="4103116"/>
          </a:xfrm>
          <a:prstGeom prst="rect">
            <a:avLst/>
          </a:prstGeom>
          <a:gradFill>
            <a:gsLst>
              <a:gs pos="0">
                <a:srgbClr val="0E4A90"/>
              </a:gs>
              <a:gs pos="100000">
                <a:srgbClr val="4B93A9"/>
              </a:gs>
            </a:gsLst>
            <a:lin ang="2640000" scaled="0"/>
          </a:gradFill>
          <a:ln>
            <a:noFill/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buNone/>
            </a:pPr>
            <a:r>
              <a:rPr lang="en-US" altLang="zh-CN" cap="all">
                <a:solidFill>
                  <a:schemeClr val="bg1"/>
                </a:solidFill>
                <a:cs typeface="+mn-ea"/>
                <a:sym typeface="+mn-lt"/>
              </a:rPr>
              <a:t>POWERPOINT</a:t>
            </a:r>
            <a:endParaRPr lang="zh-CN" altLang="en-US" cap="all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Freeform 7"/>
          <p:cNvSpPr/>
          <p:nvPr/>
        </p:nvSpPr>
        <p:spPr bwMode="auto">
          <a:xfrm>
            <a:off x="353" y="1068954"/>
            <a:ext cx="3412518" cy="4598930"/>
          </a:xfrm>
          <a:custGeom>
            <a:avLst/>
            <a:gdLst>
              <a:gd name="T0" fmla="*/ 1349 w 1349"/>
              <a:gd name="T1" fmla="*/ 0 h 1818"/>
              <a:gd name="T2" fmla="*/ 0 w 1349"/>
              <a:gd name="T3" fmla="*/ 1818 h 1818"/>
              <a:gd name="T4" fmla="*/ 0 w 1349"/>
              <a:gd name="T5" fmla="*/ 0 h 1818"/>
              <a:gd name="T6" fmla="*/ 1349 w 1349"/>
              <a:gd name="T7" fmla="*/ 0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9" h="1818">
                <a:moveTo>
                  <a:pt x="1349" y="0"/>
                </a:moveTo>
                <a:lnTo>
                  <a:pt x="0" y="1818"/>
                </a:lnTo>
                <a:lnTo>
                  <a:pt x="0" y="0"/>
                </a:lnTo>
                <a:lnTo>
                  <a:pt x="1349" y="0"/>
                </a:lnTo>
                <a:close/>
              </a:path>
            </a:pathLst>
          </a:custGeom>
          <a:solidFill>
            <a:srgbClr val="E6A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Freeform 8"/>
          <p:cNvSpPr/>
          <p:nvPr/>
        </p:nvSpPr>
        <p:spPr bwMode="auto">
          <a:xfrm>
            <a:off x="3015714" y="4869160"/>
            <a:ext cx="4535689" cy="1294538"/>
          </a:xfrm>
          <a:custGeom>
            <a:avLst/>
            <a:gdLst>
              <a:gd name="T0" fmla="*/ 446 w 1793"/>
              <a:gd name="T1" fmla="*/ 0 h 616"/>
              <a:gd name="T2" fmla="*/ 0 w 1793"/>
              <a:gd name="T3" fmla="*/ 616 h 616"/>
              <a:gd name="T4" fmla="*/ 1347 w 1793"/>
              <a:gd name="T5" fmla="*/ 616 h 616"/>
              <a:gd name="T6" fmla="*/ 1793 w 1793"/>
              <a:gd name="T7" fmla="*/ 0 h 616"/>
              <a:gd name="T8" fmla="*/ 446 w 1793"/>
              <a:gd name="T9" fmla="*/ 0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3" h="616">
                <a:moveTo>
                  <a:pt x="446" y="0"/>
                </a:moveTo>
                <a:lnTo>
                  <a:pt x="0" y="616"/>
                </a:lnTo>
                <a:lnTo>
                  <a:pt x="1347" y="616"/>
                </a:lnTo>
                <a:lnTo>
                  <a:pt x="1793" y="0"/>
                </a:lnTo>
                <a:lnTo>
                  <a:pt x="446" y="0"/>
                </a:lnTo>
                <a:close/>
              </a:path>
            </a:pathLst>
          </a:custGeom>
          <a:solidFill>
            <a:srgbClr val="E6A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297331" y="2781390"/>
            <a:ext cx="86365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600" b="1" cap="all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谢谢</a:t>
            </a:r>
            <a:endParaRPr lang="zh-CN" altLang="en-US" sz="4800" cap="all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719830" y="4064635"/>
            <a:ext cx="6049010" cy="330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红蓝色简约工作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heme/theme1.xml><?xml version="1.0" encoding="utf-8"?>
<a:theme xmlns:a="http://schemas.openxmlformats.org/drawingml/2006/main" name="Office 主题​​">
  <a:themeElements>
    <a:clrScheme name="自定义 82">
      <a:dk1>
        <a:sysClr val="windowText" lastClr="000000"/>
      </a:dk1>
      <a:lt1>
        <a:sysClr val="window" lastClr="FFFFFF"/>
      </a:lt1>
      <a:dk2>
        <a:srgbClr val="4E3B30"/>
      </a:dk2>
      <a:lt2>
        <a:srgbClr val="7F7F7F"/>
      </a:lt2>
      <a:accent1>
        <a:srgbClr val="2B6D95"/>
      </a:accent1>
      <a:accent2>
        <a:srgbClr val="DF4D4D"/>
      </a:accent2>
      <a:accent3>
        <a:srgbClr val="2B6D95"/>
      </a:accent3>
      <a:accent4>
        <a:srgbClr val="DF4D4D"/>
      </a:accent4>
      <a:accent5>
        <a:srgbClr val="2B6D95"/>
      </a:accent5>
      <a:accent6>
        <a:srgbClr val="DF4D4D"/>
      </a:accent6>
      <a:hlink>
        <a:srgbClr val="AD1F1F"/>
      </a:hlink>
      <a:folHlink>
        <a:srgbClr val="FFC42F"/>
      </a:folHlink>
    </a:clrScheme>
    <a:fontScheme name="n31tureb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2154</Words>
  <Application>Microsoft Office PowerPoint</Application>
  <PresentationFormat>宽屏</PresentationFormat>
  <Paragraphs>249</Paragraphs>
  <Slides>22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43" baseType="lpstr">
      <vt:lpstr>+中文正文</vt:lpstr>
      <vt:lpstr>方正舒体</vt:lpstr>
      <vt:lpstr>仿宋_GB2312</vt:lpstr>
      <vt:lpstr>黑体</vt:lpstr>
      <vt:lpstr>楷体_GB2312</vt:lpstr>
      <vt:lpstr>宋体</vt:lpstr>
      <vt:lpstr>微软雅黑</vt:lpstr>
      <vt:lpstr>字魂105号-简雅黑</vt:lpstr>
      <vt:lpstr>Arial</vt:lpstr>
      <vt:lpstr>Bookman Old Style</vt:lpstr>
      <vt:lpstr>Calibri</vt:lpstr>
      <vt:lpstr>Cambria Math</vt:lpstr>
      <vt:lpstr>Symbol</vt:lpstr>
      <vt:lpstr>Times New Roman</vt:lpstr>
      <vt:lpstr>Verdana</vt:lpstr>
      <vt:lpstr>Wingdings</vt:lpstr>
      <vt:lpstr>Office 主题​​</vt:lpstr>
      <vt:lpstr>Equation.3</vt:lpstr>
      <vt:lpstr>Microsoft Word Picture</vt:lpstr>
      <vt:lpstr>Equation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红蓝色简约工作总结PPT模板</dc:title>
  <dc:creator>USER</dc:creator>
  <cp:lastModifiedBy>332600610@qq.com</cp:lastModifiedBy>
  <cp:revision>515</cp:revision>
  <dcterms:created xsi:type="dcterms:W3CDTF">2014-11-09T01:07:00Z</dcterms:created>
  <dcterms:modified xsi:type="dcterms:W3CDTF">2025-06-24T14:34:59Z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F2EF8FBF9CC342F7BB8638ACF2296566</vt:lpwstr>
  </property>
  <property fmtid="{D5CDD505-2E9C-101B-9397-08002B2CF9AE}" pid="3" name="KSOProductBuildVer">
    <vt:lpwstr>2052-11.1.0.11365</vt:lpwstr>
  </property>
</Properties>
</file>